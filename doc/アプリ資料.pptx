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315" r:id="rId2"/>
    <p:sldId id="314" r:id="rId3"/>
    <p:sldId id="311" r:id="rId4"/>
    <p:sldId id="312" r:id="rId5"/>
    <p:sldId id="313" r:id="rId6"/>
    <p:sldId id="318" r:id="rId7"/>
    <p:sldId id="316" r:id="rId8"/>
    <p:sldId id="317" r:id="rId9"/>
    <p:sldId id="319" r:id="rId10"/>
    <p:sldId id="320" r:id="rId11"/>
    <p:sldId id="330" r:id="rId12"/>
    <p:sldId id="331" r:id="rId13"/>
    <p:sldId id="321" r:id="rId14"/>
    <p:sldId id="325" r:id="rId15"/>
    <p:sldId id="322" r:id="rId16"/>
    <p:sldId id="336" r:id="rId17"/>
    <p:sldId id="326" r:id="rId18"/>
    <p:sldId id="327" r:id="rId19"/>
    <p:sldId id="337" r:id="rId20"/>
    <p:sldId id="328" r:id="rId21"/>
    <p:sldId id="329" r:id="rId22"/>
    <p:sldId id="323" r:id="rId23"/>
    <p:sldId id="324" r:id="rId24"/>
    <p:sldId id="332" r:id="rId25"/>
    <p:sldId id="333" r:id="rId26"/>
    <p:sldId id="334" r:id="rId27"/>
    <p:sldId id="335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11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12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D93D3-8031-EC47-A989-ABEE3F7FC93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B56E6-2C23-844C-BFCA-760EF45D29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1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8E57E-F6E1-C9D9-F0A2-E2367419B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69D967-6B8E-EE68-CB94-34E445F05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82835-CF29-89FC-3A72-CC214125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88C3EF-4575-ED00-63B8-3C37512A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0261EE-99F5-EB9F-1B5E-2CB07525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12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E2C7A-9242-47F2-49CF-FB563AC0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A4093B-6777-E8A1-FEBA-C56E538FD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985117-B6CA-C1CB-6462-3E6024E7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54EAC4-FBAC-DB3D-CB10-2B303E40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9F5980-DE54-1BE8-2F1E-23F65FAE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74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7294C-E976-205E-BC19-6C2DBF14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9D647F-ECBB-EF88-863E-C9A35575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170643-48E6-E3F0-08DE-90AC6FF9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A3A187-295E-04EA-1D74-0256B128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52A53C-D5FE-D61F-C514-EAC562F7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568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98EFA-28FA-1401-A63F-80E276D2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07EA1A-0094-8348-E01B-B05738CF1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DDAAC0-A8DC-E1F2-9126-252C53AF4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D47EFF-95F2-0061-1F82-2CE87B24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80311F-7352-FB8C-6F6B-9034912E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4588F8-AB52-FEB4-7832-1A91A769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30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4394E-0E38-D2B4-92AF-EC369E37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B0EAE9-A136-FC24-97EC-510DE8CE3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B41394-CEA5-BD28-F89A-A584C230C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1246974-70B6-B00E-2684-312813752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8A5726-E928-076A-D14A-721ECB991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18DDBA-5C56-5B9E-CFB4-B59B2ACA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CF0DA-055F-9189-6316-0EA6D083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9D4E083-1C4D-C15E-9572-5D63298B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48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E8BFB6-EB36-30B8-566B-3C183B5E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30CE1F-561E-538C-D1E1-848E9961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A321F5-35BA-0328-C78E-DA52C8E5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CA0E60-3F08-C460-2CFD-3C2D3097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4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C40B3A-414C-2DE8-5960-F85450B8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0E5DDA-CA82-6D49-99A8-FEBAFD58B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D75B0D-5E90-C728-FD9D-F6D8AC55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24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5135B-A59D-70E4-B458-2208B7B7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CBEB34-99B1-4594-868D-C06D9E7F2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3ACDE6-6E42-7F08-9A70-E61D474F2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5D351C-86BB-7D67-6C95-CF98388E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27DF4A-CB6C-0B84-ED22-252C2A79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127CCF-A761-8781-6F1D-D3FEE584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66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D51F1-0BF5-B54F-230F-38F73C30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A4F03C-9F15-6184-1A28-DD13E6836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18760E-D4B4-E0C8-58D2-A6C182A5C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3ED77F-E745-FC8B-5C57-398883FF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D99E1C-ECFF-84BE-58EB-132B98D7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4D044-6E6D-DC31-902D-847B647F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21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A87A0-FE8B-2A5F-CFD0-5B87CD0B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1D74F5-6551-66E2-2F02-E748FECAE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D94A01-B0FC-1B5C-580A-3A0B96AB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A21572-6181-CC4A-3704-5C884AC9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EBCB8-32E7-8AAF-8C40-74F1EAAF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54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80B6BA-CD2A-0778-9BB7-28CFBF352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EA17F8-EC45-BDBC-E593-B16922121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21DE28-83E7-90F9-DBBB-DA197F40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7A7BCA-6D89-461A-3295-CB7EE449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9869D-2AEB-9CB6-2777-D8E81388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67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0C2280-2145-B362-8AFF-AD578CC2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C33AE6-4189-375D-BE26-E2F96D766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C8F86-7301-FA51-F214-A07E34196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44835-5721-2044-847C-113CE0FA57E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3D4381-EEE7-14BD-89F7-5926D3422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D886DF-0690-78A8-96C7-1FD8BB723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E7418-91F9-8F43-AFE7-F03A798571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01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6128-9E60-6063-0304-EFA17B27F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DFA92B0E-06D6-28BE-B043-C96722DB3274}"/>
              </a:ext>
            </a:extLst>
          </p:cNvPr>
          <p:cNvSpPr/>
          <p:nvPr/>
        </p:nvSpPr>
        <p:spPr>
          <a:xfrm>
            <a:off x="4222408" y="143688"/>
            <a:ext cx="4535512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本社</a:t>
            </a:r>
            <a:r>
              <a:rPr kumimoji="1" lang="ja-JP" altLang="en-US">
                <a:solidFill>
                  <a:schemeClr val="tx1"/>
                </a:solidFill>
              </a:rPr>
              <a:t>：画面構成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1E80816-D409-96A9-C707-7D793A6A4A53}"/>
              </a:ext>
            </a:extLst>
          </p:cNvPr>
          <p:cNvSpPr/>
          <p:nvPr/>
        </p:nvSpPr>
        <p:spPr>
          <a:xfrm>
            <a:off x="184550" y="825239"/>
            <a:ext cx="1858227" cy="117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A77D69-995F-64EE-8C7E-27D74E9CFD31}"/>
              </a:ext>
            </a:extLst>
          </p:cNvPr>
          <p:cNvSpPr txBox="1"/>
          <p:nvPr/>
        </p:nvSpPr>
        <p:spPr>
          <a:xfrm>
            <a:off x="346248" y="1274208"/>
            <a:ext cx="153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ログイン画面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FBC2C93-3E44-5964-85EF-CC06A7FD4B1F}"/>
              </a:ext>
            </a:extLst>
          </p:cNvPr>
          <p:cNvSpPr/>
          <p:nvPr/>
        </p:nvSpPr>
        <p:spPr>
          <a:xfrm>
            <a:off x="2738506" y="825239"/>
            <a:ext cx="1858227" cy="117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D4FF98-0F28-949F-A1BA-1A003A94FDD8}"/>
              </a:ext>
            </a:extLst>
          </p:cNvPr>
          <p:cNvSpPr txBox="1"/>
          <p:nvPr/>
        </p:nvSpPr>
        <p:spPr>
          <a:xfrm>
            <a:off x="2819817" y="899932"/>
            <a:ext cx="153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トップ</a:t>
            </a:r>
            <a:r>
              <a:rPr kumimoji="1" lang="ja-JP" altLang="en-US" sz="1200">
                <a:solidFill>
                  <a:schemeClr val="tx1"/>
                </a:solidFill>
              </a:rPr>
              <a:t>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902D8738-0C3E-04FD-F360-5555D09B42AD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042777" y="1412709"/>
            <a:ext cx="69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A3F330-9AE2-53FC-35A7-76A46E04A95A}"/>
              </a:ext>
            </a:extLst>
          </p:cNvPr>
          <p:cNvSpPr txBox="1"/>
          <p:nvPr/>
        </p:nvSpPr>
        <p:spPr>
          <a:xfrm>
            <a:off x="3485796" y="2118748"/>
            <a:ext cx="288857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/>
              <a:t>現場担当者からの入力情報</a:t>
            </a:r>
            <a:endParaRPr lang="en-US" altLang="ja-JP" sz="1200" dirty="0"/>
          </a:p>
          <a:p>
            <a:r>
              <a:rPr lang="ja-JP" altLang="en-US" sz="1200"/>
              <a:t>・消し込み未の一覧</a:t>
            </a:r>
            <a:endParaRPr lang="en-US" altLang="ja-JP" sz="1200" dirty="0"/>
          </a:p>
          <a:p>
            <a:r>
              <a:rPr kumimoji="1" lang="ja-JP" altLang="en-US" sz="1200">
                <a:solidFill>
                  <a:schemeClr val="tx1"/>
                </a:solidFill>
              </a:rPr>
              <a:t>　ー</a:t>
            </a:r>
            <a:r>
              <a:rPr kumimoji="1" lang="en-US" altLang="ja-JP" sz="1200" dirty="0">
                <a:solidFill>
                  <a:schemeClr val="tx1"/>
                </a:solidFill>
              </a:rPr>
              <a:t> </a:t>
            </a:r>
            <a:r>
              <a:rPr kumimoji="1" lang="ja-JP" altLang="en-US" sz="1200">
                <a:solidFill>
                  <a:schemeClr val="tx1"/>
                </a:solidFill>
              </a:rPr>
              <a:t>入社情報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/>
              <a:t>　ー</a:t>
            </a:r>
            <a:r>
              <a:rPr lang="en-US" altLang="ja-JP" sz="1200" dirty="0"/>
              <a:t> </a:t>
            </a:r>
            <a:r>
              <a:rPr lang="ja-JP" altLang="en-US" sz="1200"/>
              <a:t>退社情報</a:t>
            </a:r>
            <a:endParaRPr lang="en-US" altLang="ja-JP" sz="1200" dirty="0"/>
          </a:p>
          <a:p>
            <a:r>
              <a:rPr kumimoji="1" lang="ja-JP" altLang="en-US" sz="1200">
                <a:solidFill>
                  <a:schemeClr val="tx1"/>
                </a:solidFill>
              </a:rPr>
              <a:t>　ー</a:t>
            </a:r>
            <a:r>
              <a:rPr kumimoji="1" lang="en-US" altLang="ja-JP" sz="1200" dirty="0">
                <a:solidFill>
                  <a:schemeClr val="tx1"/>
                </a:solidFill>
              </a:rPr>
              <a:t> </a:t>
            </a:r>
            <a:r>
              <a:rPr kumimoji="1" lang="ja-JP" altLang="en-US" sz="1200">
                <a:solidFill>
                  <a:schemeClr val="tx1"/>
                </a:solidFill>
              </a:rPr>
              <a:t>雇用条件変更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endParaRPr lang="en-US" altLang="ja-JP" sz="1200" dirty="0"/>
          </a:p>
          <a:p>
            <a:endParaRPr lang="en-US" altLang="ja-JP" sz="1200" dirty="0"/>
          </a:p>
          <a:p>
            <a:endParaRPr lang="en-US" altLang="ja-JP" sz="1200" dirty="0"/>
          </a:p>
          <a:p>
            <a:endParaRPr lang="en-US" altLang="ja-JP" sz="1200" dirty="0"/>
          </a:p>
          <a:p>
            <a:endParaRPr lang="en-US" altLang="ja-JP" sz="1200" dirty="0"/>
          </a:p>
          <a:p>
            <a:r>
              <a:rPr kumimoji="1" lang="ja-JP" altLang="en-US" sz="1200">
                <a:solidFill>
                  <a:schemeClr val="tx1"/>
                </a:solidFill>
              </a:rPr>
              <a:t>有休の付与情報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/>
              <a:t>・有休情報未確定の一覧</a:t>
            </a:r>
            <a:endParaRPr lang="en-US" altLang="ja-JP" sz="1200" dirty="0"/>
          </a:p>
          <a:p>
            <a:endParaRPr kumimoji="1" lang="en-US" altLang="ja-JP" sz="1200" dirty="0">
              <a:solidFill>
                <a:schemeClr val="tx1"/>
              </a:solidFill>
            </a:endParaRPr>
          </a:p>
          <a:p>
            <a:endParaRPr kumimoji="1" lang="en-US" altLang="ja-JP" sz="1200" dirty="0">
              <a:solidFill>
                <a:schemeClr val="tx1"/>
              </a:solidFill>
            </a:endParaRPr>
          </a:p>
          <a:p>
            <a:endParaRPr lang="en-US" altLang="ja-JP" sz="1200" dirty="0"/>
          </a:p>
          <a:p>
            <a:endParaRPr kumimoji="1" lang="en-US" altLang="ja-JP" sz="1200" dirty="0">
              <a:solidFill>
                <a:schemeClr val="tx1"/>
              </a:solidFill>
            </a:endParaRPr>
          </a:p>
          <a:p>
            <a:r>
              <a:rPr kumimoji="1" lang="ja-JP" altLang="en-US" sz="1200">
                <a:solidFill>
                  <a:schemeClr val="tx1"/>
                </a:solidFill>
              </a:rPr>
              <a:t>従業員検索ボタン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endParaRPr lang="en-US" altLang="ja-JP" sz="1200" dirty="0"/>
          </a:p>
          <a:p>
            <a:endParaRPr kumimoji="1" lang="en-US" altLang="ja-JP" sz="1200" dirty="0">
              <a:solidFill>
                <a:schemeClr val="tx1"/>
              </a:solidFill>
            </a:endParaRPr>
          </a:p>
          <a:p>
            <a:endParaRPr lang="en-US" altLang="ja-JP" sz="1200" dirty="0"/>
          </a:p>
          <a:p>
            <a:endParaRPr kumimoji="1" lang="en-US" altLang="ja-JP" sz="1200" dirty="0">
              <a:solidFill>
                <a:schemeClr val="tx1"/>
              </a:solidFill>
            </a:endParaRPr>
          </a:p>
          <a:p>
            <a:r>
              <a:rPr kumimoji="1" lang="ja-JP" altLang="en-US" sz="1200">
                <a:solidFill>
                  <a:schemeClr val="tx1"/>
                </a:solidFill>
              </a:rPr>
              <a:t>サイトユーザー情報管理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E194CE2-ED02-FE93-61D1-DADBACBD18D5}"/>
              </a:ext>
            </a:extLst>
          </p:cNvPr>
          <p:cNvCxnSpPr/>
          <p:nvPr/>
        </p:nvCxnSpPr>
        <p:spPr>
          <a:xfrm>
            <a:off x="5329865" y="4187232"/>
            <a:ext cx="69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39729E0-84DD-8A46-4C44-512EA520164E}"/>
              </a:ext>
            </a:extLst>
          </p:cNvPr>
          <p:cNvSpPr/>
          <p:nvPr/>
        </p:nvSpPr>
        <p:spPr>
          <a:xfrm>
            <a:off x="6025594" y="3881226"/>
            <a:ext cx="1319353" cy="6120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B874B31-2EFE-5AA4-BE8B-FBD775846D6B}"/>
              </a:ext>
            </a:extLst>
          </p:cNvPr>
          <p:cNvSpPr txBox="1"/>
          <p:nvPr/>
        </p:nvSpPr>
        <p:spPr>
          <a:xfrm>
            <a:off x="6160683" y="3971788"/>
            <a:ext cx="10224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/>
              <a:t>有休付与日数</a:t>
            </a:r>
            <a:endParaRPr lang="en-US" altLang="ja-JP" sz="1050" dirty="0"/>
          </a:p>
          <a:p>
            <a:r>
              <a:rPr lang="ja-JP" altLang="en-US" sz="1050"/>
              <a:t>補正入力画面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4D7D9C34-2725-FA3C-32E7-FCABCC03D61A}"/>
              </a:ext>
            </a:extLst>
          </p:cNvPr>
          <p:cNvCxnSpPr>
            <a:cxnSpLocks/>
          </p:cNvCxnSpPr>
          <p:nvPr/>
        </p:nvCxnSpPr>
        <p:spPr>
          <a:xfrm flipV="1">
            <a:off x="4662703" y="2187108"/>
            <a:ext cx="1448137" cy="404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52DE783-E801-FD7A-0A19-CC2CFE8A365E}"/>
              </a:ext>
            </a:extLst>
          </p:cNvPr>
          <p:cNvSpPr/>
          <p:nvPr/>
        </p:nvSpPr>
        <p:spPr>
          <a:xfrm>
            <a:off x="6110840" y="2003204"/>
            <a:ext cx="1319353" cy="4041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A2B379B-6284-3AE9-80EE-BC72E88E3040}"/>
              </a:ext>
            </a:extLst>
          </p:cNvPr>
          <p:cNvSpPr txBox="1"/>
          <p:nvPr/>
        </p:nvSpPr>
        <p:spPr>
          <a:xfrm>
            <a:off x="6371534" y="1997524"/>
            <a:ext cx="8941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/>
              <a:t>入社情報</a:t>
            </a:r>
            <a:endParaRPr lang="en-US" altLang="ja-JP" sz="1050" dirty="0"/>
          </a:p>
          <a:p>
            <a:r>
              <a:rPr lang="ja-JP" altLang="en-US" sz="1050"/>
              <a:t>詳細表示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0A8915F1-B8F3-FFB9-1438-A1CA3FDCA74C}"/>
              </a:ext>
            </a:extLst>
          </p:cNvPr>
          <p:cNvCxnSpPr>
            <a:cxnSpLocks/>
          </p:cNvCxnSpPr>
          <p:nvPr/>
        </p:nvCxnSpPr>
        <p:spPr>
          <a:xfrm flipV="1">
            <a:off x="4587213" y="2671355"/>
            <a:ext cx="1438381" cy="107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1F9D3D3-667F-3248-3087-AB577D047DD2}"/>
              </a:ext>
            </a:extLst>
          </p:cNvPr>
          <p:cNvSpPr/>
          <p:nvPr/>
        </p:nvSpPr>
        <p:spPr>
          <a:xfrm>
            <a:off x="6079418" y="2521153"/>
            <a:ext cx="1319353" cy="4041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FBFE8F9-D124-2793-E924-46016F83E43C}"/>
              </a:ext>
            </a:extLst>
          </p:cNvPr>
          <p:cNvSpPr txBox="1"/>
          <p:nvPr/>
        </p:nvSpPr>
        <p:spPr>
          <a:xfrm>
            <a:off x="6340112" y="2515473"/>
            <a:ext cx="8941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/>
              <a:t>退社情報</a:t>
            </a:r>
            <a:endParaRPr lang="en-US" altLang="ja-JP" sz="1050" dirty="0"/>
          </a:p>
          <a:p>
            <a:r>
              <a:rPr lang="ja-JP" altLang="en-US" sz="1050"/>
              <a:t>詳細表示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CFCB12A-AF25-1BF7-6885-999BA9DCA17B}"/>
              </a:ext>
            </a:extLst>
          </p:cNvPr>
          <p:cNvSpPr/>
          <p:nvPr/>
        </p:nvSpPr>
        <p:spPr>
          <a:xfrm>
            <a:off x="6079418" y="3062946"/>
            <a:ext cx="1319353" cy="4041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CCB50A6-D59B-8CDC-E53A-B81C920EAB89}"/>
              </a:ext>
            </a:extLst>
          </p:cNvPr>
          <p:cNvSpPr txBox="1"/>
          <p:nvPr/>
        </p:nvSpPr>
        <p:spPr>
          <a:xfrm>
            <a:off x="6340112" y="3057266"/>
            <a:ext cx="10048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/>
              <a:t>雇用条件変更</a:t>
            </a:r>
            <a:endParaRPr lang="en-US" altLang="ja-JP" sz="1050" dirty="0"/>
          </a:p>
          <a:p>
            <a:r>
              <a:rPr lang="ja-JP" altLang="en-US" sz="1050"/>
              <a:t>詳細表示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A0ACD875-6765-E1D8-5363-C1D0EEA8AF50}"/>
              </a:ext>
            </a:extLst>
          </p:cNvPr>
          <p:cNvCxnSpPr>
            <a:cxnSpLocks/>
          </p:cNvCxnSpPr>
          <p:nvPr/>
        </p:nvCxnSpPr>
        <p:spPr>
          <a:xfrm>
            <a:off x="4865503" y="3039265"/>
            <a:ext cx="1193463" cy="199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062BBD66-C646-4C41-DA3D-A49C739B7E55}"/>
              </a:ext>
            </a:extLst>
          </p:cNvPr>
          <p:cNvSpPr/>
          <p:nvPr/>
        </p:nvSpPr>
        <p:spPr>
          <a:xfrm>
            <a:off x="6025594" y="4817437"/>
            <a:ext cx="1858227" cy="532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967D36AC-FD32-3A81-0A07-5B132E18D8E7}"/>
              </a:ext>
            </a:extLst>
          </p:cNvPr>
          <p:cNvSpPr txBox="1"/>
          <p:nvPr/>
        </p:nvSpPr>
        <p:spPr>
          <a:xfrm>
            <a:off x="6173095" y="4874187"/>
            <a:ext cx="153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従業員検索画面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596EA55D-A42A-C19C-E142-4E30EB5D1222}"/>
              </a:ext>
            </a:extLst>
          </p:cNvPr>
          <p:cNvCxnSpPr/>
          <p:nvPr/>
        </p:nvCxnSpPr>
        <p:spPr>
          <a:xfrm>
            <a:off x="7883822" y="5077810"/>
            <a:ext cx="69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94581B07-40F6-D35F-158E-90240AF7CDA6}"/>
              </a:ext>
            </a:extLst>
          </p:cNvPr>
          <p:cNvSpPr/>
          <p:nvPr/>
        </p:nvSpPr>
        <p:spPr>
          <a:xfrm>
            <a:off x="8598764" y="4702886"/>
            <a:ext cx="1534830" cy="646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88D9056A-8821-55DE-9E73-1BDEA6000CA1}"/>
              </a:ext>
            </a:extLst>
          </p:cNvPr>
          <p:cNvSpPr txBox="1"/>
          <p:nvPr/>
        </p:nvSpPr>
        <p:spPr>
          <a:xfrm>
            <a:off x="8757920" y="4817437"/>
            <a:ext cx="115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従業員詳細</a:t>
            </a:r>
            <a:endParaRPr lang="en-US" altLang="ja-JP" sz="1200" dirty="0"/>
          </a:p>
          <a:p>
            <a:pPr algn="ctr"/>
            <a:r>
              <a:rPr lang="ja-JP" altLang="en-US" sz="1200"/>
              <a:t>表示画面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50EA164-1212-42BC-60B4-142499B2B1D7}"/>
              </a:ext>
            </a:extLst>
          </p:cNvPr>
          <p:cNvSpPr txBox="1"/>
          <p:nvPr/>
        </p:nvSpPr>
        <p:spPr>
          <a:xfrm>
            <a:off x="10070300" y="4702886"/>
            <a:ext cx="1609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/>
              <a:t>・有休残日数</a:t>
            </a:r>
            <a:endParaRPr lang="en-US" altLang="ja-JP" sz="1200" dirty="0"/>
          </a:p>
          <a:p>
            <a:r>
              <a:rPr lang="ja-JP" altLang="en-US" sz="1200"/>
              <a:t>・有休期限</a:t>
            </a:r>
            <a:endParaRPr lang="en-US" altLang="ja-JP" sz="1200" dirty="0"/>
          </a:p>
          <a:p>
            <a:r>
              <a:rPr lang="ja-JP" altLang="en-US" sz="1200"/>
              <a:t>・有休消化実績</a:t>
            </a:r>
            <a:endParaRPr lang="en-US" altLang="ja-JP" sz="1200" dirty="0"/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139834C0-F35C-46A9-ADEA-DADEB05F4F5C}"/>
              </a:ext>
            </a:extLst>
          </p:cNvPr>
          <p:cNvCxnSpPr>
            <a:cxnSpLocks/>
          </p:cNvCxnSpPr>
          <p:nvPr/>
        </p:nvCxnSpPr>
        <p:spPr>
          <a:xfrm>
            <a:off x="4865503" y="5139209"/>
            <a:ext cx="1193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左中かっこ 61">
            <a:extLst>
              <a:ext uri="{FF2B5EF4-FFF2-40B4-BE49-F238E27FC236}">
                <a16:creationId xmlns:a16="http://schemas.microsoft.com/office/drawing/2014/main" id="{3B4A81A4-3FE0-EA83-A242-B6DE45C562C2}"/>
              </a:ext>
            </a:extLst>
          </p:cNvPr>
          <p:cNvSpPr/>
          <p:nvPr/>
        </p:nvSpPr>
        <p:spPr>
          <a:xfrm>
            <a:off x="3130920" y="2118748"/>
            <a:ext cx="251208" cy="423181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26084829-2528-DB83-85F5-73B2FE88799F}"/>
              </a:ext>
            </a:extLst>
          </p:cNvPr>
          <p:cNvCxnSpPr>
            <a:cxnSpLocks/>
          </p:cNvCxnSpPr>
          <p:nvPr/>
        </p:nvCxnSpPr>
        <p:spPr>
          <a:xfrm>
            <a:off x="5265695" y="6075381"/>
            <a:ext cx="7598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CAA22E4-9FF3-C2A0-3FC6-1FD2B28405EF}"/>
              </a:ext>
            </a:extLst>
          </p:cNvPr>
          <p:cNvSpPr/>
          <p:nvPr/>
        </p:nvSpPr>
        <p:spPr>
          <a:xfrm>
            <a:off x="6011396" y="5843217"/>
            <a:ext cx="1858227" cy="532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618A8DF4-9EFC-5464-704E-69ABF1240ABD}"/>
              </a:ext>
            </a:extLst>
          </p:cNvPr>
          <p:cNvSpPr txBox="1"/>
          <p:nvPr/>
        </p:nvSpPr>
        <p:spPr>
          <a:xfrm>
            <a:off x="6036884" y="5935996"/>
            <a:ext cx="153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・・・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3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65A7B-AFB5-E328-9CCA-76A66575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884B4CCD-222B-A354-114C-6D91CADF99C7}"/>
              </a:ext>
            </a:extLst>
          </p:cNvPr>
          <p:cNvSpPr/>
          <p:nvPr/>
        </p:nvSpPr>
        <p:spPr>
          <a:xfrm>
            <a:off x="4222408" y="143688"/>
            <a:ext cx="4535512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現場担当者：画面構成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50647DB-0B38-3D3F-BC90-B795A1002C3F}"/>
              </a:ext>
            </a:extLst>
          </p:cNvPr>
          <p:cNvSpPr/>
          <p:nvPr/>
        </p:nvSpPr>
        <p:spPr>
          <a:xfrm>
            <a:off x="375469" y="1189991"/>
            <a:ext cx="1858227" cy="117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35">
            <a:extLst>
              <a:ext uri="{FF2B5EF4-FFF2-40B4-BE49-F238E27FC236}">
                <a16:creationId xmlns:a16="http://schemas.microsoft.com/office/drawing/2014/main" id="{EC1BA10B-6537-8FD9-ADD2-563498D3DFC0}"/>
              </a:ext>
            </a:extLst>
          </p:cNvPr>
          <p:cNvSpPr/>
          <p:nvPr/>
        </p:nvSpPr>
        <p:spPr>
          <a:xfrm>
            <a:off x="3277820" y="1300579"/>
            <a:ext cx="1232999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</a:rPr>
              <a:t>入社連絡表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0C4E12-1BEF-CB43-3430-72286B3B7B10}"/>
              </a:ext>
            </a:extLst>
          </p:cNvPr>
          <p:cNvSpPr txBox="1"/>
          <p:nvPr/>
        </p:nvSpPr>
        <p:spPr>
          <a:xfrm>
            <a:off x="537167" y="1638960"/>
            <a:ext cx="153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ログイン画面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74903F-8224-FBC7-C482-482D1DF9C7F7}"/>
              </a:ext>
            </a:extLst>
          </p:cNvPr>
          <p:cNvSpPr/>
          <p:nvPr/>
        </p:nvSpPr>
        <p:spPr>
          <a:xfrm>
            <a:off x="2929425" y="1189991"/>
            <a:ext cx="1858227" cy="117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BA479A-7828-919A-536D-10C639C3F551}"/>
              </a:ext>
            </a:extLst>
          </p:cNvPr>
          <p:cNvSpPr txBox="1"/>
          <p:nvPr/>
        </p:nvSpPr>
        <p:spPr>
          <a:xfrm>
            <a:off x="3091123" y="912992"/>
            <a:ext cx="153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トップ</a:t>
            </a:r>
            <a:r>
              <a:rPr kumimoji="1" lang="ja-JP" altLang="en-US" sz="1200">
                <a:solidFill>
                  <a:schemeClr val="tx1"/>
                </a:solidFill>
              </a:rPr>
              <a:t>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95562CCE-23FC-AFCF-4F86-FC45534D7010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233696" y="1777461"/>
            <a:ext cx="69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四角形: 角を丸くする 35">
            <a:extLst>
              <a:ext uri="{FF2B5EF4-FFF2-40B4-BE49-F238E27FC236}">
                <a16:creationId xmlns:a16="http://schemas.microsoft.com/office/drawing/2014/main" id="{EEE19DD7-85BB-3FF6-E8B9-482FFC276876}"/>
              </a:ext>
            </a:extLst>
          </p:cNvPr>
          <p:cNvSpPr/>
          <p:nvPr/>
        </p:nvSpPr>
        <p:spPr>
          <a:xfrm>
            <a:off x="3277820" y="1856190"/>
            <a:ext cx="1232999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</a:rPr>
              <a:t>従業員一覧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3709C18-2D47-B8CB-50ED-062B22ACBC45}"/>
              </a:ext>
            </a:extLst>
          </p:cNvPr>
          <p:cNvCxnSpPr/>
          <p:nvPr/>
        </p:nvCxnSpPr>
        <p:spPr>
          <a:xfrm>
            <a:off x="4439787" y="1521448"/>
            <a:ext cx="69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A9D82F2-09B4-A87E-5EF5-373D98CDFE34}"/>
              </a:ext>
            </a:extLst>
          </p:cNvPr>
          <p:cNvSpPr/>
          <p:nvPr/>
        </p:nvSpPr>
        <p:spPr>
          <a:xfrm>
            <a:off x="5135516" y="1189991"/>
            <a:ext cx="1858227" cy="117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05C6E45-6AA6-14F2-B616-3FB2EE7500A8}"/>
              </a:ext>
            </a:extLst>
          </p:cNvPr>
          <p:cNvSpPr txBox="1"/>
          <p:nvPr/>
        </p:nvSpPr>
        <p:spPr>
          <a:xfrm>
            <a:off x="5277117" y="1546628"/>
            <a:ext cx="1534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入社連絡表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lang="ja-JP" altLang="en-US" sz="1200"/>
              <a:t>作成画面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34A47684-903D-A69A-1CBB-8C8BB036DA60}"/>
              </a:ext>
            </a:extLst>
          </p:cNvPr>
          <p:cNvCxnSpPr>
            <a:stCxn id="13" idx="2"/>
          </p:cNvCxnSpPr>
          <p:nvPr/>
        </p:nvCxnSpPr>
        <p:spPr>
          <a:xfrm rot="16200000" flipH="1">
            <a:off x="3915065" y="2277184"/>
            <a:ext cx="1098414" cy="1139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1F969FD-1F9A-8D76-1FF8-82EBFA96DE31}"/>
              </a:ext>
            </a:extLst>
          </p:cNvPr>
          <p:cNvSpPr/>
          <p:nvPr/>
        </p:nvSpPr>
        <p:spPr>
          <a:xfrm>
            <a:off x="5084203" y="3062594"/>
            <a:ext cx="1858227" cy="117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3ACC371-9AA6-CA12-45F9-059357ED2348}"/>
              </a:ext>
            </a:extLst>
          </p:cNvPr>
          <p:cNvSpPr txBox="1"/>
          <p:nvPr/>
        </p:nvSpPr>
        <p:spPr>
          <a:xfrm>
            <a:off x="5231704" y="3119345"/>
            <a:ext cx="153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従業員検索画面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7A0CB842-2ED9-9295-6C93-504FA3E061A1}"/>
              </a:ext>
            </a:extLst>
          </p:cNvPr>
          <p:cNvCxnSpPr/>
          <p:nvPr/>
        </p:nvCxnSpPr>
        <p:spPr>
          <a:xfrm>
            <a:off x="6942430" y="3650062"/>
            <a:ext cx="69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784346D-7C85-8B3A-FA8F-35F12A15B396}"/>
              </a:ext>
            </a:extLst>
          </p:cNvPr>
          <p:cNvSpPr/>
          <p:nvPr/>
        </p:nvSpPr>
        <p:spPr>
          <a:xfrm>
            <a:off x="7638160" y="3062594"/>
            <a:ext cx="1534830" cy="1174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06B45C7-2AAA-0AF2-DF0B-B653652BAF2B}"/>
              </a:ext>
            </a:extLst>
          </p:cNvPr>
          <p:cNvSpPr txBox="1"/>
          <p:nvPr/>
        </p:nvSpPr>
        <p:spPr>
          <a:xfrm>
            <a:off x="7799857" y="3419230"/>
            <a:ext cx="115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従業員詳細</a:t>
            </a:r>
            <a:endParaRPr lang="en-US" altLang="ja-JP" sz="1200" dirty="0"/>
          </a:p>
          <a:p>
            <a:pPr algn="ctr"/>
            <a:r>
              <a:rPr lang="ja-JP" altLang="en-US" sz="1200"/>
              <a:t>表示画面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7259750-44D0-A756-CBFC-B35275AAB87C}"/>
              </a:ext>
            </a:extLst>
          </p:cNvPr>
          <p:cNvCxnSpPr/>
          <p:nvPr/>
        </p:nvCxnSpPr>
        <p:spPr>
          <a:xfrm>
            <a:off x="9172990" y="3614053"/>
            <a:ext cx="69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5A6115B-3832-2D45-E7FE-7B41D51579AA}"/>
              </a:ext>
            </a:extLst>
          </p:cNvPr>
          <p:cNvSpPr/>
          <p:nvPr/>
        </p:nvSpPr>
        <p:spPr>
          <a:xfrm>
            <a:off x="9868719" y="3062595"/>
            <a:ext cx="1534830" cy="818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D962735-3A50-2765-6EBC-317B06F8A8B9}"/>
              </a:ext>
            </a:extLst>
          </p:cNvPr>
          <p:cNvSpPr txBox="1"/>
          <p:nvPr/>
        </p:nvSpPr>
        <p:spPr>
          <a:xfrm>
            <a:off x="9987836" y="3260634"/>
            <a:ext cx="115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退社連絡表</a:t>
            </a:r>
            <a:endParaRPr lang="en-US" altLang="ja-JP" sz="1200" dirty="0"/>
          </a:p>
          <a:p>
            <a:pPr algn="ctr"/>
            <a:r>
              <a:rPr lang="ja-JP" altLang="en-US" sz="1200"/>
              <a:t>作成画面</a:t>
            </a:r>
            <a:endParaRPr lang="en-US" altLang="ja-JP" sz="12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22BBBEE-79EF-3EEB-B703-091FE2106CBF}"/>
              </a:ext>
            </a:extLst>
          </p:cNvPr>
          <p:cNvSpPr/>
          <p:nvPr/>
        </p:nvSpPr>
        <p:spPr>
          <a:xfrm>
            <a:off x="9868719" y="4165512"/>
            <a:ext cx="1534830" cy="818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AA3C397-F2E4-BBF3-8466-39BE56015EE1}"/>
              </a:ext>
            </a:extLst>
          </p:cNvPr>
          <p:cNvSpPr txBox="1"/>
          <p:nvPr/>
        </p:nvSpPr>
        <p:spPr>
          <a:xfrm>
            <a:off x="9987836" y="4363551"/>
            <a:ext cx="115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雇用条件</a:t>
            </a:r>
            <a:endParaRPr lang="en-US" altLang="ja-JP" sz="1200" dirty="0"/>
          </a:p>
          <a:p>
            <a:pPr algn="ctr"/>
            <a:r>
              <a:rPr lang="ja-JP" altLang="en-US" sz="1200"/>
              <a:t>変更届画面</a:t>
            </a:r>
            <a:endParaRPr lang="en-US" altLang="ja-JP" sz="1200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05E7C7D-08DC-DECD-0BE3-B923E85B18AA}"/>
              </a:ext>
            </a:extLst>
          </p:cNvPr>
          <p:cNvSpPr/>
          <p:nvPr/>
        </p:nvSpPr>
        <p:spPr>
          <a:xfrm>
            <a:off x="9868719" y="5453376"/>
            <a:ext cx="1534830" cy="818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7F329B7-3761-63BA-E3D4-FFEA956BED68}"/>
              </a:ext>
            </a:extLst>
          </p:cNvPr>
          <p:cNvSpPr txBox="1"/>
          <p:nvPr/>
        </p:nvSpPr>
        <p:spPr>
          <a:xfrm>
            <a:off x="9987836" y="5651415"/>
            <a:ext cx="115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/>
              <a:t>有休消化</a:t>
            </a:r>
            <a:endParaRPr lang="en-US" altLang="ja-JP" sz="1200" dirty="0"/>
          </a:p>
          <a:p>
            <a:pPr algn="ctr"/>
            <a:r>
              <a:rPr lang="ja-JP" altLang="en-US" sz="1200"/>
              <a:t>入力画面</a:t>
            </a:r>
            <a:endParaRPr lang="en-US" altLang="ja-JP" sz="12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5FD655C-0FFA-1A10-EF95-80D90A0BFF02}"/>
              </a:ext>
            </a:extLst>
          </p:cNvPr>
          <p:cNvSpPr txBox="1"/>
          <p:nvPr/>
        </p:nvSpPr>
        <p:spPr>
          <a:xfrm>
            <a:off x="7549766" y="4313139"/>
            <a:ext cx="1609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・有休残日数</a:t>
            </a:r>
            <a:endParaRPr lang="en-US" altLang="ja-JP" sz="1200" dirty="0"/>
          </a:p>
          <a:p>
            <a:r>
              <a:rPr lang="ja-JP" altLang="en-US" sz="1200" dirty="0"/>
              <a:t>・有休期限</a:t>
            </a:r>
            <a:endParaRPr lang="en-US" altLang="ja-JP" sz="1200" dirty="0"/>
          </a:p>
          <a:p>
            <a:r>
              <a:rPr lang="ja-JP" altLang="en-US" sz="1200" dirty="0"/>
              <a:t>・有休消化実績</a:t>
            </a:r>
            <a:endParaRPr lang="en-US" altLang="ja-JP" sz="1200" dirty="0"/>
          </a:p>
        </p:txBody>
      </p:sp>
      <p:cxnSp>
        <p:nvCxnSpPr>
          <p:cNvPr id="38" name="カギ線コネクタ 37">
            <a:extLst>
              <a:ext uri="{FF2B5EF4-FFF2-40B4-BE49-F238E27FC236}">
                <a16:creationId xmlns:a16="http://schemas.microsoft.com/office/drawing/2014/main" id="{F193C2C5-3E8D-7611-0B38-D3C13E9970BE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9171756" y="3877698"/>
            <a:ext cx="960609" cy="4333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カギ線コネクタ 40">
            <a:extLst>
              <a:ext uri="{FF2B5EF4-FFF2-40B4-BE49-F238E27FC236}">
                <a16:creationId xmlns:a16="http://schemas.microsoft.com/office/drawing/2014/main" id="{9382219F-6250-00E3-B8CA-35D1C36CD4C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15242" y="5014543"/>
            <a:ext cx="1273637" cy="433316"/>
          </a:xfrm>
          <a:prstGeom prst="bentConnector3">
            <a:avLst>
              <a:gd name="adj1" fmla="val 989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E1E9B4-9FA1-2BDB-1332-92F12F275A63}"/>
              </a:ext>
            </a:extLst>
          </p:cNvPr>
          <p:cNvSpPr txBox="1"/>
          <p:nvPr/>
        </p:nvSpPr>
        <p:spPr>
          <a:xfrm>
            <a:off x="5376801" y="3396344"/>
            <a:ext cx="1609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退職者一覧</a:t>
            </a:r>
            <a:endParaRPr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290625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BF63-1BB4-F6D2-247D-AE244A202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E9460A75-2B39-AAF4-F305-171F0333A7A7}"/>
              </a:ext>
            </a:extLst>
          </p:cNvPr>
          <p:cNvSpPr/>
          <p:nvPr/>
        </p:nvSpPr>
        <p:spPr>
          <a:xfrm>
            <a:off x="4222408" y="143688"/>
            <a:ext cx="3747184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ログイン：パソコン画面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C888494-824B-A530-54C1-11C359A08F14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2F11F7-8F7D-A197-7697-28AB7AB3D720}"/>
              </a:ext>
            </a:extLst>
          </p:cNvPr>
          <p:cNvSpPr txBox="1"/>
          <p:nvPr/>
        </p:nvSpPr>
        <p:spPr>
          <a:xfrm>
            <a:off x="2377440" y="30784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ユーザー名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C54651-F905-E724-7862-5F416EC3647A}"/>
              </a:ext>
            </a:extLst>
          </p:cNvPr>
          <p:cNvSpPr/>
          <p:nvPr/>
        </p:nvSpPr>
        <p:spPr>
          <a:xfrm>
            <a:off x="4257040" y="3078480"/>
            <a:ext cx="4500880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0FB6CE-9276-8970-4345-523134FA21B0}"/>
              </a:ext>
            </a:extLst>
          </p:cNvPr>
          <p:cNvSpPr txBox="1"/>
          <p:nvPr/>
        </p:nvSpPr>
        <p:spPr>
          <a:xfrm>
            <a:off x="2377440" y="389808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パスワード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F71D3DC-4C49-6297-B312-8D81B507A5BB}"/>
              </a:ext>
            </a:extLst>
          </p:cNvPr>
          <p:cNvSpPr/>
          <p:nvPr/>
        </p:nvSpPr>
        <p:spPr>
          <a:xfrm>
            <a:off x="4257040" y="3898083"/>
            <a:ext cx="4500880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AB810EB8-913D-FA3F-36BF-46252538E733}"/>
              </a:ext>
            </a:extLst>
          </p:cNvPr>
          <p:cNvSpPr/>
          <p:nvPr/>
        </p:nvSpPr>
        <p:spPr>
          <a:xfrm>
            <a:off x="5323840" y="4772919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ログイン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9C2883-2CBD-18BB-0C0D-81B5464CBF3E}"/>
              </a:ext>
            </a:extLst>
          </p:cNvPr>
          <p:cNvSpPr txBox="1"/>
          <p:nvPr/>
        </p:nvSpPr>
        <p:spPr>
          <a:xfrm>
            <a:off x="3516506" y="1649646"/>
            <a:ext cx="6165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/>
              <a:t>業務管理システム</a:t>
            </a:r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52D2C1FF-C2FE-7ACF-5493-632933CE8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7E3BEB73-DCE5-4E48-7DA7-D638D19C9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54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9EC0-C15F-11EE-E3C0-03B76DB2E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4963B06A-F719-0503-DE1E-B549671FC2BE}"/>
              </a:ext>
            </a:extLst>
          </p:cNvPr>
          <p:cNvSpPr/>
          <p:nvPr/>
        </p:nvSpPr>
        <p:spPr>
          <a:xfrm>
            <a:off x="4222408" y="143688"/>
            <a:ext cx="3747184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ログイン：スマホ画面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81B6CD-75AE-F8EB-C250-8AD2926E06F3}"/>
              </a:ext>
            </a:extLst>
          </p:cNvPr>
          <p:cNvSpPr/>
          <p:nvPr/>
        </p:nvSpPr>
        <p:spPr>
          <a:xfrm>
            <a:off x="4128656" y="1045746"/>
            <a:ext cx="3839688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4EF417-005E-003D-F1E9-C2B88A6E8B6A}"/>
              </a:ext>
            </a:extLst>
          </p:cNvPr>
          <p:cNvSpPr txBox="1"/>
          <p:nvPr/>
        </p:nvSpPr>
        <p:spPr>
          <a:xfrm>
            <a:off x="4263983" y="3214786"/>
            <a:ext cx="1069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ユーザー名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6B92ED-F877-933D-F15A-AE19A48DBD25}"/>
              </a:ext>
            </a:extLst>
          </p:cNvPr>
          <p:cNvSpPr/>
          <p:nvPr/>
        </p:nvSpPr>
        <p:spPr>
          <a:xfrm>
            <a:off x="5325076" y="3176749"/>
            <a:ext cx="2092073" cy="301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199F7C-B65D-6256-DA30-778E2E5AC398}"/>
              </a:ext>
            </a:extLst>
          </p:cNvPr>
          <p:cNvSpPr txBox="1"/>
          <p:nvPr/>
        </p:nvSpPr>
        <p:spPr>
          <a:xfrm>
            <a:off x="4263983" y="367834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パスワード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A92E17-FF12-E38B-1C57-FCA395972242}"/>
              </a:ext>
            </a:extLst>
          </p:cNvPr>
          <p:cNvSpPr/>
          <p:nvPr/>
        </p:nvSpPr>
        <p:spPr>
          <a:xfrm>
            <a:off x="5308139" y="3661084"/>
            <a:ext cx="2092073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FB3707FC-9C7F-94EF-0533-DDADC762D03C}"/>
              </a:ext>
            </a:extLst>
          </p:cNvPr>
          <p:cNvSpPr/>
          <p:nvPr/>
        </p:nvSpPr>
        <p:spPr>
          <a:xfrm>
            <a:off x="5060249" y="4795736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ログイン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9E1F062-B19E-B145-D5E0-ED96D06F2033}"/>
              </a:ext>
            </a:extLst>
          </p:cNvPr>
          <p:cNvSpPr txBox="1"/>
          <p:nvPr/>
        </p:nvSpPr>
        <p:spPr>
          <a:xfrm>
            <a:off x="4696788" y="1945600"/>
            <a:ext cx="270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業務管理システム</a:t>
            </a:r>
          </a:p>
        </p:txBody>
      </p:sp>
      <p:pic>
        <p:nvPicPr>
          <p:cNvPr id="7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A82FB131-7043-4CD7-E3F3-8A497A21ED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6453417" y="1123302"/>
            <a:ext cx="779739" cy="4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ブラジルの国旗 - Wikipedia">
            <a:extLst>
              <a:ext uri="{FF2B5EF4-FFF2-40B4-BE49-F238E27FC236}">
                <a16:creationId xmlns:a16="http://schemas.microsoft.com/office/drawing/2014/main" id="{A4E27B62-3B3D-92AB-A546-EF2935273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453" y="1144351"/>
            <a:ext cx="597719" cy="41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49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B5D2-2B73-78C7-9AEE-7DE13C18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25CDA8EA-2209-3819-6682-3EF2EB2B7C28}"/>
              </a:ext>
            </a:extLst>
          </p:cNvPr>
          <p:cNvSpPr/>
          <p:nvPr/>
        </p:nvSpPr>
        <p:spPr>
          <a:xfrm>
            <a:off x="3825982" y="256990"/>
            <a:ext cx="4535512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現場担当者トップ画面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128318A-3199-EEAD-7311-89AFBDB94AF5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4B70FC18-99E9-A5C5-9780-F5B27B5D6C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0EEB9C38-D603-6DF5-9D56-094398F9C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四角形: 角を丸くする 35">
            <a:extLst>
              <a:ext uri="{FF2B5EF4-FFF2-40B4-BE49-F238E27FC236}">
                <a16:creationId xmlns:a16="http://schemas.microsoft.com/office/drawing/2014/main" id="{D964C1CD-2B3C-D7B9-DAFC-C22F24E06C1E}"/>
              </a:ext>
            </a:extLst>
          </p:cNvPr>
          <p:cNvSpPr/>
          <p:nvPr/>
        </p:nvSpPr>
        <p:spPr>
          <a:xfrm>
            <a:off x="5024862" y="3208130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入社連絡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35">
            <a:extLst>
              <a:ext uri="{FF2B5EF4-FFF2-40B4-BE49-F238E27FC236}">
                <a16:creationId xmlns:a16="http://schemas.microsoft.com/office/drawing/2014/main" id="{B8338064-21E5-94C0-9D0A-16474D024939}"/>
              </a:ext>
            </a:extLst>
          </p:cNvPr>
          <p:cNvSpPr/>
          <p:nvPr/>
        </p:nvSpPr>
        <p:spPr>
          <a:xfrm>
            <a:off x="5027124" y="3986838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従業員一覧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730F063-21D4-AEF6-8B0F-B8875067DC19}"/>
              </a:ext>
            </a:extLst>
          </p:cNvPr>
          <p:cNvSpPr txBox="1"/>
          <p:nvPr/>
        </p:nvSpPr>
        <p:spPr>
          <a:xfrm>
            <a:off x="4786932" y="1652547"/>
            <a:ext cx="261361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TOP</a:t>
            </a:r>
            <a:r>
              <a:rPr kumimoji="1" lang="ja-JP" altLang="en-US" sz="3600" dirty="0"/>
              <a:t>ページ</a:t>
            </a:r>
          </a:p>
        </p:txBody>
      </p:sp>
      <p:sp>
        <p:nvSpPr>
          <p:cNvPr id="4" name="四角形: 角を丸くする 35">
            <a:extLst>
              <a:ext uri="{FF2B5EF4-FFF2-40B4-BE49-F238E27FC236}">
                <a16:creationId xmlns:a16="http://schemas.microsoft.com/office/drawing/2014/main" id="{1E845200-43E2-BC8E-DB6B-BB6DC4E33EA5}"/>
              </a:ext>
            </a:extLst>
          </p:cNvPr>
          <p:cNvSpPr/>
          <p:nvPr/>
        </p:nvSpPr>
        <p:spPr>
          <a:xfrm>
            <a:off x="5024861" y="4831390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カレンダー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28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A1A4-8E55-5003-CC9A-5981487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B27DA723-9979-D2FC-5819-AF8DA2FD0650}"/>
              </a:ext>
            </a:extLst>
          </p:cNvPr>
          <p:cNvSpPr/>
          <p:nvPr/>
        </p:nvSpPr>
        <p:spPr>
          <a:xfrm>
            <a:off x="3825982" y="256990"/>
            <a:ext cx="4071109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現場担当者トップ画面</a:t>
            </a:r>
            <a:r>
              <a:rPr kumimoji="1" lang="ja-JP" altLang="en-US" dirty="0">
                <a:solidFill>
                  <a:schemeClr val="tx1"/>
                </a:solidFill>
              </a:rPr>
              <a:t>：</a:t>
            </a:r>
            <a:r>
              <a:rPr lang="ja-JP" altLang="en-US" dirty="0">
                <a:solidFill>
                  <a:schemeClr val="tx1"/>
                </a:solidFill>
              </a:rPr>
              <a:t>スマホ</a:t>
            </a:r>
            <a:r>
              <a:rPr kumimoji="1" lang="ja-JP" altLang="en-US" dirty="0">
                <a:solidFill>
                  <a:schemeClr val="tx1"/>
                </a:solidFill>
              </a:rPr>
              <a:t>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B1949B-1ED9-D56B-842E-15426C691B75}"/>
              </a:ext>
            </a:extLst>
          </p:cNvPr>
          <p:cNvSpPr/>
          <p:nvPr/>
        </p:nvSpPr>
        <p:spPr>
          <a:xfrm>
            <a:off x="3825982" y="1035698"/>
            <a:ext cx="4071109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3AF58288-5AD4-48B0-101A-2A6DFB0D0A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6413185" y="1281847"/>
            <a:ext cx="695666" cy="416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BE5CACDE-79E6-CB20-3E97-6EF1F21B7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779" y="1290280"/>
            <a:ext cx="533766" cy="37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四角形: 角を丸くする 35">
            <a:extLst>
              <a:ext uri="{FF2B5EF4-FFF2-40B4-BE49-F238E27FC236}">
                <a16:creationId xmlns:a16="http://schemas.microsoft.com/office/drawing/2014/main" id="{83DCC970-AEA0-BF73-228F-3CFBE4DE8F5E}"/>
              </a:ext>
            </a:extLst>
          </p:cNvPr>
          <p:cNvSpPr/>
          <p:nvPr/>
        </p:nvSpPr>
        <p:spPr>
          <a:xfrm>
            <a:off x="4895553" y="3103360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入社連絡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35">
            <a:extLst>
              <a:ext uri="{FF2B5EF4-FFF2-40B4-BE49-F238E27FC236}">
                <a16:creationId xmlns:a16="http://schemas.microsoft.com/office/drawing/2014/main" id="{8EE4C102-97AB-8A6B-2148-29A4E268A79D}"/>
              </a:ext>
            </a:extLst>
          </p:cNvPr>
          <p:cNvSpPr/>
          <p:nvPr/>
        </p:nvSpPr>
        <p:spPr>
          <a:xfrm>
            <a:off x="4895553" y="3800257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従業員一覧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7F65F4-256D-4328-096C-C68997E399E8}"/>
              </a:ext>
            </a:extLst>
          </p:cNvPr>
          <p:cNvSpPr txBox="1"/>
          <p:nvPr/>
        </p:nvSpPr>
        <p:spPr>
          <a:xfrm>
            <a:off x="5024861" y="1944798"/>
            <a:ext cx="173615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TOP</a:t>
            </a:r>
            <a:r>
              <a:rPr kumimoji="1" lang="ja-JP" altLang="en-US" sz="2400" dirty="0"/>
              <a:t>ページ</a:t>
            </a:r>
          </a:p>
        </p:txBody>
      </p:sp>
      <p:sp>
        <p:nvSpPr>
          <p:cNvPr id="4" name="四角形: 角を丸くする 35">
            <a:extLst>
              <a:ext uri="{FF2B5EF4-FFF2-40B4-BE49-F238E27FC236}">
                <a16:creationId xmlns:a16="http://schemas.microsoft.com/office/drawing/2014/main" id="{D0656B0B-69E3-69EA-4186-1233EE38A6BC}"/>
              </a:ext>
            </a:extLst>
          </p:cNvPr>
          <p:cNvSpPr/>
          <p:nvPr/>
        </p:nvSpPr>
        <p:spPr>
          <a:xfrm>
            <a:off x="4904789" y="4578965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カレンダー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81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0F883-9584-5B6A-CEF0-952424E8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3143653A-095D-2372-FE2D-19A1EA883403}"/>
              </a:ext>
            </a:extLst>
          </p:cNvPr>
          <p:cNvSpPr/>
          <p:nvPr/>
        </p:nvSpPr>
        <p:spPr>
          <a:xfrm>
            <a:off x="3847403" y="292405"/>
            <a:ext cx="4016428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本社：トップ画面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4CBF407-5E02-B912-9BF5-9502AE9019D6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EAAAEA1F-1BF7-FF93-A6E4-4D1B5F2A31D0}"/>
              </a:ext>
            </a:extLst>
          </p:cNvPr>
          <p:cNvSpPr/>
          <p:nvPr/>
        </p:nvSpPr>
        <p:spPr>
          <a:xfrm>
            <a:off x="4788131" y="2987261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新着情報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AAB17A8-B197-6B8D-B349-60F42E2065AA}"/>
              </a:ext>
            </a:extLst>
          </p:cNvPr>
          <p:cNvSpPr txBox="1"/>
          <p:nvPr/>
        </p:nvSpPr>
        <p:spPr>
          <a:xfrm>
            <a:off x="4615634" y="2059782"/>
            <a:ext cx="3409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/>
              <a:t>TOP</a:t>
            </a:r>
            <a:r>
              <a:rPr lang="ja-JP" altLang="en-US" sz="3600" dirty="0"/>
              <a:t>ページ</a:t>
            </a:r>
            <a:endParaRPr kumimoji="1" lang="ja-JP" altLang="en-US" sz="3600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BC156B55-6ED6-9636-7065-052F7C980D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57177" y="1153961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6BD80D1A-E873-343F-80C7-4159EC041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四角形: 角を丸くする 35">
            <a:extLst>
              <a:ext uri="{FF2B5EF4-FFF2-40B4-BE49-F238E27FC236}">
                <a16:creationId xmlns:a16="http://schemas.microsoft.com/office/drawing/2014/main" id="{1EDD1855-2413-C1FD-F981-DE546131A8F1}"/>
              </a:ext>
            </a:extLst>
          </p:cNvPr>
          <p:cNvSpPr/>
          <p:nvPr/>
        </p:nvSpPr>
        <p:spPr>
          <a:xfrm>
            <a:off x="4788131" y="3630440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有給付与情報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35">
            <a:extLst>
              <a:ext uri="{FF2B5EF4-FFF2-40B4-BE49-F238E27FC236}">
                <a16:creationId xmlns:a16="http://schemas.microsoft.com/office/drawing/2014/main" id="{72015A5E-AB09-AA82-27AF-345F05BD29DB}"/>
              </a:ext>
            </a:extLst>
          </p:cNvPr>
          <p:cNvSpPr/>
          <p:nvPr/>
        </p:nvSpPr>
        <p:spPr>
          <a:xfrm>
            <a:off x="4786741" y="4326649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従業員検索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四角形: 角を丸くする 35">
            <a:extLst>
              <a:ext uri="{FF2B5EF4-FFF2-40B4-BE49-F238E27FC236}">
                <a16:creationId xmlns:a16="http://schemas.microsoft.com/office/drawing/2014/main" id="{7B627172-7920-4890-F8D8-0CFF54BC388D}"/>
              </a:ext>
            </a:extLst>
          </p:cNvPr>
          <p:cNvSpPr/>
          <p:nvPr/>
        </p:nvSpPr>
        <p:spPr>
          <a:xfrm>
            <a:off x="4425828" y="5022858"/>
            <a:ext cx="2859578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サイトユーザー情報管理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35">
            <a:extLst>
              <a:ext uri="{FF2B5EF4-FFF2-40B4-BE49-F238E27FC236}">
                <a16:creationId xmlns:a16="http://schemas.microsoft.com/office/drawing/2014/main" id="{C9D83514-6E9B-9BA3-9B4F-61A7CB843A06}"/>
              </a:ext>
            </a:extLst>
          </p:cNvPr>
          <p:cNvSpPr/>
          <p:nvPr/>
        </p:nvSpPr>
        <p:spPr>
          <a:xfrm>
            <a:off x="4786741" y="5712285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カレンダー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559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1552-0B17-D768-087E-C676BC7B5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C2746B7F-D34C-EA3E-C44F-F73AD8FBA609}"/>
              </a:ext>
            </a:extLst>
          </p:cNvPr>
          <p:cNvSpPr/>
          <p:nvPr/>
        </p:nvSpPr>
        <p:spPr>
          <a:xfrm>
            <a:off x="3848793" y="346271"/>
            <a:ext cx="4016428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本社：トップ画面</a:t>
            </a:r>
            <a:r>
              <a:rPr kumimoji="1" lang="ja-JP" altLang="en-US" dirty="0">
                <a:solidFill>
                  <a:schemeClr val="tx1"/>
                </a:solidFill>
              </a:rPr>
              <a:t>：スマホ画面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C042CE-741B-84C7-10DE-3917165D0474}"/>
              </a:ext>
            </a:extLst>
          </p:cNvPr>
          <p:cNvSpPr/>
          <p:nvPr/>
        </p:nvSpPr>
        <p:spPr>
          <a:xfrm>
            <a:off x="3848793" y="1035698"/>
            <a:ext cx="4016428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14083D62-3FB6-05B2-5B4E-559D0B0BCF5D}"/>
              </a:ext>
            </a:extLst>
          </p:cNvPr>
          <p:cNvSpPr/>
          <p:nvPr/>
        </p:nvSpPr>
        <p:spPr>
          <a:xfrm>
            <a:off x="4788131" y="2987261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新着情報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177AC9-2931-42A0-BFDD-C9F95AF9C0AB}"/>
              </a:ext>
            </a:extLst>
          </p:cNvPr>
          <p:cNvSpPr txBox="1"/>
          <p:nvPr/>
        </p:nvSpPr>
        <p:spPr>
          <a:xfrm>
            <a:off x="4786741" y="1988676"/>
            <a:ext cx="2067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TOP</a:t>
            </a:r>
            <a:r>
              <a:rPr lang="ja-JP" altLang="en-US" sz="2400" dirty="0"/>
              <a:t>メニュー</a:t>
            </a:r>
            <a:endParaRPr kumimoji="1" lang="ja-JP" altLang="en-US" sz="2400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15FBBEBC-D016-A040-750F-93664AF896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6275410" y="1132074"/>
            <a:ext cx="788163" cy="47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02EC1D5A-98AA-B4F8-7A89-ED6029C91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081" y="1132074"/>
            <a:ext cx="579756" cy="40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四角形: 角を丸くする 35">
            <a:extLst>
              <a:ext uri="{FF2B5EF4-FFF2-40B4-BE49-F238E27FC236}">
                <a16:creationId xmlns:a16="http://schemas.microsoft.com/office/drawing/2014/main" id="{3D2EA896-E5B3-5017-AE85-6E155CD41F59}"/>
              </a:ext>
            </a:extLst>
          </p:cNvPr>
          <p:cNvSpPr/>
          <p:nvPr/>
        </p:nvSpPr>
        <p:spPr>
          <a:xfrm>
            <a:off x="4788131" y="3630440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有給付与情報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35">
            <a:extLst>
              <a:ext uri="{FF2B5EF4-FFF2-40B4-BE49-F238E27FC236}">
                <a16:creationId xmlns:a16="http://schemas.microsoft.com/office/drawing/2014/main" id="{F7A5B9A2-DBC5-8E78-2785-0BF388CD7563}"/>
              </a:ext>
            </a:extLst>
          </p:cNvPr>
          <p:cNvSpPr/>
          <p:nvPr/>
        </p:nvSpPr>
        <p:spPr>
          <a:xfrm>
            <a:off x="4786741" y="4326649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従業員検索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四角形: 角を丸くする 35">
            <a:extLst>
              <a:ext uri="{FF2B5EF4-FFF2-40B4-BE49-F238E27FC236}">
                <a16:creationId xmlns:a16="http://schemas.microsoft.com/office/drawing/2014/main" id="{5FF9649C-BACC-E4AA-7C63-A8165A9B013A}"/>
              </a:ext>
            </a:extLst>
          </p:cNvPr>
          <p:cNvSpPr/>
          <p:nvPr/>
        </p:nvSpPr>
        <p:spPr>
          <a:xfrm>
            <a:off x="4425828" y="5022858"/>
            <a:ext cx="2859578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サイトユーザー情報管理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四角形: 角を丸くする 35">
            <a:extLst>
              <a:ext uri="{FF2B5EF4-FFF2-40B4-BE49-F238E27FC236}">
                <a16:creationId xmlns:a16="http://schemas.microsoft.com/office/drawing/2014/main" id="{FF7E2EAF-1FC9-B579-F00E-B27F5E942291}"/>
              </a:ext>
            </a:extLst>
          </p:cNvPr>
          <p:cNvSpPr/>
          <p:nvPr/>
        </p:nvSpPr>
        <p:spPr>
          <a:xfrm>
            <a:off x="4786741" y="5712285"/>
            <a:ext cx="2137752" cy="4417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カレンダー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86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1360-EA35-6DDD-CD7F-D14CC5C4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FEDA22CD-F0DE-6F84-57EC-C12F20F8252F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</a:t>
            </a:r>
            <a:r>
              <a:rPr kumimoji="1" lang="ja-JP" altLang="en-US" dirty="0">
                <a:solidFill>
                  <a:schemeClr val="tx1"/>
                </a:solidFill>
              </a:rPr>
              <a:t>入社連絡表：パソコン画面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4512C6-D065-8FC9-8D1B-19650C3D2A52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F891DD-1803-EF18-F51C-D257236ED738}"/>
              </a:ext>
            </a:extLst>
          </p:cNvPr>
          <p:cNvSpPr txBox="1"/>
          <p:nvPr/>
        </p:nvSpPr>
        <p:spPr>
          <a:xfrm>
            <a:off x="1235282" y="1970679"/>
            <a:ext cx="1019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⑴</a:t>
            </a:r>
            <a:r>
              <a:rPr lang="en-US" altLang="ja-JP" sz="1400" dirty="0"/>
              <a:t>Y</a:t>
            </a:r>
            <a:r>
              <a:rPr lang="ja-JP" altLang="en-US" sz="1400" dirty="0"/>
              <a:t>コード</a:t>
            </a:r>
            <a:endParaRPr kumimoji="1" lang="ja-JP" altLang="en-US" sz="14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E7C053E-A27B-649F-6402-57C9DB6CFBB4}"/>
              </a:ext>
            </a:extLst>
          </p:cNvPr>
          <p:cNvSpPr/>
          <p:nvPr/>
        </p:nvSpPr>
        <p:spPr>
          <a:xfrm>
            <a:off x="3040690" y="1970679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AE9F59-76F1-88CE-FBBE-3AB12C6B7358}"/>
              </a:ext>
            </a:extLst>
          </p:cNvPr>
          <p:cNvSpPr txBox="1"/>
          <p:nvPr/>
        </p:nvSpPr>
        <p:spPr>
          <a:xfrm>
            <a:off x="1224590" y="2216625"/>
            <a:ext cx="1695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⑵名前</a:t>
            </a:r>
            <a:r>
              <a:rPr lang="ja-JP" altLang="en-US" sz="1400" dirty="0"/>
              <a:t>（通称名）</a:t>
            </a:r>
            <a:endParaRPr kumimoji="1" lang="ja-JP" altLang="en-US" sz="14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1194590-50D2-01ED-BADD-5B3D6F6C3BE6}"/>
              </a:ext>
            </a:extLst>
          </p:cNvPr>
          <p:cNvSpPr/>
          <p:nvPr/>
        </p:nvSpPr>
        <p:spPr>
          <a:xfrm>
            <a:off x="3040686" y="2265272"/>
            <a:ext cx="2519094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0836C613-59F3-5D1F-4C50-D3BFCF14C0EC}"/>
              </a:ext>
            </a:extLst>
          </p:cNvPr>
          <p:cNvSpPr/>
          <p:nvPr/>
        </p:nvSpPr>
        <p:spPr>
          <a:xfrm>
            <a:off x="10641705" y="5075508"/>
            <a:ext cx="742961" cy="36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送信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1BE03E-0EDD-346E-C3A4-4D1BB0553908}"/>
              </a:ext>
            </a:extLst>
          </p:cNvPr>
          <p:cNvSpPr txBox="1"/>
          <p:nvPr/>
        </p:nvSpPr>
        <p:spPr>
          <a:xfrm>
            <a:off x="4977974" y="1261272"/>
            <a:ext cx="1825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入社</a:t>
            </a:r>
            <a:r>
              <a:rPr lang="ja-JP" altLang="en-US" sz="3200" dirty="0"/>
              <a:t>連絡</a:t>
            </a:r>
            <a:endParaRPr kumimoji="1" lang="ja-JP" altLang="en-US" sz="3200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1F2C6EF2-26BB-545B-3F62-E8382049FE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7A3E82ED-5699-6A26-46A1-A48494732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13F716-770B-F671-8024-D7FC4501C8FC}"/>
              </a:ext>
            </a:extLst>
          </p:cNvPr>
          <p:cNvSpPr txBox="1"/>
          <p:nvPr/>
        </p:nvSpPr>
        <p:spPr>
          <a:xfrm>
            <a:off x="1235282" y="2504727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⑶</a:t>
            </a:r>
            <a:r>
              <a:rPr kumimoji="1" lang="ja-JP" altLang="en-US" sz="1400" dirty="0"/>
              <a:t>名前（カタカナ）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736AE75-E3C4-1908-9521-5F6D4E8A0ED8}"/>
              </a:ext>
            </a:extLst>
          </p:cNvPr>
          <p:cNvSpPr txBox="1"/>
          <p:nvPr/>
        </p:nvSpPr>
        <p:spPr>
          <a:xfrm>
            <a:off x="1224590" y="2820224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⑷電話番号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21144C7-BA3C-CA6F-8077-3B87B2E449D1}"/>
              </a:ext>
            </a:extLst>
          </p:cNvPr>
          <p:cNvSpPr txBox="1"/>
          <p:nvPr/>
        </p:nvSpPr>
        <p:spPr>
          <a:xfrm>
            <a:off x="1235282" y="3125584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⑸派遣先</a:t>
            </a:r>
            <a:endParaRPr kumimoji="1" lang="ja-JP" altLang="en-US" sz="14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E06DD16-95DC-19DA-2640-BA3B604B3CB5}"/>
              </a:ext>
            </a:extLst>
          </p:cNvPr>
          <p:cNvSpPr/>
          <p:nvPr/>
        </p:nvSpPr>
        <p:spPr>
          <a:xfrm>
            <a:off x="3040686" y="2870005"/>
            <a:ext cx="2519094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D69CAC9-BB90-BDFB-30A2-FA5E49B86C92}"/>
              </a:ext>
            </a:extLst>
          </p:cNvPr>
          <p:cNvSpPr/>
          <p:nvPr/>
        </p:nvSpPr>
        <p:spPr>
          <a:xfrm>
            <a:off x="3040686" y="2577383"/>
            <a:ext cx="2519094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FD1DF07-C24B-0906-8DF4-C5D9EB5F5211}"/>
              </a:ext>
            </a:extLst>
          </p:cNvPr>
          <p:cNvSpPr/>
          <p:nvPr/>
        </p:nvSpPr>
        <p:spPr>
          <a:xfrm>
            <a:off x="3054021" y="3183690"/>
            <a:ext cx="2519094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C7A19F2-91D3-94E1-2E22-0A4D63324BFF}"/>
              </a:ext>
            </a:extLst>
          </p:cNvPr>
          <p:cNvSpPr txBox="1"/>
          <p:nvPr/>
        </p:nvSpPr>
        <p:spPr>
          <a:xfrm>
            <a:off x="1220724" y="3410219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⑹</a:t>
            </a:r>
            <a:r>
              <a:rPr lang="ja-JP" altLang="en-US" sz="1400" dirty="0"/>
              <a:t>所属</a:t>
            </a:r>
            <a:endParaRPr kumimoji="1" lang="ja-JP" altLang="en-US" sz="1400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9C13660-0A73-CB67-C5BB-5FE5788CF719}"/>
              </a:ext>
            </a:extLst>
          </p:cNvPr>
          <p:cNvSpPr/>
          <p:nvPr/>
        </p:nvSpPr>
        <p:spPr>
          <a:xfrm>
            <a:off x="3040686" y="3472206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C09B7CA-58F1-3B45-E128-8BE6628F97ED}"/>
              </a:ext>
            </a:extLst>
          </p:cNvPr>
          <p:cNvSpPr txBox="1"/>
          <p:nvPr/>
        </p:nvSpPr>
        <p:spPr>
          <a:xfrm>
            <a:off x="1220724" y="3725716"/>
            <a:ext cx="1078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⑺業務内容</a:t>
            </a:r>
            <a:endParaRPr kumimoji="1" lang="ja-JP" altLang="en-US" sz="1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0D1F8C9-F76D-227F-4AAC-10231D74F7BF}"/>
              </a:ext>
            </a:extLst>
          </p:cNvPr>
          <p:cNvSpPr/>
          <p:nvPr/>
        </p:nvSpPr>
        <p:spPr>
          <a:xfrm>
            <a:off x="3046632" y="4041107"/>
            <a:ext cx="1808768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C8DB157-8CDA-8F8D-108F-846B5A974FC7}"/>
              </a:ext>
            </a:extLst>
          </p:cNvPr>
          <p:cNvSpPr txBox="1"/>
          <p:nvPr/>
        </p:nvSpPr>
        <p:spPr>
          <a:xfrm>
            <a:off x="1231415" y="3993431"/>
            <a:ext cx="1177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⑻勤務形態</a:t>
            </a:r>
            <a:endParaRPr kumimoji="1" lang="ja-JP" altLang="en-US" sz="14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3B03689-FFBD-AD19-B7E4-94EA71AE497D}"/>
              </a:ext>
            </a:extLst>
          </p:cNvPr>
          <p:cNvSpPr/>
          <p:nvPr/>
        </p:nvSpPr>
        <p:spPr>
          <a:xfrm>
            <a:off x="3040686" y="3753909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D716090-5AD1-FDDD-24E6-96833C643692}"/>
              </a:ext>
            </a:extLst>
          </p:cNvPr>
          <p:cNvSpPr txBox="1"/>
          <p:nvPr/>
        </p:nvSpPr>
        <p:spPr>
          <a:xfrm>
            <a:off x="1231415" y="4275134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⑼請求単価</a:t>
            </a:r>
            <a:endParaRPr kumimoji="1" lang="ja-JP" altLang="en-US" sz="14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9B0F5EE-67D5-EDDB-FA42-1FD5CEF6E0A6}"/>
              </a:ext>
            </a:extLst>
          </p:cNvPr>
          <p:cNvSpPr/>
          <p:nvPr/>
        </p:nvSpPr>
        <p:spPr>
          <a:xfrm>
            <a:off x="3040686" y="4328305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FCF9D80-5BB8-2F08-7F29-43C88F99BCB9}"/>
              </a:ext>
            </a:extLst>
          </p:cNvPr>
          <p:cNvSpPr/>
          <p:nvPr/>
        </p:nvSpPr>
        <p:spPr>
          <a:xfrm>
            <a:off x="4468059" y="4335713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B42B9E6-16AE-86C4-3819-3548BBF49105}"/>
              </a:ext>
            </a:extLst>
          </p:cNvPr>
          <p:cNvSpPr txBox="1"/>
          <p:nvPr/>
        </p:nvSpPr>
        <p:spPr>
          <a:xfrm>
            <a:off x="4084921" y="4297583"/>
            <a:ext cx="314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～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F4EAC10-ABF1-3700-9CBA-2A469E19D8EB}"/>
              </a:ext>
            </a:extLst>
          </p:cNvPr>
          <p:cNvSpPr txBox="1"/>
          <p:nvPr/>
        </p:nvSpPr>
        <p:spPr>
          <a:xfrm>
            <a:off x="1231965" y="4892259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⑾契約期間</a:t>
            </a:r>
            <a:endParaRPr kumimoji="1" lang="ja-JP" altLang="en-US" sz="1400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BBABEFC-8496-620B-3A99-438C7C17CABC}"/>
              </a:ext>
            </a:extLst>
          </p:cNvPr>
          <p:cNvSpPr/>
          <p:nvPr/>
        </p:nvSpPr>
        <p:spPr>
          <a:xfrm flipV="1">
            <a:off x="3040686" y="4865298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C20F9D4-C587-3C51-6F6F-B061F4C07592}"/>
              </a:ext>
            </a:extLst>
          </p:cNvPr>
          <p:cNvSpPr txBox="1"/>
          <p:nvPr/>
        </p:nvSpPr>
        <p:spPr>
          <a:xfrm>
            <a:off x="1235282" y="5183230"/>
            <a:ext cx="1082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⑿通勤方法</a:t>
            </a:r>
            <a:endParaRPr lang="en-US" altLang="ja-JP" sz="1400" dirty="0"/>
          </a:p>
          <a:p>
            <a:endParaRPr kumimoji="1" lang="ja-JP" altLang="en-US" sz="140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FFA5CF8-68F6-2C76-F6FA-E2741AAD9EDE}"/>
              </a:ext>
            </a:extLst>
          </p:cNvPr>
          <p:cNvSpPr/>
          <p:nvPr/>
        </p:nvSpPr>
        <p:spPr>
          <a:xfrm flipV="1">
            <a:off x="3025083" y="5183912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43DB982-D992-51E2-25A5-DC40D5169347}"/>
              </a:ext>
            </a:extLst>
          </p:cNvPr>
          <p:cNvSpPr txBox="1"/>
          <p:nvPr/>
        </p:nvSpPr>
        <p:spPr>
          <a:xfrm>
            <a:off x="1239959" y="5490211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⒀通勤距離</a:t>
            </a:r>
            <a:endParaRPr kumimoji="1" lang="ja-JP" altLang="en-US" sz="1400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53E3A0B-A9A4-AD2E-2984-0F28AEB3C37B}"/>
              </a:ext>
            </a:extLst>
          </p:cNvPr>
          <p:cNvSpPr/>
          <p:nvPr/>
        </p:nvSpPr>
        <p:spPr>
          <a:xfrm flipV="1">
            <a:off x="3035775" y="5508524"/>
            <a:ext cx="1713523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9C7DDD4-F454-3A69-217E-C6E09FCF925D}"/>
              </a:ext>
            </a:extLst>
          </p:cNvPr>
          <p:cNvSpPr txBox="1"/>
          <p:nvPr/>
        </p:nvSpPr>
        <p:spPr>
          <a:xfrm>
            <a:off x="1239959" y="5782665"/>
            <a:ext cx="14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⒁電車</a:t>
            </a:r>
            <a:r>
              <a:rPr lang="en-US" altLang="ja-JP" sz="1400" dirty="0"/>
              <a:t>/</a:t>
            </a:r>
            <a:r>
              <a:rPr lang="ja-JP" altLang="en-US" sz="1400" dirty="0"/>
              <a:t>バス</a:t>
            </a:r>
            <a:endParaRPr kumimoji="1" lang="ja-JP" altLang="en-US" sz="14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2ED8549-267E-32B9-92AF-51B488AAE0F3}"/>
              </a:ext>
            </a:extLst>
          </p:cNvPr>
          <p:cNvSpPr/>
          <p:nvPr/>
        </p:nvSpPr>
        <p:spPr>
          <a:xfrm flipV="1">
            <a:off x="3035775" y="5827036"/>
            <a:ext cx="3341530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2A5F86F-E504-E595-739E-4C30EFC1ABC2}"/>
              </a:ext>
            </a:extLst>
          </p:cNvPr>
          <p:cNvSpPr txBox="1"/>
          <p:nvPr/>
        </p:nvSpPr>
        <p:spPr>
          <a:xfrm>
            <a:off x="6162834" y="1933196"/>
            <a:ext cx="126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⒂通勤開始日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D3B76AC-6115-4B94-51F2-8B2772D155D1}"/>
              </a:ext>
            </a:extLst>
          </p:cNvPr>
          <p:cNvSpPr txBox="1"/>
          <p:nvPr/>
        </p:nvSpPr>
        <p:spPr>
          <a:xfrm>
            <a:off x="6161898" y="2231080"/>
            <a:ext cx="1735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⒃通勤費（</a:t>
            </a:r>
            <a:r>
              <a:rPr kumimoji="1" lang="en-US" altLang="ja-JP" sz="1400" dirty="0"/>
              <a:t>1</a:t>
            </a:r>
            <a:r>
              <a:rPr kumimoji="1" lang="ja-JP" altLang="en-US" sz="1400" dirty="0"/>
              <a:t>ヶ月）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57B8A8C-F6E5-26E7-9A1D-187E03F20129}"/>
              </a:ext>
            </a:extLst>
          </p:cNvPr>
          <p:cNvSpPr txBox="1"/>
          <p:nvPr/>
        </p:nvSpPr>
        <p:spPr>
          <a:xfrm>
            <a:off x="6176865" y="2541670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⒄派遣先責任者</a:t>
            </a:r>
            <a:endParaRPr kumimoji="1" lang="ja-JP" altLang="en-US" sz="1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D1D82F3-B4B6-FBAF-9016-E9692E25453D}"/>
              </a:ext>
            </a:extLst>
          </p:cNvPr>
          <p:cNvSpPr txBox="1"/>
          <p:nvPr/>
        </p:nvSpPr>
        <p:spPr>
          <a:xfrm>
            <a:off x="7956483" y="5120490"/>
            <a:ext cx="760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申請者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1ECA3EC-705B-C4A7-B8D6-10C3DDCA4942}"/>
              </a:ext>
            </a:extLst>
          </p:cNvPr>
          <p:cNvSpPr/>
          <p:nvPr/>
        </p:nvSpPr>
        <p:spPr>
          <a:xfrm>
            <a:off x="8689123" y="5091979"/>
            <a:ext cx="1851325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4EFC5CE7-5012-32D3-EA3C-E94E00B60BCD}"/>
              </a:ext>
            </a:extLst>
          </p:cNvPr>
          <p:cNvSpPr/>
          <p:nvPr/>
        </p:nvSpPr>
        <p:spPr>
          <a:xfrm flipV="1">
            <a:off x="8090284" y="2520231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032E2F9-5797-F966-8197-84C0963D9A24}"/>
              </a:ext>
            </a:extLst>
          </p:cNvPr>
          <p:cNvSpPr/>
          <p:nvPr/>
        </p:nvSpPr>
        <p:spPr>
          <a:xfrm flipV="1">
            <a:off x="8092815" y="2223962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78688A7-E653-245F-680B-997B1871893D}"/>
              </a:ext>
            </a:extLst>
          </p:cNvPr>
          <p:cNvSpPr/>
          <p:nvPr/>
        </p:nvSpPr>
        <p:spPr>
          <a:xfrm flipV="1">
            <a:off x="8092815" y="1930572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C86BF03-D058-3DB5-A09D-CBE0A9BAA282}"/>
              </a:ext>
            </a:extLst>
          </p:cNvPr>
          <p:cNvSpPr txBox="1"/>
          <p:nvPr/>
        </p:nvSpPr>
        <p:spPr>
          <a:xfrm>
            <a:off x="1220724" y="4585278"/>
            <a:ext cx="1177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⑽支給単価</a:t>
            </a:r>
            <a:endParaRPr kumimoji="1" lang="ja-JP" altLang="en-US" sz="1400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1918544-171C-1E40-2611-C6B37666099B}"/>
              </a:ext>
            </a:extLst>
          </p:cNvPr>
          <p:cNvSpPr/>
          <p:nvPr/>
        </p:nvSpPr>
        <p:spPr>
          <a:xfrm>
            <a:off x="3040686" y="4605360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D58C276-920B-7BA3-7A9F-3A71597608FE}"/>
              </a:ext>
            </a:extLst>
          </p:cNvPr>
          <p:cNvSpPr txBox="1"/>
          <p:nvPr/>
        </p:nvSpPr>
        <p:spPr>
          <a:xfrm>
            <a:off x="6176864" y="2849447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⒅指揮命令者</a:t>
            </a:r>
            <a:endParaRPr kumimoji="1"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E0397310-1C89-0044-99AC-D6F184F203A7}"/>
              </a:ext>
            </a:extLst>
          </p:cNvPr>
          <p:cNvSpPr txBox="1"/>
          <p:nvPr/>
        </p:nvSpPr>
        <p:spPr>
          <a:xfrm>
            <a:off x="6176864" y="3103466"/>
            <a:ext cx="191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⒆社会保険険加入日</a:t>
            </a:r>
            <a:endParaRPr kumimoji="1" lang="ja-JP" altLang="en-US" sz="1400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D763595-D849-4FEB-437A-1DA377460220}"/>
              </a:ext>
            </a:extLst>
          </p:cNvPr>
          <p:cNvSpPr/>
          <p:nvPr/>
        </p:nvSpPr>
        <p:spPr>
          <a:xfrm flipV="1">
            <a:off x="8090284" y="2817543"/>
            <a:ext cx="3341530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F5C8578-1701-3E34-1B76-3797AB6CA71A}"/>
              </a:ext>
            </a:extLst>
          </p:cNvPr>
          <p:cNvSpPr/>
          <p:nvPr/>
        </p:nvSpPr>
        <p:spPr>
          <a:xfrm flipV="1">
            <a:off x="8090284" y="3103466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4518AB0-5E85-2E42-1060-940E3C7A76E4}"/>
              </a:ext>
            </a:extLst>
          </p:cNvPr>
          <p:cNvSpPr/>
          <p:nvPr/>
        </p:nvSpPr>
        <p:spPr>
          <a:xfrm flipV="1">
            <a:off x="8090283" y="3393228"/>
            <a:ext cx="3341529" cy="14375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EBD7C2D-119F-814B-2833-6A716B6F943F}"/>
              </a:ext>
            </a:extLst>
          </p:cNvPr>
          <p:cNvSpPr txBox="1"/>
          <p:nvPr/>
        </p:nvSpPr>
        <p:spPr>
          <a:xfrm>
            <a:off x="6161898" y="3393228"/>
            <a:ext cx="191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⒇備考</a:t>
            </a:r>
          </a:p>
        </p:txBody>
      </p:sp>
      <p:sp>
        <p:nvSpPr>
          <p:cNvPr id="50" name="四角形: 角を丸くする 35">
            <a:extLst>
              <a:ext uri="{FF2B5EF4-FFF2-40B4-BE49-F238E27FC236}">
                <a16:creationId xmlns:a16="http://schemas.microsoft.com/office/drawing/2014/main" id="{6238BCC4-EEB1-61E5-66CB-65A4C3F309A4}"/>
              </a:ext>
            </a:extLst>
          </p:cNvPr>
          <p:cNvSpPr/>
          <p:nvPr/>
        </p:nvSpPr>
        <p:spPr>
          <a:xfrm>
            <a:off x="8663794" y="5760627"/>
            <a:ext cx="1851325" cy="36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訂正連絡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44DC339-DF0E-D44C-29AD-69ECDAD1A73E}"/>
              </a:ext>
            </a:extLst>
          </p:cNvPr>
          <p:cNvSpPr txBox="1"/>
          <p:nvPr/>
        </p:nvSpPr>
        <p:spPr>
          <a:xfrm>
            <a:off x="-238990" y="405680"/>
            <a:ext cx="47490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入社連絡フォーム情報送信後に自動で従業員一覧へ保存される</a:t>
            </a:r>
          </a:p>
        </p:txBody>
      </p:sp>
      <p:sp>
        <p:nvSpPr>
          <p:cNvPr id="52" name="四角形: 角を丸くする 35">
            <a:extLst>
              <a:ext uri="{FF2B5EF4-FFF2-40B4-BE49-F238E27FC236}">
                <a16:creationId xmlns:a16="http://schemas.microsoft.com/office/drawing/2014/main" id="{DF99CDCF-74ED-9FB8-7259-D1E63A454C5B}"/>
              </a:ext>
            </a:extLst>
          </p:cNvPr>
          <p:cNvSpPr/>
          <p:nvPr/>
        </p:nvSpPr>
        <p:spPr>
          <a:xfrm>
            <a:off x="788631" y="1211210"/>
            <a:ext cx="1470845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</a:t>
            </a:r>
            <a:r>
              <a:rPr kumimoji="1" lang="en-US" altLang="ja-JP" sz="1400" dirty="0">
                <a:solidFill>
                  <a:schemeClr val="tx1"/>
                </a:solidFill>
              </a:rPr>
              <a:t>TOP</a:t>
            </a:r>
            <a:r>
              <a:rPr kumimoji="1" lang="ja-JP" altLang="en-US" sz="1400" dirty="0">
                <a:solidFill>
                  <a:schemeClr val="tx1"/>
                </a:solidFill>
              </a:rPr>
              <a:t>ページ</a:t>
            </a: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CE3B0658-92CB-F665-6371-59D6DC373F89}"/>
              </a:ext>
            </a:extLst>
          </p:cNvPr>
          <p:cNvCxnSpPr>
            <a:stCxn id="38" idx="3"/>
          </p:cNvCxnSpPr>
          <p:nvPr/>
        </p:nvCxnSpPr>
        <p:spPr>
          <a:xfrm flipH="1" flipV="1">
            <a:off x="7797821" y="5075508"/>
            <a:ext cx="2742627" cy="201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B1857B4-4B77-1812-497D-0F25E78ED846}"/>
              </a:ext>
            </a:extLst>
          </p:cNvPr>
          <p:cNvSpPr txBox="1"/>
          <p:nvPr/>
        </p:nvSpPr>
        <p:spPr>
          <a:xfrm>
            <a:off x="6350646" y="4921619"/>
            <a:ext cx="15463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ログインで識別できれば申請者欄は不要？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8519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464F-E37A-B510-D753-4C07A673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5FD49778-E859-B71B-02E5-09326D324DC7}"/>
              </a:ext>
            </a:extLst>
          </p:cNvPr>
          <p:cNvSpPr/>
          <p:nvPr/>
        </p:nvSpPr>
        <p:spPr>
          <a:xfrm>
            <a:off x="4049626" y="81937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</a:t>
            </a:r>
            <a:r>
              <a:rPr kumimoji="1" lang="ja-JP" altLang="en-US" dirty="0">
                <a:solidFill>
                  <a:schemeClr val="tx1"/>
                </a:solidFill>
              </a:rPr>
              <a:t>入社連絡表：スマホ画面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909B5C-DB4F-9578-2FD3-D403598EBEE7}"/>
              </a:ext>
            </a:extLst>
          </p:cNvPr>
          <p:cNvSpPr/>
          <p:nvPr/>
        </p:nvSpPr>
        <p:spPr>
          <a:xfrm>
            <a:off x="4348737" y="629919"/>
            <a:ext cx="3723008" cy="6146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23A954-3687-7742-89CF-719211678B36}"/>
              </a:ext>
            </a:extLst>
          </p:cNvPr>
          <p:cNvSpPr txBox="1"/>
          <p:nvPr/>
        </p:nvSpPr>
        <p:spPr>
          <a:xfrm>
            <a:off x="4521523" y="1112388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⑴</a:t>
            </a:r>
            <a:r>
              <a:rPr lang="en-US" altLang="ja-JP" sz="1000" dirty="0"/>
              <a:t>Y</a:t>
            </a:r>
            <a:r>
              <a:rPr lang="ja-JP" altLang="en-US" sz="1000" dirty="0"/>
              <a:t>コード</a:t>
            </a:r>
            <a:endParaRPr kumimoji="1" lang="ja-JP" altLang="en-US" sz="1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250C62A-F0D3-93EA-D769-CE5281522DDF}"/>
              </a:ext>
            </a:extLst>
          </p:cNvPr>
          <p:cNvSpPr/>
          <p:nvPr/>
        </p:nvSpPr>
        <p:spPr>
          <a:xfrm>
            <a:off x="5748033" y="1112388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82CA9E63-945D-AE2A-6AD9-E988C8286250}"/>
              </a:ext>
            </a:extLst>
          </p:cNvPr>
          <p:cNvSpPr/>
          <p:nvPr/>
        </p:nvSpPr>
        <p:spPr>
          <a:xfrm>
            <a:off x="7314954" y="5996771"/>
            <a:ext cx="595463" cy="20476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送信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B759DE-0BB8-A517-FC96-516BFA32EC4C}"/>
              </a:ext>
            </a:extLst>
          </p:cNvPr>
          <p:cNvSpPr txBox="1"/>
          <p:nvPr/>
        </p:nvSpPr>
        <p:spPr>
          <a:xfrm>
            <a:off x="5523731" y="723819"/>
            <a:ext cx="165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入社連絡表作成</a:t>
            </a:r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268A567C-2F2E-D4CE-90CE-129A70ED4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7058783" y="758848"/>
            <a:ext cx="412752" cy="24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FEB15CF5-D393-1DD4-F9A9-80E7E6AE5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314" y="770879"/>
            <a:ext cx="312921" cy="21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9673B0E-D2CB-379C-F03A-9D09C1E79B61}"/>
              </a:ext>
            </a:extLst>
          </p:cNvPr>
          <p:cNvSpPr txBox="1"/>
          <p:nvPr/>
        </p:nvSpPr>
        <p:spPr>
          <a:xfrm>
            <a:off x="4519249" y="1524369"/>
            <a:ext cx="1392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⑶</a:t>
            </a:r>
            <a:r>
              <a:rPr kumimoji="1" lang="ja-JP" altLang="en-US" sz="1000" dirty="0"/>
              <a:t>名前（カタカナ）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281E97D-0B1A-4787-E474-2568F56BABFC}"/>
              </a:ext>
            </a:extLst>
          </p:cNvPr>
          <p:cNvSpPr txBox="1"/>
          <p:nvPr/>
        </p:nvSpPr>
        <p:spPr>
          <a:xfrm>
            <a:off x="4519249" y="1310050"/>
            <a:ext cx="125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⑵</a:t>
            </a:r>
            <a:r>
              <a:rPr kumimoji="1" lang="ja-JP" altLang="en-US" sz="1000"/>
              <a:t>名前</a:t>
            </a:r>
            <a:r>
              <a:rPr kumimoji="1" lang="ja-JP" altLang="en-US" sz="1000" dirty="0"/>
              <a:t>（通称名）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66911DD-4CE5-9E44-533F-163CBF2BF765}"/>
              </a:ext>
            </a:extLst>
          </p:cNvPr>
          <p:cNvSpPr txBox="1"/>
          <p:nvPr/>
        </p:nvSpPr>
        <p:spPr>
          <a:xfrm>
            <a:off x="4514167" y="1939800"/>
            <a:ext cx="7900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⑸派遣先</a:t>
            </a:r>
            <a:endParaRPr kumimoji="1" lang="ja-JP" altLang="en-US" sz="1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21DB5D3-BB13-731C-1BE3-0A082BA0DC52}"/>
              </a:ext>
            </a:extLst>
          </p:cNvPr>
          <p:cNvSpPr txBox="1"/>
          <p:nvPr/>
        </p:nvSpPr>
        <p:spPr>
          <a:xfrm>
            <a:off x="4555927" y="2985718"/>
            <a:ext cx="816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⑽支給額</a:t>
            </a:r>
            <a:endParaRPr kumimoji="1" lang="ja-JP" altLang="en-US" sz="10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F516284-5438-0FEA-3811-91333D2D60CB}"/>
              </a:ext>
            </a:extLst>
          </p:cNvPr>
          <p:cNvSpPr txBox="1"/>
          <p:nvPr/>
        </p:nvSpPr>
        <p:spPr>
          <a:xfrm>
            <a:off x="4548248" y="3186174"/>
            <a:ext cx="958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⑾契約期間</a:t>
            </a:r>
            <a:endParaRPr kumimoji="1" lang="ja-JP" altLang="en-US" sz="10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F72E69D-5F4A-04F3-A380-C89EF88228F3}"/>
              </a:ext>
            </a:extLst>
          </p:cNvPr>
          <p:cNvSpPr txBox="1"/>
          <p:nvPr/>
        </p:nvSpPr>
        <p:spPr>
          <a:xfrm>
            <a:off x="6567268" y="3169375"/>
            <a:ext cx="309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～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EE5D15C-CB36-B293-B6BF-27193370189E}"/>
              </a:ext>
            </a:extLst>
          </p:cNvPr>
          <p:cNvSpPr txBox="1"/>
          <p:nvPr/>
        </p:nvSpPr>
        <p:spPr>
          <a:xfrm>
            <a:off x="4545604" y="3389966"/>
            <a:ext cx="8386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⑿通勤方法</a:t>
            </a:r>
            <a:endParaRPr kumimoji="1" lang="ja-JP" altLang="en-US" sz="10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7591C69-B7CD-2DDE-C988-170517973D2F}"/>
              </a:ext>
            </a:extLst>
          </p:cNvPr>
          <p:cNvSpPr txBox="1"/>
          <p:nvPr/>
        </p:nvSpPr>
        <p:spPr>
          <a:xfrm>
            <a:off x="4553106" y="2571884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⑻勤務形態</a:t>
            </a:r>
            <a:endParaRPr kumimoji="1" lang="ja-JP" altLang="en-US" sz="10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7CEC861-8053-CF23-2536-2F862A73F5E2}"/>
              </a:ext>
            </a:extLst>
          </p:cNvPr>
          <p:cNvSpPr txBox="1"/>
          <p:nvPr/>
        </p:nvSpPr>
        <p:spPr>
          <a:xfrm>
            <a:off x="4539799" y="216056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⑹所属先</a:t>
            </a:r>
            <a:endParaRPr kumimoji="1" lang="ja-JP" altLang="en-US" sz="10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0F4EED7-AD39-3C0C-CCCA-8C9BB12F3F93}"/>
              </a:ext>
            </a:extLst>
          </p:cNvPr>
          <p:cNvSpPr txBox="1"/>
          <p:nvPr/>
        </p:nvSpPr>
        <p:spPr>
          <a:xfrm>
            <a:off x="4545604" y="2378154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⑺業務内容</a:t>
            </a:r>
            <a:endParaRPr kumimoji="1" lang="ja-JP" altLang="en-US" sz="10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1A6F4C5-4BB3-AE85-3EA0-C584F254A436}"/>
              </a:ext>
            </a:extLst>
          </p:cNvPr>
          <p:cNvSpPr txBox="1"/>
          <p:nvPr/>
        </p:nvSpPr>
        <p:spPr>
          <a:xfrm>
            <a:off x="4556799" y="4727595"/>
            <a:ext cx="9669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⒅指揮命令者</a:t>
            </a:r>
            <a:endParaRPr kumimoji="1" lang="ja-JP" altLang="en-US" sz="10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297874B-0369-972B-7F9F-15063AE215E7}"/>
              </a:ext>
            </a:extLst>
          </p:cNvPr>
          <p:cNvSpPr txBox="1"/>
          <p:nvPr/>
        </p:nvSpPr>
        <p:spPr>
          <a:xfrm>
            <a:off x="4549194" y="4518553"/>
            <a:ext cx="1095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⒄派遣先責任者</a:t>
            </a:r>
            <a:endParaRPr kumimoji="1" lang="ja-JP" altLang="en-US" sz="10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65F1A8D-D9A9-31CB-4C7D-A63390BDBC72}"/>
              </a:ext>
            </a:extLst>
          </p:cNvPr>
          <p:cNvSpPr txBox="1"/>
          <p:nvPr/>
        </p:nvSpPr>
        <p:spPr>
          <a:xfrm>
            <a:off x="4535915" y="4910660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⒆社会保険加入日</a:t>
            </a:r>
            <a:endParaRPr kumimoji="1" lang="ja-JP" altLang="en-US" sz="10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5DCA5C-F1DB-561B-88B7-1D40C40FCEDA}"/>
              </a:ext>
            </a:extLst>
          </p:cNvPr>
          <p:cNvSpPr txBox="1"/>
          <p:nvPr/>
        </p:nvSpPr>
        <p:spPr>
          <a:xfrm>
            <a:off x="5650291" y="5992812"/>
            <a:ext cx="595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申請者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86A60C3-F8B8-695E-25A4-01296403BC1D}"/>
              </a:ext>
            </a:extLst>
          </p:cNvPr>
          <p:cNvSpPr/>
          <p:nvPr/>
        </p:nvSpPr>
        <p:spPr>
          <a:xfrm>
            <a:off x="5748033" y="1538385"/>
            <a:ext cx="2114562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985CA5DB-AF29-585F-0B3B-BA4E06D9F555}"/>
              </a:ext>
            </a:extLst>
          </p:cNvPr>
          <p:cNvSpPr/>
          <p:nvPr/>
        </p:nvSpPr>
        <p:spPr>
          <a:xfrm>
            <a:off x="5748033" y="1328711"/>
            <a:ext cx="2114562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2613787-D835-1B29-8CB4-2B872CF4D5EB}"/>
              </a:ext>
            </a:extLst>
          </p:cNvPr>
          <p:cNvSpPr/>
          <p:nvPr/>
        </p:nvSpPr>
        <p:spPr>
          <a:xfrm>
            <a:off x="5746575" y="1745492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084B74F-B4A9-E722-5673-55CD1EF0C090}"/>
              </a:ext>
            </a:extLst>
          </p:cNvPr>
          <p:cNvSpPr/>
          <p:nvPr/>
        </p:nvSpPr>
        <p:spPr>
          <a:xfrm>
            <a:off x="5758438" y="3202196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F8B134A-99B6-5061-2D63-AB39A7540FC6}"/>
              </a:ext>
            </a:extLst>
          </p:cNvPr>
          <p:cNvSpPr/>
          <p:nvPr/>
        </p:nvSpPr>
        <p:spPr>
          <a:xfrm>
            <a:off x="5757521" y="3652447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435C91D-CC26-E37E-37E0-798869BAE10C}"/>
              </a:ext>
            </a:extLst>
          </p:cNvPr>
          <p:cNvSpPr/>
          <p:nvPr/>
        </p:nvSpPr>
        <p:spPr>
          <a:xfrm>
            <a:off x="5738853" y="3880225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CA77E79-9C7E-610E-379E-CC98756E98AC}"/>
              </a:ext>
            </a:extLst>
          </p:cNvPr>
          <p:cNvSpPr/>
          <p:nvPr/>
        </p:nvSpPr>
        <p:spPr>
          <a:xfrm>
            <a:off x="6834867" y="3198506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745F25B0-09E8-4BC5-347E-F081A87ED355}"/>
              </a:ext>
            </a:extLst>
          </p:cNvPr>
          <p:cNvSpPr/>
          <p:nvPr/>
        </p:nvSpPr>
        <p:spPr>
          <a:xfrm>
            <a:off x="5758438" y="3417136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13BC849-258C-8344-C915-F0FD89739D32}"/>
              </a:ext>
            </a:extLst>
          </p:cNvPr>
          <p:cNvSpPr/>
          <p:nvPr/>
        </p:nvSpPr>
        <p:spPr>
          <a:xfrm>
            <a:off x="5747397" y="2584522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22EA5187-9D2A-D8C6-1A89-04C51CFD4BA5}"/>
              </a:ext>
            </a:extLst>
          </p:cNvPr>
          <p:cNvSpPr/>
          <p:nvPr/>
        </p:nvSpPr>
        <p:spPr>
          <a:xfrm>
            <a:off x="5732808" y="2162308"/>
            <a:ext cx="118202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9621CF42-73CE-696B-A264-D4F57AC0A456}"/>
              </a:ext>
            </a:extLst>
          </p:cNvPr>
          <p:cNvSpPr/>
          <p:nvPr/>
        </p:nvSpPr>
        <p:spPr>
          <a:xfrm>
            <a:off x="5732808" y="2375502"/>
            <a:ext cx="2114562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9874F16E-2588-0807-F048-9873011DDA33}"/>
              </a:ext>
            </a:extLst>
          </p:cNvPr>
          <p:cNvSpPr/>
          <p:nvPr/>
        </p:nvSpPr>
        <p:spPr>
          <a:xfrm>
            <a:off x="5742043" y="4754826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9D08B7E-54E4-002A-39C3-5E345232AC88}"/>
              </a:ext>
            </a:extLst>
          </p:cNvPr>
          <p:cNvSpPr/>
          <p:nvPr/>
        </p:nvSpPr>
        <p:spPr>
          <a:xfrm>
            <a:off x="5751650" y="4544222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B5B05F79-144F-CE9A-0F21-50C83A3BD373}"/>
              </a:ext>
            </a:extLst>
          </p:cNvPr>
          <p:cNvSpPr/>
          <p:nvPr/>
        </p:nvSpPr>
        <p:spPr>
          <a:xfrm>
            <a:off x="5742043" y="4964037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10FCA03E-178D-04AB-69D4-AD5C7C66911A}"/>
              </a:ext>
            </a:extLst>
          </p:cNvPr>
          <p:cNvSpPr/>
          <p:nvPr/>
        </p:nvSpPr>
        <p:spPr>
          <a:xfrm>
            <a:off x="6216363" y="6027385"/>
            <a:ext cx="1043712" cy="152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5D97E96A-F6A0-C8C3-88B1-ECE07468E83A}"/>
              </a:ext>
            </a:extLst>
          </p:cNvPr>
          <p:cNvSpPr/>
          <p:nvPr/>
        </p:nvSpPr>
        <p:spPr>
          <a:xfrm>
            <a:off x="5756368" y="2786391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21E09A6-979D-847C-C444-5D0AF3B5192B}"/>
              </a:ext>
            </a:extLst>
          </p:cNvPr>
          <p:cNvSpPr txBox="1"/>
          <p:nvPr/>
        </p:nvSpPr>
        <p:spPr>
          <a:xfrm>
            <a:off x="4514167" y="1741000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⑷電話番号</a:t>
            </a:r>
            <a:endParaRPr kumimoji="1" lang="ja-JP" altLang="en-US" sz="1000" dirty="0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52BAFC42-ACFA-0D56-2DCB-26BF8E9A4C8F}"/>
              </a:ext>
            </a:extLst>
          </p:cNvPr>
          <p:cNvSpPr/>
          <p:nvPr/>
        </p:nvSpPr>
        <p:spPr>
          <a:xfrm>
            <a:off x="5751689" y="2989627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25" name="正方形/長方形 1024">
            <a:extLst>
              <a:ext uri="{FF2B5EF4-FFF2-40B4-BE49-F238E27FC236}">
                <a16:creationId xmlns:a16="http://schemas.microsoft.com/office/drawing/2014/main" id="{4049C2A7-F5B2-F2AA-5F03-F4CB6B903BCC}"/>
              </a:ext>
            </a:extLst>
          </p:cNvPr>
          <p:cNvSpPr/>
          <p:nvPr/>
        </p:nvSpPr>
        <p:spPr>
          <a:xfrm>
            <a:off x="5737687" y="1946196"/>
            <a:ext cx="1168026" cy="181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5CBD5D-B983-838B-E3A9-ADBDC5D65038}"/>
              </a:ext>
            </a:extLst>
          </p:cNvPr>
          <p:cNvSpPr txBox="1"/>
          <p:nvPr/>
        </p:nvSpPr>
        <p:spPr>
          <a:xfrm>
            <a:off x="4553105" y="2781926"/>
            <a:ext cx="97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⑼請求単価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5342AF9-9259-8A69-960D-9672D7E521F2}"/>
              </a:ext>
            </a:extLst>
          </p:cNvPr>
          <p:cNvCxnSpPr>
            <a:stCxn id="51" idx="3"/>
          </p:cNvCxnSpPr>
          <p:nvPr/>
        </p:nvCxnSpPr>
        <p:spPr>
          <a:xfrm>
            <a:off x="6597814" y="2669704"/>
            <a:ext cx="2324347" cy="1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4D0B70D-F9AF-22F8-DDBB-B3E3BC608962}"/>
              </a:ext>
            </a:extLst>
          </p:cNvPr>
          <p:cNvSpPr txBox="1"/>
          <p:nvPr/>
        </p:nvSpPr>
        <p:spPr>
          <a:xfrm>
            <a:off x="8905999" y="2545865"/>
            <a:ext cx="2457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昼勤　</a:t>
            </a:r>
            <a:r>
              <a:rPr kumimoji="1" lang="en-US" altLang="ja-JP" sz="800" dirty="0"/>
              <a:t>2</a:t>
            </a:r>
            <a:r>
              <a:rPr kumimoji="1" lang="ja-JP" altLang="en-US" sz="800" dirty="0"/>
              <a:t>交代　</a:t>
            </a:r>
            <a:r>
              <a:rPr kumimoji="1" lang="en-US" altLang="ja-JP" sz="800" dirty="0"/>
              <a:t>3</a:t>
            </a:r>
            <a:r>
              <a:rPr kumimoji="1" lang="ja-JP" altLang="en-US" sz="800" dirty="0"/>
              <a:t>交代　深夜　</a:t>
            </a:r>
            <a:r>
              <a:rPr kumimoji="1" lang="en-US" altLang="ja-JP" sz="800" dirty="0"/>
              <a:t>4</a:t>
            </a:r>
            <a:r>
              <a:rPr kumimoji="1" lang="ja-JP" altLang="en-US" sz="800" dirty="0"/>
              <a:t>勤</a:t>
            </a:r>
            <a:r>
              <a:rPr kumimoji="1" lang="en-US" altLang="ja-JP" sz="800" dirty="0"/>
              <a:t>1</a:t>
            </a:r>
            <a:r>
              <a:rPr lang="ja-JP" altLang="en-US" sz="800" dirty="0"/>
              <a:t>休（</a:t>
            </a:r>
            <a:r>
              <a:rPr lang="en-US" altLang="ja-JP" sz="800" dirty="0"/>
              <a:t>3</a:t>
            </a:r>
            <a:r>
              <a:rPr lang="ja-JP" altLang="en-US" sz="800" dirty="0"/>
              <a:t>交代</a:t>
            </a:r>
            <a:r>
              <a:rPr lang="ja-JP" altLang="en-US" sz="1050" dirty="0"/>
              <a:t>）</a:t>
            </a:r>
            <a:endParaRPr kumimoji="1" lang="ja-JP" altLang="en-US" sz="105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471119F-7D7F-C8B3-93F6-DD3056F1F666}"/>
              </a:ext>
            </a:extLst>
          </p:cNvPr>
          <p:cNvCxnSpPr/>
          <p:nvPr/>
        </p:nvCxnSpPr>
        <p:spPr>
          <a:xfrm>
            <a:off x="6608855" y="3494043"/>
            <a:ext cx="2324347" cy="1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F7A0AEA-A252-7B77-EA6E-56DD54A7C6C9}"/>
              </a:ext>
            </a:extLst>
          </p:cNvPr>
          <p:cNvSpPr txBox="1"/>
          <p:nvPr/>
        </p:nvSpPr>
        <p:spPr>
          <a:xfrm>
            <a:off x="8933202" y="3333040"/>
            <a:ext cx="2604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送迎　自家用車　原付（</a:t>
            </a:r>
            <a:r>
              <a:rPr lang="en-US" altLang="ja-JP" sz="800" dirty="0"/>
              <a:t>~50cc</a:t>
            </a:r>
            <a:r>
              <a:rPr lang="ja-JP" altLang="en-US" sz="800" dirty="0"/>
              <a:t>）　バイク</a:t>
            </a:r>
            <a:r>
              <a:rPr lang="en-US" altLang="ja-JP" sz="800" dirty="0"/>
              <a:t>(51cc~)</a:t>
            </a:r>
            <a:r>
              <a:rPr lang="ja-JP" altLang="en-US" sz="800" dirty="0"/>
              <a:t>　</a:t>
            </a:r>
            <a:endParaRPr lang="en-US" altLang="ja-JP" sz="700" dirty="0"/>
          </a:p>
          <a:p>
            <a:r>
              <a:rPr lang="ja-JP" altLang="en-US" sz="800" dirty="0"/>
              <a:t>自転車　相乗り　家族の送迎　徒歩　バス　電車</a:t>
            </a:r>
            <a:endParaRPr kumimoji="1" lang="ja-JP" altLang="en-US" sz="800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0C1695A-4FDA-7C0D-77E8-6DE7DBB53D1E}"/>
              </a:ext>
            </a:extLst>
          </p:cNvPr>
          <p:cNvCxnSpPr/>
          <p:nvPr/>
        </p:nvCxnSpPr>
        <p:spPr>
          <a:xfrm>
            <a:off x="6597814" y="1179646"/>
            <a:ext cx="2324347" cy="1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417F36A-C379-7F6C-AB93-AC182E84C65F}"/>
              </a:ext>
            </a:extLst>
          </p:cNvPr>
          <p:cNvSpPr txBox="1"/>
          <p:nvPr/>
        </p:nvSpPr>
        <p:spPr>
          <a:xfrm>
            <a:off x="8905999" y="1084895"/>
            <a:ext cx="17135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コードは本社入力＝登録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4A88D2B-8744-A508-A473-C0006912520C}"/>
              </a:ext>
            </a:extLst>
          </p:cNvPr>
          <p:cNvSpPr txBox="1"/>
          <p:nvPr/>
        </p:nvSpPr>
        <p:spPr>
          <a:xfrm>
            <a:off x="6585068" y="3652498"/>
            <a:ext cx="956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km</a:t>
            </a:r>
            <a:r>
              <a:rPr kumimoji="1" lang="ja-JP" altLang="en-US" sz="1000" dirty="0"/>
              <a:t>（片道）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ED97D93-B36A-21D9-D74D-5EA6A63B1650}"/>
              </a:ext>
            </a:extLst>
          </p:cNvPr>
          <p:cNvSpPr txBox="1"/>
          <p:nvPr/>
        </p:nvSpPr>
        <p:spPr>
          <a:xfrm>
            <a:off x="4558429" y="3619399"/>
            <a:ext cx="10227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⒀通勤距離</a:t>
            </a:r>
            <a:endParaRPr lang="en-US" altLang="ja-JP" sz="10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172354C-A459-CDAA-E1F3-A03042AD333E}"/>
              </a:ext>
            </a:extLst>
          </p:cNvPr>
          <p:cNvSpPr txBox="1"/>
          <p:nvPr/>
        </p:nvSpPr>
        <p:spPr>
          <a:xfrm>
            <a:off x="4535026" y="3846293"/>
            <a:ext cx="1412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⒁電車</a:t>
            </a:r>
            <a:r>
              <a:rPr lang="en-US" altLang="ja-JP" sz="1000" dirty="0"/>
              <a:t>/</a:t>
            </a:r>
            <a:r>
              <a:rPr lang="ja-JP" altLang="en-US" sz="1000" dirty="0"/>
              <a:t>バス</a:t>
            </a:r>
            <a:r>
              <a:rPr lang="ja-JP" altLang="en-US" sz="700" dirty="0"/>
              <a:t>（区間）</a:t>
            </a:r>
            <a:endParaRPr lang="en-US" altLang="ja-JP" sz="10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9E1F2B2-DF51-3CA7-796B-844D8E8202AA}"/>
              </a:ext>
            </a:extLst>
          </p:cNvPr>
          <p:cNvSpPr txBox="1"/>
          <p:nvPr/>
        </p:nvSpPr>
        <p:spPr>
          <a:xfrm>
            <a:off x="6567268" y="3865016"/>
            <a:ext cx="309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～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CD56E68-7001-F5C0-A8B2-FD61BE46DB7D}"/>
              </a:ext>
            </a:extLst>
          </p:cNvPr>
          <p:cNvSpPr/>
          <p:nvPr/>
        </p:nvSpPr>
        <p:spPr>
          <a:xfrm>
            <a:off x="6827560" y="3885155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763FD7F-17D7-7861-D348-4D94B05849AD}"/>
              </a:ext>
            </a:extLst>
          </p:cNvPr>
          <p:cNvSpPr/>
          <p:nvPr/>
        </p:nvSpPr>
        <p:spPr>
          <a:xfrm>
            <a:off x="5742044" y="4115997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4BAC9D8-A51A-E4B3-AB19-9DD19D091892}"/>
              </a:ext>
            </a:extLst>
          </p:cNvPr>
          <p:cNvSpPr txBox="1"/>
          <p:nvPr/>
        </p:nvSpPr>
        <p:spPr>
          <a:xfrm>
            <a:off x="4533775" y="4073187"/>
            <a:ext cx="10227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⒂開始日</a:t>
            </a:r>
            <a:endParaRPr lang="en-US" altLang="ja-JP" sz="1000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A3D9587-878C-0BEA-6106-47E0D74FD183}"/>
              </a:ext>
            </a:extLst>
          </p:cNvPr>
          <p:cNvSpPr/>
          <p:nvPr/>
        </p:nvSpPr>
        <p:spPr>
          <a:xfrm>
            <a:off x="5744774" y="4332233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E8C4953-87E7-EC64-B0B0-518BF0C8E001}"/>
              </a:ext>
            </a:extLst>
          </p:cNvPr>
          <p:cNvSpPr txBox="1"/>
          <p:nvPr/>
        </p:nvSpPr>
        <p:spPr>
          <a:xfrm>
            <a:off x="6575170" y="4311617"/>
            <a:ext cx="330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円</a:t>
            </a:r>
          </a:p>
        </p:txBody>
      </p:sp>
      <p:sp>
        <p:nvSpPr>
          <p:cNvPr id="1024" name="テキスト ボックス 1023">
            <a:extLst>
              <a:ext uri="{FF2B5EF4-FFF2-40B4-BE49-F238E27FC236}">
                <a16:creationId xmlns:a16="http://schemas.microsoft.com/office/drawing/2014/main" id="{E6777591-ED29-6DB5-9760-4EEFD4E88701}"/>
              </a:ext>
            </a:extLst>
          </p:cNvPr>
          <p:cNvSpPr txBox="1"/>
          <p:nvPr/>
        </p:nvSpPr>
        <p:spPr>
          <a:xfrm>
            <a:off x="4556394" y="4299092"/>
            <a:ext cx="121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⒃通勤費</a:t>
            </a:r>
            <a:r>
              <a:rPr lang="ja-JP" altLang="en-US" sz="700" dirty="0"/>
              <a:t>（</a:t>
            </a:r>
            <a:r>
              <a:rPr lang="en-US" altLang="ja-JP" sz="700" dirty="0"/>
              <a:t>1</a:t>
            </a:r>
            <a:r>
              <a:rPr lang="ja-JP" altLang="en-US" sz="700" dirty="0"/>
              <a:t>ヶ月）</a:t>
            </a:r>
            <a:endParaRPr lang="en-US" altLang="ja-JP" sz="1000" dirty="0"/>
          </a:p>
        </p:txBody>
      </p:sp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BB0D72E5-7F28-8EF5-9599-6E726F7A008D}"/>
              </a:ext>
            </a:extLst>
          </p:cNvPr>
          <p:cNvSpPr txBox="1"/>
          <p:nvPr/>
        </p:nvSpPr>
        <p:spPr>
          <a:xfrm>
            <a:off x="4545604" y="514001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⒇備考</a:t>
            </a:r>
          </a:p>
        </p:txBody>
      </p:sp>
      <p:sp>
        <p:nvSpPr>
          <p:cNvPr id="1029" name="正方形/長方形 1028">
            <a:extLst>
              <a:ext uri="{FF2B5EF4-FFF2-40B4-BE49-F238E27FC236}">
                <a16:creationId xmlns:a16="http://schemas.microsoft.com/office/drawing/2014/main" id="{125E49C7-F58C-66BA-E8C8-A129DE0F1B81}"/>
              </a:ext>
            </a:extLst>
          </p:cNvPr>
          <p:cNvSpPr/>
          <p:nvPr/>
        </p:nvSpPr>
        <p:spPr>
          <a:xfrm>
            <a:off x="5746574" y="5173248"/>
            <a:ext cx="2100796" cy="743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1030" name="直線矢印コネクタ 1029">
            <a:extLst>
              <a:ext uri="{FF2B5EF4-FFF2-40B4-BE49-F238E27FC236}">
                <a16:creationId xmlns:a16="http://schemas.microsoft.com/office/drawing/2014/main" id="{8A22192A-3877-E086-F5D7-49047F8ED76C}"/>
              </a:ext>
            </a:extLst>
          </p:cNvPr>
          <p:cNvCxnSpPr/>
          <p:nvPr/>
        </p:nvCxnSpPr>
        <p:spPr>
          <a:xfrm>
            <a:off x="6827560" y="6125907"/>
            <a:ext cx="2324347" cy="1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7DDE9CB8-728D-A350-F7E1-9B66AE99117E}"/>
              </a:ext>
            </a:extLst>
          </p:cNvPr>
          <p:cNvSpPr txBox="1"/>
          <p:nvPr/>
        </p:nvSpPr>
        <p:spPr>
          <a:xfrm>
            <a:off x="9151907" y="6034733"/>
            <a:ext cx="594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全担当者</a:t>
            </a:r>
          </a:p>
        </p:txBody>
      </p:sp>
      <p:cxnSp>
        <p:nvCxnSpPr>
          <p:cNvPr id="1032" name="直線矢印コネクタ 1031">
            <a:extLst>
              <a:ext uri="{FF2B5EF4-FFF2-40B4-BE49-F238E27FC236}">
                <a16:creationId xmlns:a16="http://schemas.microsoft.com/office/drawing/2014/main" id="{EE068E28-C886-CF48-1A7D-8D9BBC853F4D}"/>
              </a:ext>
            </a:extLst>
          </p:cNvPr>
          <p:cNvCxnSpPr>
            <a:cxnSpLocks/>
          </p:cNvCxnSpPr>
          <p:nvPr/>
        </p:nvCxnSpPr>
        <p:spPr>
          <a:xfrm>
            <a:off x="6914835" y="2044772"/>
            <a:ext cx="1991164" cy="22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0035B0BC-593B-9983-D43D-EFA37F6D4B80}"/>
              </a:ext>
            </a:extLst>
          </p:cNvPr>
          <p:cNvSpPr txBox="1"/>
          <p:nvPr/>
        </p:nvSpPr>
        <p:spPr>
          <a:xfrm>
            <a:off x="8905803" y="1969416"/>
            <a:ext cx="594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全派遣先</a:t>
            </a:r>
            <a:endParaRPr kumimoji="1" lang="ja-JP" altLang="en-US" sz="800" dirty="0"/>
          </a:p>
        </p:txBody>
      </p:sp>
      <p:sp>
        <p:nvSpPr>
          <p:cNvPr id="1035" name="四角形: 角を丸くする 35">
            <a:extLst>
              <a:ext uri="{FF2B5EF4-FFF2-40B4-BE49-F238E27FC236}">
                <a16:creationId xmlns:a16="http://schemas.microsoft.com/office/drawing/2014/main" id="{FE9BB844-1D7D-4876-5193-C4A1E4BF7D0A}"/>
              </a:ext>
            </a:extLst>
          </p:cNvPr>
          <p:cNvSpPr/>
          <p:nvPr/>
        </p:nvSpPr>
        <p:spPr>
          <a:xfrm>
            <a:off x="5581163" y="6384555"/>
            <a:ext cx="1223412" cy="2406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訂正連絡</a:t>
            </a:r>
          </a:p>
        </p:txBody>
      </p:sp>
      <p:sp>
        <p:nvSpPr>
          <p:cNvPr id="5" name="四角形: 角を丸くする 35">
            <a:extLst>
              <a:ext uri="{FF2B5EF4-FFF2-40B4-BE49-F238E27FC236}">
                <a16:creationId xmlns:a16="http://schemas.microsoft.com/office/drawing/2014/main" id="{CB76FAB3-45E8-3A41-673C-9FEF93363FB6}"/>
              </a:ext>
            </a:extLst>
          </p:cNvPr>
          <p:cNvSpPr/>
          <p:nvPr/>
        </p:nvSpPr>
        <p:spPr>
          <a:xfrm>
            <a:off x="4465769" y="714743"/>
            <a:ext cx="1041073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＜</a:t>
            </a:r>
            <a:r>
              <a:rPr kumimoji="1" lang="en-US" altLang="ja-JP" sz="1000" dirty="0">
                <a:solidFill>
                  <a:schemeClr val="tx1"/>
                </a:solidFill>
              </a:rPr>
              <a:t>TOP</a:t>
            </a:r>
            <a:r>
              <a:rPr kumimoji="1" lang="ja-JP" altLang="en-US" sz="1000" dirty="0">
                <a:solidFill>
                  <a:schemeClr val="tx1"/>
                </a:solidFill>
              </a:rPr>
              <a:t>ページ</a:t>
            </a:r>
          </a:p>
        </p:txBody>
      </p:sp>
    </p:spTree>
    <p:extLst>
      <p:ext uri="{BB962C8B-B14F-4D97-AF65-F5344CB8AC3E}">
        <p14:creationId xmlns:p14="http://schemas.microsoft.com/office/powerpoint/2010/main" val="377054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96D05-FB74-604D-7DC0-51D1BC3DA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45209E03-B913-DC5D-7117-CC6BB262255D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</a:t>
            </a:r>
            <a:r>
              <a:rPr kumimoji="1" lang="ja-JP" altLang="en-US" dirty="0">
                <a:solidFill>
                  <a:schemeClr val="tx1"/>
                </a:solidFill>
              </a:rPr>
              <a:t>入社連絡表：パソコン画面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1B1EBFE-8F5C-A6DC-9FFF-48D7465DDAB3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7E848D-812A-CD2A-4DDD-559CD8313E45}"/>
              </a:ext>
            </a:extLst>
          </p:cNvPr>
          <p:cNvSpPr txBox="1"/>
          <p:nvPr/>
        </p:nvSpPr>
        <p:spPr>
          <a:xfrm>
            <a:off x="1235282" y="1970679"/>
            <a:ext cx="1019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⑴</a:t>
            </a:r>
            <a:r>
              <a:rPr lang="en-US" altLang="ja-JP" sz="1400" dirty="0"/>
              <a:t>Y</a:t>
            </a:r>
            <a:r>
              <a:rPr lang="ja-JP" altLang="en-US" sz="1400" dirty="0"/>
              <a:t>コード</a:t>
            </a:r>
            <a:endParaRPr kumimoji="1" lang="ja-JP" altLang="en-US" sz="14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2966F37-4504-6CCE-5A1D-4EF76F7539EC}"/>
              </a:ext>
            </a:extLst>
          </p:cNvPr>
          <p:cNvSpPr/>
          <p:nvPr/>
        </p:nvSpPr>
        <p:spPr>
          <a:xfrm>
            <a:off x="3040690" y="1970679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2266CA-A588-CAE7-4AF5-6956CE2FE0A6}"/>
              </a:ext>
            </a:extLst>
          </p:cNvPr>
          <p:cNvSpPr txBox="1"/>
          <p:nvPr/>
        </p:nvSpPr>
        <p:spPr>
          <a:xfrm>
            <a:off x="1224590" y="2216625"/>
            <a:ext cx="1695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⑵名前</a:t>
            </a:r>
            <a:r>
              <a:rPr lang="ja-JP" altLang="en-US" sz="1400" dirty="0"/>
              <a:t>（通称名）</a:t>
            </a:r>
            <a:endParaRPr kumimoji="1" lang="ja-JP" altLang="en-US" sz="14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BEB4258-D21D-5296-3AF4-20DA49245307}"/>
              </a:ext>
            </a:extLst>
          </p:cNvPr>
          <p:cNvSpPr/>
          <p:nvPr/>
        </p:nvSpPr>
        <p:spPr>
          <a:xfrm>
            <a:off x="3040686" y="2265272"/>
            <a:ext cx="2519094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DF63BC08-38A3-DC0C-66D5-86CC08310CC2}"/>
              </a:ext>
            </a:extLst>
          </p:cNvPr>
          <p:cNvSpPr/>
          <p:nvPr/>
        </p:nvSpPr>
        <p:spPr>
          <a:xfrm>
            <a:off x="10641705" y="5075508"/>
            <a:ext cx="742961" cy="36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送信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C223F40-D1EF-3D5E-2F9C-CD54F6F1EFC5}"/>
              </a:ext>
            </a:extLst>
          </p:cNvPr>
          <p:cNvSpPr txBox="1"/>
          <p:nvPr/>
        </p:nvSpPr>
        <p:spPr>
          <a:xfrm>
            <a:off x="5269792" y="1243229"/>
            <a:ext cx="1814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訂正連絡</a:t>
            </a:r>
            <a:endParaRPr kumimoji="1" lang="ja-JP" altLang="en-US" sz="3200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6D0A59A3-E1DB-727E-90CC-B1BA1391A6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3E938FCF-0C96-0770-75FE-8EE4DFEC0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4B2FB9F-3E2A-9A79-10B0-E6BA86702777}"/>
              </a:ext>
            </a:extLst>
          </p:cNvPr>
          <p:cNvSpPr txBox="1"/>
          <p:nvPr/>
        </p:nvSpPr>
        <p:spPr>
          <a:xfrm>
            <a:off x="1235282" y="2504727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⑶</a:t>
            </a:r>
            <a:r>
              <a:rPr kumimoji="1" lang="ja-JP" altLang="en-US" sz="1400" dirty="0"/>
              <a:t>名前（カタカナ）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FCA64F-A8B3-43FF-F413-9CC26D6D2697}"/>
              </a:ext>
            </a:extLst>
          </p:cNvPr>
          <p:cNvSpPr txBox="1"/>
          <p:nvPr/>
        </p:nvSpPr>
        <p:spPr>
          <a:xfrm>
            <a:off x="1224590" y="2820224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⑷電話番号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CA9B25A-6CB2-4500-E47F-4D787A2DEF93}"/>
              </a:ext>
            </a:extLst>
          </p:cNvPr>
          <p:cNvSpPr txBox="1"/>
          <p:nvPr/>
        </p:nvSpPr>
        <p:spPr>
          <a:xfrm>
            <a:off x="1235282" y="3125584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⑸派遣先</a:t>
            </a:r>
            <a:endParaRPr kumimoji="1" lang="ja-JP" altLang="en-US" sz="14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08C2DE6-688D-BF81-64AF-EC8EC3DA1BF7}"/>
              </a:ext>
            </a:extLst>
          </p:cNvPr>
          <p:cNvSpPr/>
          <p:nvPr/>
        </p:nvSpPr>
        <p:spPr>
          <a:xfrm>
            <a:off x="3040686" y="2870005"/>
            <a:ext cx="2519094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D0A06AE-5027-3A41-F776-F0320482E644}"/>
              </a:ext>
            </a:extLst>
          </p:cNvPr>
          <p:cNvSpPr/>
          <p:nvPr/>
        </p:nvSpPr>
        <p:spPr>
          <a:xfrm>
            <a:off x="3040686" y="2577383"/>
            <a:ext cx="2519094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F97187E-A6E1-CAFD-F95A-7CC92D8BA61F}"/>
              </a:ext>
            </a:extLst>
          </p:cNvPr>
          <p:cNvSpPr/>
          <p:nvPr/>
        </p:nvSpPr>
        <p:spPr>
          <a:xfrm>
            <a:off x="3054021" y="3183690"/>
            <a:ext cx="2519094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E0AF06E-9BE7-1FF2-E080-E9488A6706B0}"/>
              </a:ext>
            </a:extLst>
          </p:cNvPr>
          <p:cNvSpPr txBox="1"/>
          <p:nvPr/>
        </p:nvSpPr>
        <p:spPr>
          <a:xfrm>
            <a:off x="1220724" y="3410219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⑹</a:t>
            </a:r>
            <a:r>
              <a:rPr lang="ja-JP" altLang="en-US" sz="1400" dirty="0"/>
              <a:t>所属</a:t>
            </a:r>
            <a:endParaRPr kumimoji="1" lang="ja-JP" altLang="en-US" sz="1400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F322677-340D-6344-ADEE-0F81CA4959CE}"/>
              </a:ext>
            </a:extLst>
          </p:cNvPr>
          <p:cNvSpPr/>
          <p:nvPr/>
        </p:nvSpPr>
        <p:spPr>
          <a:xfrm>
            <a:off x="3040686" y="3472206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8541F09-F6B8-0E42-D231-32BCFEB3B8A5}"/>
              </a:ext>
            </a:extLst>
          </p:cNvPr>
          <p:cNvSpPr txBox="1"/>
          <p:nvPr/>
        </p:nvSpPr>
        <p:spPr>
          <a:xfrm>
            <a:off x="1220724" y="3725716"/>
            <a:ext cx="1078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⑺業務内容</a:t>
            </a:r>
            <a:endParaRPr kumimoji="1" lang="ja-JP" altLang="en-US" sz="1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6CD7F26-8B4C-4EBA-CAA9-36736113D0E7}"/>
              </a:ext>
            </a:extLst>
          </p:cNvPr>
          <p:cNvSpPr/>
          <p:nvPr/>
        </p:nvSpPr>
        <p:spPr>
          <a:xfrm>
            <a:off x="3046632" y="4041107"/>
            <a:ext cx="1808768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655AC3-7DB9-8FCF-9AB5-5F9681BDA743}"/>
              </a:ext>
            </a:extLst>
          </p:cNvPr>
          <p:cNvSpPr txBox="1"/>
          <p:nvPr/>
        </p:nvSpPr>
        <p:spPr>
          <a:xfrm>
            <a:off x="1231415" y="3993431"/>
            <a:ext cx="1177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⑻勤務形態</a:t>
            </a:r>
            <a:endParaRPr kumimoji="1" lang="ja-JP" altLang="en-US" sz="14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59140FC-FDF4-51C2-9C4B-8765229CC5B0}"/>
              </a:ext>
            </a:extLst>
          </p:cNvPr>
          <p:cNvSpPr/>
          <p:nvPr/>
        </p:nvSpPr>
        <p:spPr>
          <a:xfrm>
            <a:off x="3040686" y="3753909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CD0FDB5-9AA6-05EC-0188-D9286C91D850}"/>
              </a:ext>
            </a:extLst>
          </p:cNvPr>
          <p:cNvSpPr txBox="1"/>
          <p:nvPr/>
        </p:nvSpPr>
        <p:spPr>
          <a:xfrm>
            <a:off x="1231415" y="4275134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⑼請求単価</a:t>
            </a:r>
            <a:endParaRPr kumimoji="1" lang="ja-JP" altLang="en-US" sz="14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C550020-B90B-1591-45E3-0833AABAAEFA}"/>
              </a:ext>
            </a:extLst>
          </p:cNvPr>
          <p:cNvSpPr/>
          <p:nvPr/>
        </p:nvSpPr>
        <p:spPr>
          <a:xfrm>
            <a:off x="3040686" y="4328305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2179E10-99CF-1BC5-BBC1-6D34C460FDC0}"/>
              </a:ext>
            </a:extLst>
          </p:cNvPr>
          <p:cNvSpPr/>
          <p:nvPr/>
        </p:nvSpPr>
        <p:spPr>
          <a:xfrm>
            <a:off x="4468059" y="4335713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BE16898-B495-19CD-1A85-F23748BFB086}"/>
              </a:ext>
            </a:extLst>
          </p:cNvPr>
          <p:cNvSpPr txBox="1"/>
          <p:nvPr/>
        </p:nvSpPr>
        <p:spPr>
          <a:xfrm>
            <a:off x="4084921" y="4297583"/>
            <a:ext cx="314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～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C2BE03-CC91-3D53-6714-E9FEE01F060E}"/>
              </a:ext>
            </a:extLst>
          </p:cNvPr>
          <p:cNvSpPr txBox="1"/>
          <p:nvPr/>
        </p:nvSpPr>
        <p:spPr>
          <a:xfrm>
            <a:off x="1231965" y="4892259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⑾契約期間</a:t>
            </a:r>
            <a:endParaRPr kumimoji="1" lang="ja-JP" altLang="en-US" sz="1400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04F8FA4-A288-5430-2A69-CF0128E5416E}"/>
              </a:ext>
            </a:extLst>
          </p:cNvPr>
          <p:cNvSpPr/>
          <p:nvPr/>
        </p:nvSpPr>
        <p:spPr>
          <a:xfrm flipV="1">
            <a:off x="3040686" y="4865298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65CBD76-4CD9-9F79-8754-F54B90D89275}"/>
              </a:ext>
            </a:extLst>
          </p:cNvPr>
          <p:cNvSpPr txBox="1"/>
          <p:nvPr/>
        </p:nvSpPr>
        <p:spPr>
          <a:xfrm>
            <a:off x="1235282" y="5183230"/>
            <a:ext cx="1082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⑿通勤方法</a:t>
            </a:r>
            <a:endParaRPr lang="en-US" altLang="ja-JP" sz="1400" dirty="0"/>
          </a:p>
          <a:p>
            <a:endParaRPr kumimoji="1" lang="ja-JP" altLang="en-US" sz="140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CAE8221-4812-DC4A-EC2E-3C6F6A4989CE}"/>
              </a:ext>
            </a:extLst>
          </p:cNvPr>
          <p:cNvSpPr/>
          <p:nvPr/>
        </p:nvSpPr>
        <p:spPr>
          <a:xfrm flipV="1">
            <a:off x="3025083" y="5183912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6C368AA-17D7-E0F7-F108-4511FEFC5F1D}"/>
              </a:ext>
            </a:extLst>
          </p:cNvPr>
          <p:cNvSpPr txBox="1"/>
          <p:nvPr/>
        </p:nvSpPr>
        <p:spPr>
          <a:xfrm>
            <a:off x="1239959" y="5490211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⒀通勤距離</a:t>
            </a:r>
            <a:endParaRPr kumimoji="1" lang="ja-JP" altLang="en-US" sz="1400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B99B4EE-6946-CED9-F2D7-00A35916AAA1}"/>
              </a:ext>
            </a:extLst>
          </p:cNvPr>
          <p:cNvSpPr/>
          <p:nvPr/>
        </p:nvSpPr>
        <p:spPr>
          <a:xfrm flipV="1">
            <a:off x="3035775" y="5508524"/>
            <a:ext cx="1713523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3B93165-410A-1E64-3CC1-8EEF58C8EDC1}"/>
              </a:ext>
            </a:extLst>
          </p:cNvPr>
          <p:cNvSpPr txBox="1"/>
          <p:nvPr/>
        </p:nvSpPr>
        <p:spPr>
          <a:xfrm>
            <a:off x="1239959" y="5782665"/>
            <a:ext cx="1441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⒁電車</a:t>
            </a:r>
            <a:r>
              <a:rPr lang="en-US" altLang="ja-JP" sz="1400" dirty="0"/>
              <a:t>/</a:t>
            </a:r>
            <a:r>
              <a:rPr lang="ja-JP" altLang="en-US" sz="1400" dirty="0"/>
              <a:t>バス</a:t>
            </a:r>
            <a:endParaRPr kumimoji="1" lang="ja-JP" altLang="en-US" sz="14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3555A5B-4E33-09B6-F5DC-F82B1F4AA76F}"/>
              </a:ext>
            </a:extLst>
          </p:cNvPr>
          <p:cNvSpPr/>
          <p:nvPr/>
        </p:nvSpPr>
        <p:spPr>
          <a:xfrm flipV="1">
            <a:off x="3035775" y="5827036"/>
            <a:ext cx="3341530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2CFB226-7B18-B14B-2ACF-9200694E93FB}"/>
              </a:ext>
            </a:extLst>
          </p:cNvPr>
          <p:cNvSpPr txBox="1"/>
          <p:nvPr/>
        </p:nvSpPr>
        <p:spPr>
          <a:xfrm>
            <a:off x="6162834" y="1933196"/>
            <a:ext cx="1261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⒂通勤開始日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702DDEE-98E7-099F-1661-DB1256DB2F3F}"/>
              </a:ext>
            </a:extLst>
          </p:cNvPr>
          <p:cNvSpPr txBox="1"/>
          <p:nvPr/>
        </p:nvSpPr>
        <p:spPr>
          <a:xfrm>
            <a:off x="6161898" y="2231080"/>
            <a:ext cx="1735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⒃通勤費（</a:t>
            </a:r>
            <a:r>
              <a:rPr kumimoji="1" lang="en-US" altLang="ja-JP" sz="1400" dirty="0"/>
              <a:t>1</a:t>
            </a:r>
            <a:r>
              <a:rPr kumimoji="1" lang="ja-JP" altLang="en-US" sz="1400" dirty="0"/>
              <a:t>ヶ月）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793B15E-50CC-AE3B-0160-FD3D605EFDB6}"/>
              </a:ext>
            </a:extLst>
          </p:cNvPr>
          <p:cNvSpPr txBox="1"/>
          <p:nvPr/>
        </p:nvSpPr>
        <p:spPr>
          <a:xfrm>
            <a:off x="6176865" y="2541670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⒄派遣先責任者</a:t>
            </a:r>
            <a:endParaRPr kumimoji="1" lang="ja-JP" altLang="en-US" sz="1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AF01283-D22C-174D-DC7E-34228E16A2B3}"/>
              </a:ext>
            </a:extLst>
          </p:cNvPr>
          <p:cNvSpPr txBox="1"/>
          <p:nvPr/>
        </p:nvSpPr>
        <p:spPr>
          <a:xfrm>
            <a:off x="7956483" y="5120490"/>
            <a:ext cx="760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申請者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7868258-62B4-323F-128F-1D59E028C571}"/>
              </a:ext>
            </a:extLst>
          </p:cNvPr>
          <p:cNvSpPr/>
          <p:nvPr/>
        </p:nvSpPr>
        <p:spPr>
          <a:xfrm>
            <a:off x="8689123" y="5091979"/>
            <a:ext cx="1851325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72F1735-65AB-FBBA-4CE2-E675660664C3}"/>
              </a:ext>
            </a:extLst>
          </p:cNvPr>
          <p:cNvSpPr/>
          <p:nvPr/>
        </p:nvSpPr>
        <p:spPr>
          <a:xfrm flipV="1">
            <a:off x="8090284" y="2520231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D3DF7AC-C66B-1695-9506-AB608DDA618D}"/>
              </a:ext>
            </a:extLst>
          </p:cNvPr>
          <p:cNvSpPr/>
          <p:nvPr/>
        </p:nvSpPr>
        <p:spPr>
          <a:xfrm flipV="1">
            <a:off x="8092815" y="2223962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F179CA6-6FCA-06B3-46D4-FBBC7A19EEAF}"/>
              </a:ext>
            </a:extLst>
          </p:cNvPr>
          <p:cNvSpPr/>
          <p:nvPr/>
        </p:nvSpPr>
        <p:spPr>
          <a:xfrm flipV="1">
            <a:off x="8092815" y="1930572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F5A0531-4B3E-57D5-A652-D74CBCED934F}"/>
              </a:ext>
            </a:extLst>
          </p:cNvPr>
          <p:cNvSpPr txBox="1"/>
          <p:nvPr/>
        </p:nvSpPr>
        <p:spPr>
          <a:xfrm>
            <a:off x="1220724" y="4585278"/>
            <a:ext cx="1177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⑽支給単価</a:t>
            </a:r>
            <a:endParaRPr kumimoji="1" lang="ja-JP" altLang="en-US" sz="1400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E718EB68-7B9E-544B-1DF8-23A92BB98255}"/>
              </a:ext>
            </a:extLst>
          </p:cNvPr>
          <p:cNvSpPr/>
          <p:nvPr/>
        </p:nvSpPr>
        <p:spPr>
          <a:xfrm>
            <a:off x="3040686" y="4605360"/>
            <a:ext cx="1019831" cy="19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4D60AA06-587C-74D8-1682-AD358F3DF532}"/>
              </a:ext>
            </a:extLst>
          </p:cNvPr>
          <p:cNvSpPr txBox="1"/>
          <p:nvPr/>
        </p:nvSpPr>
        <p:spPr>
          <a:xfrm>
            <a:off x="6176864" y="2849447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⒅指揮命令者</a:t>
            </a:r>
            <a:endParaRPr kumimoji="1"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BF64064-4B85-5DB4-EE01-1E95D378FD73}"/>
              </a:ext>
            </a:extLst>
          </p:cNvPr>
          <p:cNvSpPr txBox="1"/>
          <p:nvPr/>
        </p:nvSpPr>
        <p:spPr>
          <a:xfrm>
            <a:off x="6176864" y="3103466"/>
            <a:ext cx="191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⒆社会保険険加入日</a:t>
            </a:r>
            <a:endParaRPr kumimoji="1" lang="ja-JP" altLang="en-US" sz="1400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B54F03E-3AEB-DAC4-B422-554C2B12BC16}"/>
              </a:ext>
            </a:extLst>
          </p:cNvPr>
          <p:cNvSpPr/>
          <p:nvPr/>
        </p:nvSpPr>
        <p:spPr>
          <a:xfrm flipV="1">
            <a:off x="8090284" y="2817543"/>
            <a:ext cx="3341530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30DE207-C1BB-9716-A181-0C7EC6F47002}"/>
              </a:ext>
            </a:extLst>
          </p:cNvPr>
          <p:cNvSpPr/>
          <p:nvPr/>
        </p:nvSpPr>
        <p:spPr>
          <a:xfrm flipV="1">
            <a:off x="8090284" y="3103466"/>
            <a:ext cx="1721114" cy="231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96E71CA-5A64-E029-A155-2F14417014A5}"/>
              </a:ext>
            </a:extLst>
          </p:cNvPr>
          <p:cNvSpPr/>
          <p:nvPr/>
        </p:nvSpPr>
        <p:spPr>
          <a:xfrm flipV="1">
            <a:off x="8090283" y="3393228"/>
            <a:ext cx="3341529" cy="14375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F49B4F8-A156-6D27-4BF1-170F1B1E2DD5}"/>
              </a:ext>
            </a:extLst>
          </p:cNvPr>
          <p:cNvSpPr txBox="1"/>
          <p:nvPr/>
        </p:nvSpPr>
        <p:spPr>
          <a:xfrm>
            <a:off x="6161898" y="3393228"/>
            <a:ext cx="191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⒇備考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16543245-B8FF-4091-F24F-CABE0F5389F3}"/>
              </a:ext>
            </a:extLst>
          </p:cNvPr>
          <p:cNvSpPr txBox="1"/>
          <p:nvPr/>
        </p:nvSpPr>
        <p:spPr>
          <a:xfrm>
            <a:off x="460738" y="683610"/>
            <a:ext cx="3170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訂正</a:t>
            </a:r>
            <a:r>
              <a:rPr kumimoji="1" lang="ja-JP" altLang="en-US" sz="1100" dirty="0"/>
              <a:t>フォーム送信後訂正情報を自動更新する。</a:t>
            </a:r>
          </a:p>
        </p:txBody>
      </p:sp>
      <p:sp>
        <p:nvSpPr>
          <p:cNvPr id="50" name="四角形: 角を丸くする 35">
            <a:extLst>
              <a:ext uri="{FF2B5EF4-FFF2-40B4-BE49-F238E27FC236}">
                <a16:creationId xmlns:a16="http://schemas.microsoft.com/office/drawing/2014/main" id="{795A63EC-DD50-42C9-3523-FB3A9566CAB3}"/>
              </a:ext>
            </a:extLst>
          </p:cNvPr>
          <p:cNvSpPr/>
          <p:nvPr/>
        </p:nvSpPr>
        <p:spPr>
          <a:xfrm>
            <a:off x="708937" y="1186512"/>
            <a:ext cx="1470845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</a:t>
            </a:r>
            <a:r>
              <a:rPr lang="ja-JP" altLang="en-US" sz="1400" dirty="0">
                <a:solidFill>
                  <a:schemeClr val="tx1"/>
                </a:solidFill>
              </a:rPr>
              <a:t>入社連絡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83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6167-43D8-0FAE-E9D7-E93328D0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BD925659-09C8-C403-7A28-8560C30A5634}"/>
              </a:ext>
            </a:extLst>
          </p:cNvPr>
          <p:cNvSpPr/>
          <p:nvPr/>
        </p:nvSpPr>
        <p:spPr>
          <a:xfrm>
            <a:off x="4049626" y="81937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</a:t>
            </a:r>
            <a:r>
              <a:rPr kumimoji="1" lang="ja-JP" altLang="en-US" dirty="0">
                <a:solidFill>
                  <a:schemeClr val="tx1"/>
                </a:solidFill>
              </a:rPr>
              <a:t>入社連絡表：スマホ画面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C848519-CA25-0726-EC86-E699F1071A0C}"/>
              </a:ext>
            </a:extLst>
          </p:cNvPr>
          <p:cNvSpPr/>
          <p:nvPr/>
        </p:nvSpPr>
        <p:spPr>
          <a:xfrm>
            <a:off x="4348737" y="629919"/>
            <a:ext cx="3723008" cy="6146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2038E8-7182-4E00-88AC-670B483E0657}"/>
              </a:ext>
            </a:extLst>
          </p:cNvPr>
          <p:cNvSpPr txBox="1"/>
          <p:nvPr/>
        </p:nvSpPr>
        <p:spPr>
          <a:xfrm>
            <a:off x="4521523" y="1112388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⑴</a:t>
            </a:r>
            <a:r>
              <a:rPr lang="en-US" altLang="ja-JP" sz="1000" dirty="0"/>
              <a:t>Y</a:t>
            </a:r>
            <a:r>
              <a:rPr lang="ja-JP" altLang="en-US" sz="1000" dirty="0"/>
              <a:t>コード</a:t>
            </a:r>
            <a:endParaRPr kumimoji="1" lang="ja-JP" altLang="en-US" sz="1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9D69D4-8724-B0F9-4412-C31413288F6C}"/>
              </a:ext>
            </a:extLst>
          </p:cNvPr>
          <p:cNvSpPr/>
          <p:nvPr/>
        </p:nvSpPr>
        <p:spPr>
          <a:xfrm>
            <a:off x="5748033" y="1112388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8CB297F1-3A8A-B761-CCC9-5A73DEF469C5}"/>
              </a:ext>
            </a:extLst>
          </p:cNvPr>
          <p:cNvSpPr/>
          <p:nvPr/>
        </p:nvSpPr>
        <p:spPr>
          <a:xfrm>
            <a:off x="7314954" y="5996771"/>
            <a:ext cx="595463" cy="20476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送信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675F6E-645B-94A0-6A5D-145DD803F9C9}"/>
              </a:ext>
            </a:extLst>
          </p:cNvPr>
          <p:cNvSpPr txBox="1"/>
          <p:nvPr/>
        </p:nvSpPr>
        <p:spPr>
          <a:xfrm>
            <a:off x="5775994" y="723757"/>
            <a:ext cx="1280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訂正連絡</a:t>
            </a:r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6759EBD2-0E68-C37E-5A90-9F9449F47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7058783" y="758848"/>
            <a:ext cx="412752" cy="24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583F9BD6-DCDC-9C77-5B10-6FD7BACD8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314" y="770879"/>
            <a:ext cx="312921" cy="21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7099AD-2763-1CBA-5A40-8120A669B71D}"/>
              </a:ext>
            </a:extLst>
          </p:cNvPr>
          <p:cNvSpPr txBox="1"/>
          <p:nvPr/>
        </p:nvSpPr>
        <p:spPr>
          <a:xfrm>
            <a:off x="4519249" y="1524369"/>
            <a:ext cx="1392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⑶</a:t>
            </a:r>
            <a:r>
              <a:rPr kumimoji="1" lang="ja-JP" altLang="en-US" sz="1000" dirty="0"/>
              <a:t>名前（カタカナ）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30C8377-CB1E-6BBE-6A26-9B09A610F0F9}"/>
              </a:ext>
            </a:extLst>
          </p:cNvPr>
          <p:cNvSpPr txBox="1"/>
          <p:nvPr/>
        </p:nvSpPr>
        <p:spPr>
          <a:xfrm>
            <a:off x="4519249" y="1310050"/>
            <a:ext cx="125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⑵</a:t>
            </a:r>
            <a:r>
              <a:rPr kumimoji="1" lang="ja-JP" altLang="en-US" sz="1000"/>
              <a:t>名前</a:t>
            </a:r>
            <a:r>
              <a:rPr kumimoji="1" lang="ja-JP" altLang="en-US" sz="1000" dirty="0"/>
              <a:t>（通称名）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DCAB780-0202-EC0A-3C7D-1CC7C1E0C715}"/>
              </a:ext>
            </a:extLst>
          </p:cNvPr>
          <p:cNvSpPr txBox="1"/>
          <p:nvPr/>
        </p:nvSpPr>
        <p:spPr>
          <a:xfrm>
            <a:off x="4514167" y="1939800"/>
            <a:ext cx="7900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⑸派遣先</a:t>
            </a:r>
            <a:endParaRPr kumimoji="1" lang="ja-JP" altLang="en-US" sz="1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E81A0DA-1887-1B6E-3B71-E7F446C99CF3}"/>
              </a:ext>
            </a:extLst>
          </p:cNvPr>
          <p:cNvSpPr txBox="1"/>
          <p:nvPr/>
        </p:nvSpPr>
        <p:spPr>
          <a:xfrm>
            <a:off x="4555927" y="2985718"/>
            <a:ext cx="816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⑽支給額</a:t>
            </a:r>
            <a:endParaRPr kumimoji="1" lang="ja-JP" altLang="en-US" sz="10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9BD6C16-C4A3-FE3E-C8A2-9FDEFC66F6AC}"/>
              </a:ext>
            </a:extLst>
          </p:cNvPr>
          <p:cNvSpPr txBox="1"/>
          <p:nvPr/>
        </p:nvSpPr>
        <p:spPr>
          <a:xfrm>
            <a:off x="4548248" y="3186174"/>
            <a:ext cx="958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⑾契約期間</a:t>
            </a:r>
            <a:endParaRPr kumimoji="1" lang="ja-JP" altLang="en-US" sz="10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976AE23-E890-B632-FAEA-5EAA46CB7A0E}"/>
              </a:ext>
            </a:extLst>
          </p:cNvPr>
          <p:cNvSpPr txBox="1"/>
          <p:nvPr/>
        </p:nvSpPr>
        <p:spPr>
          <a:xfrm>
            <a:off x="6567268" y="3169375"/>
            <a:ext cx="309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～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6F47DEE-1B84-1DCC-F223-D87AB010A42D}"/>
              </a:ext>
            </a:extLst>
          </p:cNvPr>
          <p:cNvSpPr txBox="1"/>
          <p:nvPr/>
        </p:nvSpPr>
        <p:spPr>
          <a:xfrm>
            <a:off x="4545604" y="3389966"/>
            <a:ext cx="8386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⑿通勤方法</a:t>
            </a:r>
            <a:endParaRPr kumimoji="1" lang="ja-JP" altLang="en-US" sz="10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7BB2314-C12F-D20B-CD8A-93F365451B16}"/>
              </a:ext>
            </a:extLst>
          </p:cNvPr>
          <p:cNvSpPr txBox="1"/>
          <p:nvPr/>
        </p:nvSpPr>
        <p:spPr>
          <a:xfrm>
            <a:off x="4553106" y="2571884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⑻勤務形態</a:t>
            </a:r>
            <a:endParaRPr kumimoji="1" lang="ja-JP" altLang="en-US" sz="10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F834252-B6ED-A5B2-B471-C544FCA747F6}"/>
              </a:ext>
            </a:extLst>
          </p:cNvPr>
          <p:cNvSpPr txBox="1"/>
          <p:nvPr/>
        </p:nvSpPr>
        <p:spPr>
          <a:xfrm>
            <a:off x="4539799" y="216056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⑹所属先</a:t>
            </a:r>
            <a:endParaRPr kumimoji="1" lang="ja-JP" altLang="en-US" sz="10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E54B14-DA95-B624-7C7C-2999B5A104F0}"/>
              </a:ext>
            </a:extLst>
          </p:cNvPr>
          <p:cNvSpPr txBox="1"/>
          <p:nvPr/>
        </p:nvSpPr>
        <p:spPr>
          <a:xfrm>
            <a:off x="4545604" y="2378154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⑺業務内容</a:t>
            </a:r>
            <a:endParaRPr kumimoji="1" lang="ja-JP" altLang="en-US" sz="10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10AA534-8E13-B4D8-B03F-871CD0ED7FFE}"/>
              </a:ext>
            </a:extLst>
          </p:cNvPr>
          <p:cNvSpPr txBox="1"/>
          <p:nvPr/>
        </p:nvSpPr>
        <p:spPr>
          <a:xfrm>
            <a:off x="4556799" y="4727595"/>
            <a:ext cx="9669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⒅指揮命令者</a:t>
            </a:r>
            <a:endParaRPr kumimoji="1" lang="ja-JP" altLang="en-US" sz="10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72733A-7553-D2CE-AC68-18836127BB55}"/>
              </a:ext>
            </a:extLst>
          </p:cNvPr>
          <p:cNvSpPr txBox="1"/>
          <p:nvPr/>
        </p:nvSpPr>
        <p:spPr>
          <a:xfrm>
            <a:off x="4549194" y="4518553"/>
            <a:ext cx="1095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⒄派遣先責任者</a:t>
            </a:r>
            <a:endParaRPr kumimoji="1" lang="ja-JP" altLang="en-US" sz="10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79E3DB3-FD96-A2C2-589D-8CD155C8FEBC}"/>
              </a:ext>
            </a:extLst>
          </p:cNvPr>
          <p:cNvSpPr txBox="1"/>
          <p:nvPr/>
        </p:nvSpPr>
        <p:spPr>
          <a:xfrm>
            <a:off x="4535915" y="4910660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⒆社会保険加入日</a:t>
            </a:r>
            <a:endParaRPr kumimoji="1" lang="ja-JP" altLang="en-US" sz="10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A80901A-657C-F120-E087-BFC91DA710C0}"/>
              </a:ext>
            </a:extLst>
          </p:cNvPr>
          <p:cNvSpPr txBox="1"/>
          <p:nvPr/>
        </p:nvSpPr>
        <p:spPr>
          <a:xfrm>
            <a:off x="5650291" y="5992812"/>
            <a:ext cx="595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申請者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EE9991B-D9D8-0C6B-0C2C-FB1E0411A0EE}"/>
              </a:ext>
            </a:extLst>
          </p:cNvPr>
          <p:cNvSpPr/>
          <p:nvPr/>
        </p:nvSpPr>
        <p:spPr>
          <a:xfrm>
            <a:off x="5748033" y="1538385"/>
            <a:ext cx="2114562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022C7146-C581-A73F-FE52-FC475B779D64}"/>
              </a:ext>
            </a:extLst>
          </p:cNvPr>
          <p:cNvSpPr/>
          <p:nvPr/>
        </p:nvSpPr>
        <p:spPr>
          <a:xfrm>
            <a:off x="5748033" y="1328711"/>
            <a:ext cx="2114562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FE69427-165D-2A2B-1760-375B77654CD0}"/>
              </a:ext>
            </a:extLst>
          </p:cNvPr>
          <p:cNvSpPr/>
          <p:nvPr/>
        </p:nvSpPr>
        <p:spPr>
          <a:xfrm>
            <a:off x="5746575" y="1745492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657DBB9-0A99-ADB0-3B6D-E7D4F83F4F19}"/>
              </a:ext>
            </a:extLst>
          </p:cNvPr>
          <p:cNvSpPr/>
          <p:nvPr/>
        </p:nvSpPr>
        <p:spPr>
          <a:xfrm>
            <a:off x="5758438" y="3202196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EFBA719-4C52-730C-7A8A-D7618D976CB7}"/>
              </a:ext>
            </a:extLst>
          </p:cNvPr>
          <p:cNvSpPr/>
          <p:nvPr/>
        </p:nvSpPr>
        <p:spPr>
          <a:xfrm>
            <a:off x="5757521" y="3652447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27457CF-C2DA-1FBB-967C-47452650092B}"/>
              </a:ext>
            </a:extLst>
          </p:cNvPr>
          <p:cNvSpPr/>
          <p:nvPr/>
        </p:nvSpPr>
        <p:spPr>
          <a:xfrm>
            <a:off x="5738853" y="3880225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55B6F3A-DF34-2B94-390D-CB97376F21CB}"/>
              </a:ext>
            </a:extLst>
          </p:cNvPr>
          <p:cNvSpPr/>
          <p:nvPr/>
        </p:nvSpPr>
        <p:spPr>
          <a:xfrm>
            <a:off x="6834867" y="3198506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D010FDE9-B593-D1C6-525E-27FAF0D87A20}"/>
              </a:ext>
            </a:extLst>
          </p:cNvPr>
          <p:cNvSpPr/>
          <p:nvPr/>
        </p:nvSpPr>
        <p:spPr>
          <a:xfrm>
            <a:off x="5758438" y="3417136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BA42018-DCE3-E168-00F6-4C7A473B35B2}"/>
              </a:ext>
            </a:extLst>
          </p:cNvPr>
          <p:cNvSpPr/>
          <p:nvPr/>
        </p:nvSpPr>
        <p:spPr>
          <a:xfrm>
            <a:off x="5747397" y="2584522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2FCB7CD-2376-95A9-BC31-AA832543811E}"/>
              </a:ext>
            </a:extLst>
          </p:cNvPr>
          <p:cNvSpPr/>
          <p:nvPr/>
        </p:nvSpPr>
        <p:spPr>
          <a:xfrm>
            <a:off x="5732808" y="2162308"/>
            <a:ext cx="118202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CA9A0821-44C0-36C7-1F4B-F2F87666C0AE}"/>
              </a:ext>
            </a:extLst>
          </p:cNvPr>
          <p:cNvSpPr/>
          <p:nvPr/>
        </p:nvSpPr>
        <p:spPr>
          <a:xfrm>
            <a:off x="5732808" y="2375502"/>
            <a:ext cx="2114562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7B50F561-2C73-38EA-91CB-BFC97ECAFAB0}"/>
              </a:ext>
            </a:extLst>
          </p:cNvPr>
          <p:cNvSpPr/>
          <p:nvPr/>
        </p:nvSpPr>
        <p:spPr>
          <a:xfrm>
            <a:off x="5742043" y="4754826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E53BAF01-7F22-B398-35CE-A07DDB1EC058}"/>
              </a:ext>
            </a:extLst>
          </p:cNvPr>
          <p:cNvSpPr/>
          <p:nvPr/>
        </p:nvSpPr>
        <p:spPr>
          <a:xfrm>
            <a:off x="5751650" y="4544222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E836996-A70B-7E2C-FA28-8E706D507C64}"/>
              </a:ext>
            </a:extLst>
          </p:cNvPr>
          <p:cNvSpPr/>
          <p:nvPr/>
        </p:nvSpPr>
        <p:spPr>
          <a:xfrm>
            <a:off x="5742043" y="4964037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18210A06-7593-2973-26CB-4A8F2CA8F4D1}"/>
              </a:ext>
            </a:extLst>
          </p:cNvPr>
          <p:cNvSpPr/>
          <p:nvPr/>
        </p:nvSpPr>
        <p:spPr>
          <a:xfrm>
            <a:off x="6216363" y="6027385"/>
            <a:ext cx="1043712" cy="152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9EEF629-200E-8661-AB01-3B31CCE5AECD}"/>
              </a:ext>
            </a:extLst>
          </p:cNvPr>
          <p:cNvSpPr/>
          <p:nvPr/>
        </p:nvSpPr>
        <p:spPr>
          <a:xfrm>
            <a:off x="5756368" y="2786391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09419AF-BAE0-BB08-171E-DE064AA50DB3}"/>
              </a:ext>
            </a:extLst>
          </p:cNvPr>
          <p:cNvSpPr txBox="1"/>
          <p:nvPr/>
        </p:nvSpPr>
        <p:spPr>
          <a:xfrm>
            <a:off x="4514167" y="1741000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⑷電話番号</a:t>
            </a:r>
            <a:endParaRPr kumimoji="1" lang="ja-JP" altLang="en-US" sz="1000" dirty="0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A363C1B-ACD7-C86B-B6C9-F59FDADE0793}"/>
              </a:ext>
            </a:extLst>
          </p:cNvPr>
          <p:cNvSpPr/>
          <p:nvPr/>
        </p:nvSpPr>
        <p:spPr>
          <a:xfrm>
            <a:off x="5751689" y="2989627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25" name="正方形/長方形 1024">
            <a:extLst>
              <a:ext uri="{FF2B5EF4-FFF2-40B4-BE49-F238E27FC236}">
                <a16:creationId xmlns:a16="http://schemas.microsoft.com/office/drawing/2014/main" id="{5C7B5D36-F461-34BC-B16A-CD1E35480B92}"/>
              </a:ext>
            </a:extLst>
          </p:cNvPr>
          <p:cNvSpPr/>
          <p:nvPr/>
        </p:nvSpPr>
        <p:spPr>
          <a:xfrm>
            <a:off x="5737687" y="1946196"/>
            <a:ext cx="1168026" cy="181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1ABEBE1-E3B6-6276-ACA0-F23981882D97}"/>
              </a:ext>
            </a:extLst>
          </p:cNvPr>
          <p:cNvSpPr txBox="1"/>
          <p:nvPr/>
        </p:nvSpPr>
        <p:spPr>
          <a:xfrm>
            <a:off x="4553105" y="2781926"/>
            <a:ext cx="97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⑼請求単価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A0ABC59-1B36-DD62-5AC9-9538D613C2E4}"/>
              </a:ext>
            </a:extLst>
          </p:cNvPr>
          <p:cNvCxnSpPr>
            <a:stCxn id="51" idx="3"/>
          </p:cNvCxnSpPr>
          <p:nvPr/>
        </p:nvCxnSpPr>
        <p:spPr>
          <a:xfrm>
            <a:off x="6597814" y="2669704"/>
            <a:ext cx="2324347" cy="1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0A3C04F-C67F-8971-ED79-98F4BAB1345A}"/>
              </a:ext>
            </a:extLst>
          </p:cNvPr>
          <p:cNvSpPr txBox="1"/>
          <p:nvPr/>
        </p:nvSpPr>
        <p:spPr>
          <a:xfrm>
            <a:off x="8905999" y="2545865"/>
            <a:ext cx="24570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昼勤　</a:t>
            </a:r>
            <a:r>
              <a:rPr kumimoji="1" lang="en-US" altLang="ja-JP" sz="800" dirty="0"/>
              <a:t>2</a:t>
            </a:r>
            <a:r>
              <a:rPr kumimoji="1" lang="ja-JP" altLang="en-US" sz="800" dirty="0"/>
              <a:t>交代　</a:t>
            </a:r>
            <a:r>
              <a:rPr kumimoji="1" lang="en-US" altLang="ja-JP" sz="800" dirty="0"/>
              <a:t>3</a:t>
            </a:r>
            <a:r>
              <a:rPr kumimoji="1" lang="ja-JP" altLang="en-US" sz="800" dirty="0"/>
              <a:t>交代　深夜　</a:t>
            </a:r>
            <a:r>
              <a:rPr kumimoji="1" lang="en-US" altLang="ja-JP" sz="800" dirty="0"/>
              <a:t>4</a:t>
            </a:r>
            <a:r>
              <a:rPr kumimoji="1" lang="ja-JP" altLang="en-US" sz="800" dirty="0"/>
              <a:t>勤</a:t>
            </a:r>
            <a:r>
              <a:rPr kumimoji="1" lang="en-US" altLang="ja-JP" sz="800" dirty="0"/>
              <a:t>1</a:t>
            </a:r>
            <a:r>
              <a:rPr lang="ja-JP" altLang="en-US" sz="800" dirty="0"/>
              <a:t>休（</a:t>
            </a:r>
            <a:r>
              <a:rPr lang="en-US" altLang="ja-JP" sz="800" dirty="0"/>
              <a:t>3</a:t>
            </a:r>
            <a:r>
              <a:rPr lang="ja-JP" altLang="en-US" sz="800" dirty="0"/>
              <a:t>交代</a:t>
            </a:r>
            <a:r>
              <a:rPr lang="ja-JP" altLang="en-US" sz="1050" dirty="0"/>
              <a:t>）</a:t>
            </a:r>
            <a:endParaRPr kumimoji="1" lang="ja-JP" altLang="en-US" sz="105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7EE94149-D87D-CF11-794F-12A628D7E4CB}"/>
              </a:ext>
            </a:extLst>
          </p:cNvPr>
          <p:cNvCxnSpPr/>
          <p:nvPr/>
        </p:nvCxnSpPr>
        <p:spPr>
          <a:xfrm>
            <a:off x="6608855" y="3494043"/>
            <a:ext cx="2324347" cy="1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62FDB48-C689-5F35-9CB9-9C97A644F7AC}"/>
              </a:ext>
            </a:extLst>
          </p:cNvPr>
          <p:cNvSpPr txBox="1"/>
          <p:nvPr/>
        </p:nvSpPr>
        <p:spPr>
          <a:xfrm>
            <a:off x="8933202" y="3333040"/>
            <a:ext cx="2604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送迎　自家用車　原付（</a:t>
            </a:r>
            <a:r>
              <a:rPr lang="en-US" altLang="ja-JP" sz="800" dirty="0"/>
              <a:t>~50cc</a:t>
            </a:r>
            <a:r>
              <a:rPr lang="ja-JP" altLang="en-US" sz="800" dirty="0"/>
              <a:t>）　バイク</a:t>
            </a:r>
            <a:r>
              <a:rPr lang="en-US" altLang="ja-JP" sz="800" dirty="0"/>
              <a:t>(51cc~)</a:t>
            </a:r>
            <a:r>
              <a:rPr lang="ja-JP" altLang="en-US" sz="800" dirty="0"/>
              <a:t>　</a:t>
            </a:r>
            <a:endParaRPr lang="en-US" altLang="ja-JP" sz="700" dirty="0"/>
          </a:p>
          <a:p>
            <a:r>
              <a:rPr lang="ja-JP" altLang="en-US" sz="800" dirty="0"/>
              <a:t>自転車　相乗り　家族の送迎　徒歩　バス　電車</a:t>
            </a:r>
            <a:endParaRPr kumimoji="1" lang="ja-JP" altLang="en-US" sz="800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70BD60C-177A-4BB1-AFED-F2442246CEAF}"/>
              </a:ext>
            </a:extLst>
          </p:cNvPr>
          <p:cNvCxnSpPr/>
          <p:nvPr/>
        </p:nvCxnSpPr>
        <p:spPr>
          <a:xfrm>
            <a:off x="6597814" y="1179646"/>
            <a:ext cx="2324347" cy="1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16C403F-6BE4-7BE3-941A-03DFED50187B}"/>
              </a:ext>
            </a:extLst>
          </p:cNvPr>
          <p:cNvSpPr txBox="1"/>
          <p:nvPr/>
        </p:nvSpPr>
        <p:spPr>
          <a:xfrm>
            <a:off x="8905999" y="1084895"/>
            <a:ext cx="17135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コードは本社入力＝登録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20A1D8C-DF55-34DF-3081-6D470BD00874}"/>
              </a:ext>
            </a:extLst>
          </p:cNvPr>
          <p:cNvSpPr txBox="1"/>
          <p:nvPr/>
        </p:nvSpPr>
        <p:spPr>
          <a:xfrm>
            <a:off x="6585068" y="3652498"/>
            <a:ext cx="956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km</a:t>
            </a:r>
            <a:r>
              <a:rPr kumimoji="1" lang="ja-JP" altLang="en-US" sz="1000" dirty="0"/>
              <a:t>（片道）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B219777-5F61-4D1E-C186-5B854E0742C5}"/>
              </a:ext>
            </a:extLst>
          </p:cNvPr>
          <p:cNvSpPr txBox="1"/>
          <p:nvPr/>
        </p:nvSpPr>
        <p:spPr>
          <a:xfrm>
            <a:off x="4558429" y="3619399"/>
            <a:ext cx="10227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⒀通勤距離</a:t>
            </a:r>
            <a:endParaRPr lang="en-US" altLang="ja-JP" sz="10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1C1E133-36A8-4126-C42C-5E4060CB7D61}"/>
              </a:ext>
            </a:extLst>
          </p:cNvPr>
          <p:cNvSpPr txBox="1"/>
          <p:nvPr/>
        </p:nvSpPr>
        <p:spPr>
          <a:xfrm>
            <a:off x="4535026" y="3846293"/>
            <a:ext cx="1412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⒁電車</a:t>
            </a:r>
            <a:r>
              <a:rPr lang="en-US" altLang="ja-JP" sz="1000" dirty="0"/>
              <a:t>/</a:t>
            </a:r>
            <a:r>
              <a:rPr lang="ja-JP" altLang="en-US" sz="1000" dirty="0"/>
              <a:t>バス</a:t>
            </a:r>
            <a:r>
              <a:rPr lang="ja-JP" altLang="en-US" sz="700" dirty="0"/>
              <a:t>（区間）</a:t>
            </a:r>
            <a:endParaRPr lang="en-US" altLang="ja-JP" sz="10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2600E5F-7709-E9E9-0B24-C389CD532449}"/>
              </a:ext>
            </a:extLst>
          </p:cNvPr>
          <p:cNvSpPr txBox="1"/>
          <p:nvPr/>
        </p:nvSpPr>
        <p:spPr>
          <a:xfrm>
            <a:off x="6567268" y="3865016"/>
            <a:ext cx="309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～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64F94AA-36B7-8421-C3C8-B529C2186F13}"/>
              </a:ext>
            </a:extLst>
          </p:cNvPr>
          <p:cNvSpPr/>
          <p:nvPr/>
        </p:nvSpPr>
        <p:spPr>
          <a:xfrm>
            <a:off x="6827560" y="3885155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1EF5FDB-B74D-37D0-4DAE-4C6265EB6B2A}"/>
              </a:ext>
            </a:extLst>
          </p:cNvPr>
          <p:cNvSpPr/>
          <p:nvPr/>
        </p:nvSpPr>
        <p:spPr>
          <a:xfrm>
            <a:off x="5742044" y="4115997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C41A4C3-B754-7284-CBCF-DD8CAD1B3F7C}"/>
              </a:ext>
            </a:extLst>
          </p:cNvPr>
          <p:cNvSpPr txBox="1"/>
          <p:nvPr/>
        </p:nvSpPr>
        <p:spPr>
          <a:xfrm>
            <a:off x="4533775" y="4073187"/>
            <a:ext cx="10227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⒂開始日</a:t>
            </a:r>
            <a:endParaRPr lang="en-US" altLang="ja-JP" sz="1000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41D9DE92-BA18-2B7D-8BFD-CDD90577FCE5}"/>
              </a:ext>
            </a:extLst>
          </p:cNvPr>
          <p:cNvSpPr/>
          <p:nvPr/>
        </p:nvSpPr>
        <p:spPr>
          <a:xfrm>
            <a:off x="5744774" y="4332233"/>
            <a:ext cx="850417" cy="170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5862D94F-C080-6EED-C403-1DBE65726E32}"/>
              </a:ext>
            </a:extLst>
          </p:cNvPr>
          <p:cNvSpPr txBox="1"/>
          <p:nvPr/>
        </p:nvSpPr>
        <p:spPr>
          <a:xfrm>
            <a:off x="6575170" y="4311617"/>
            <a:ext cx="330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円</a:t>
            </a:r>
          </a:p>
        </p:txBody>
      </p:sp>
      <p:sp>
        <p:nvSpPr>
          <p:cNvPr id="1024" name="テキスト ボックス 1023">
            <a:extLst>
              <a:ext uri="{FF2B5EF4-FFF2-40B4-BE49-F238E27FC236}">
                <a16:creationId xmlns:a16="http://schemas.microsoft.com/office/drawing/2014/main" id="{1D7716A2-06F8-6B5F-B8B0-D04B1DFA6BF2}"/>
              </a:ext>
            </a:extLst>
          </p:cNvPr>
          <p:cNvSpPr txBox="1"/>
          <p:nvPr/>
        </p:nvSpPr>
        <p:spPr>
          <a:xfrm>
            <a:off x="4556394" y="4299092"/>
            <a:ext cx="121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⒃通勤費</a:t>
            </a:r>
            <a:r>
              <a:rPr lang="ja-JP" altLang="en-US" sz="700" dirty="0"/>
              <a:t>（</a:t>
            </a:r>
            <a:r>
              <a:rPr lang="en-US" altLang="ja-JP" sz="700" dirty="0"/>
              <a:t>1</a:t>
            </a:r>
            <a:r>
              <a:rPr lang="ja-JP" altLang="en-US" sz="700" dirty="0"/>
              <a:t>ヶ月）</a:t>
            </a:r>
            <a:endParaRPr lang="en-US" altLang="ja-JP" sz="1000" dirty="0"/>
          </a:p>
        </p:txBody>
      </p:sp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55BAFBF1-2E7D-108E-B647-B27CB6980AA9}"/>
              </a:ext>
            </a:extLst>
          </p:cNvPr>
          <p:cNvSpPr txBox="1"/>
          <p:nvPr/>
        </p:nvSpPr>
        <p:spPr>
          <a:xfrm>
            <a:off x="4545604" y="514001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/>
              <a:t>⒇備考</a:t>
            </a:r>
          </a:p>
        </p:txBody>
      </p:sp>
      <p:sp>
        <p:nvSpPr>
          <p:cNvPr id="1029" name="正方形/長方形 1028">
            <a:extLst>
              <a:ext uri="{FF2B5EF4-FFF2-40B4-BE49-F238E27FC236}">
                <a16:creationId xmlns:a16="http://schemas.microsoft.com/office/drawing/2014/main" id="{8E05AB8E-A03A-EE19-D663-0CED178573AF}"/>
              </a:ext>
            </a:extLst>
          </p:cNvPr>
          <p:cNvSpPr/>
          <p:nvPr/>
        </p:nvSpPr>
        <p:spPr>
          <a:xfrm>
            <a:off x="5746574" y="5173248"/>
            <a:ext cx="2100796" cy="743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1030" name="直線矢印コネクタ 1029">
            <a:extLst>
              <a:ext uri="{FF2B5EF4-FFF2-40B4-BE49-F238E27FC236}">
                <a16:creationId xmlns:a16="http://schemas.microsoft.com/office/drawing/2014/main" id="{CBC636EA-B5ED-F2BC-4A9A-CFEF8A658B0D}"/>
              </a:ext>
            </a:extLst>
          </p:cNvPr>
          <p:cNvCxnSpPr/>
          <p:nvPr/>
        </p:nvCxnSpPr>
        <p:spPr>
          <a:xfrm>
            <a:off x="6827560" y="6125907"/>
            <a:ext cx="2324347" cy="1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64224472-DE9D-D34D-AFA3-7EEAA42AEC4E}"/>
              </a:ext>
            </a:extLst>
          </p:cNvPr>
          <p:cNvSpPr txBox="1"/>
          <p:nvPr/>
        </p:nvSpPr>
        <p:spPr>
          <a:xfrm>
            <a:off x="9151907" y="6034733"/>
            <a:ext cx="594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全担当者</a:t>
            </a:r>
          </a:p>
        </p:txBody>
      </p:sp>
      <p:cxnSp>
        <p:nvCxnSpPr>
          <p:cNvPr id="1032" name="直線矢印コネクタ 1031">
            <a:extLst>
              <a:ext uri="{FF2B5EF4-FFF2-40B4-BE49-F238E27FC236}">
                <a16:creationId xmlns:a16="http://schemas.microsoft.com/office/drawing/2014/main" id="{E61A18C5-3724-2EC2-3C5E-9F0734BB6304}"/>
              </a:ext>
            </a:extLst>
          </p:cNvPr>
          <p:cNvCxnSpPr>
            <a:cxnSpLocks/>
          </p:cNvCxnSpPr>
          <p:nvPr/>
        </p:nvCxnSpPr>
        <p:spPr>
          <a:xfrm>
            <a:off x="6914835" y="2044772"/>
            <a:ext cx="1991164" cy="22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B94A33D9-7C50-27E3-6B05-6A3B196A6993}"/>
              </a:ext>
            </a:extLst>
          </p:cNvPr>
          <p:cNvSpPr txBox="1"/>
          <p:nvPr/>
        </p:nvSpPr>
        <p:spPr>
          <a:xfrm>
            <a:off x="8905803" y="1969416"/>
            <a:ext cx="594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全派遣先</a:t>
            </a:r>
            <a:endParaRPr kumimoji="1" lang="ja-JP" altLang="en-US" sz="800" dirty="0"/>
          </a:p>
        </p:txBody>
      </p:sp>
      <p:sp>
        <p:nvSpPr>
          <p:cNvPr id="5" name="四角形: 角を丸くする 35">
            <a:extLst>
              <a:ext uri="{FF2B5EF4-FFF2-40B4-BE49-F238E27FC236}">
                <a16:creationId xmlns:a16="http://schemas.microsoft.com/office/drawing/2014/main" id="{1D21B369-2579-1F43-E55B-2E8AFFDDE9D3}"/>
              </a:ext>
            </a:extLst>
          </p:cNvPr>
          <p:cNvSpPr/>
          <p:nvPr/>
        </p:nvSpPr>
        <p:spPr>
          <a:xfrm>
            <a:off x="4443509" y="746342"/>
            <a:ext cx="927962" cy="16690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＜入社連絡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394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8D0A0-A17A-0A16-0D04-4D063F22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A44DCCB7-1052-5F96-1E6B-3BB7A63B82F7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現場担当者：従業員一覧表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19FBC4-4F41-A792-62D2-50115AD5EE5F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A541A3-48D1-53A2-ACF1-3FC87DE5755B}"/>
              </a:ext>
            </a:extLst>
          </p:cNvPr>
          <p:cNvSpPr txBox="1"/>
          <p:nvPr/>
        </p:nvSpPr>
        <p:spPr>
          <a:xfrm>
            <a:off x="4109274" y="250686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従業員検索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EBB7526-B42A-A77B-EC43-096B0AD13299}"/>
              </a:ext>
            </a:extLst>
          </p:cNvPr>
          <p:cNvSpPr txBox="1"/>
          <p:nvPr/>
        </p:nvSpPr>
        <p:spPr>
          <a:xfrm>
            <a:off x="5217908" y="1577486"/>
            <a:ext cx="1756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従業員一覧</a:t>
            </a:r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219EB44E-9BE5-0779-4EA0-AB3245D318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6C41164B-1134-785E-CEA2-5B53EFD6B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四角形: 角を丸くする 35">
            <a:extLst>
              <a:ext uri="{FF2B5EF4-FFF2-40B4-BE49-F238E27FC236}">
                <a16:creationId xmlns:a16="http://schemas.microsoft.com/office/drawing/2014/main" id="{7269DDFF-289E-AFFD-0FB3-B4E63D9FCDBF}"/>
              </a:ext>
            </a:extLst>
          </p:cNvPr>
          <p:cNvSpPr/>
          <p:nvPr/>
        </p:nvSpPr>
        <p:spPr>
          <a:xfrm>
            <a:off x="5191622" y="2506860"/>
            <a:ext cx="1782469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3" name="表 42">
            <a:extLst>
              <a:ext uri="{FF2B5EF4-FFF2-40B4-BE49-F238E27FC236}">
                <a16:creationId xmlns:a16="http://schemas.microsoft.com/office/drawing/2014/main" id="{04A4562A-2767-BA18-9727-4C8E934BF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411590"/>
              </p:ext>
            </p:extLst>
          </p:nvPr>
        </p:nvGraphicFramePr>
        <p:xfrm>
          <a:off x="2697521" y="3076760"/>
          <a:ext cx="6584088" cy="332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547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1805971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  <a:gridCol w="1818425">
                  <a:extLst>
                    <a:ext uri="{9D8B030D-6E8A-4147-A177-3AD203B41FA5}">
                      <a16:colId xmlns:a16="http://schemas.microsoft.com/office/drawing/2014/main" val="234629454"/>
                    </a:ext>
                  </a:extLst>
                </a:gridCol>
                <a:gridCol w="1711145">
                  <a:extLst>
                    <a:ext uri="{9D8B030D-6E8A-4147-A177-3AD203B41FA5}">
                      <a16:colId xmlns:a16="http://schemas.microsoft.com/office/drawing/2014/main" val="861470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/>
                        <a:t>Y</a:t>
                      </a:r>
                      <a:r>
                        <a:rPr kumimoji="1" lang="ja-JP" altLang="en-US" sz="1050" dirty="0"/>
                        <a:t>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名前（通称名）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名前（カタカナ）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派遣先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62407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581279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088561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80930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080913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9082"/>
                  </a:ext>
                </a:extLst>
              </a:tr>
            </a:tbl>
          </a:graphicData>
        </a:graphic>
      </p:graphicFrame>
      <p:sp>
        <p:nvSpPr>
          <p:cNvPr id="45" name="四角形: 角を丸くする 35">
            <a:extLst>
              <a:ext uri="{FF2B5EF4-FFF2-40B4-BE49-F238E27FC236}">
                <a16:creationId xmlns:a16="http://schemas.microsoft.com/office/drawing/2014/main" id="{D371E2A2-E286-5974-705C-FED53D8A5FC6}"/>
              </a:ext>
            </a:extLst>
          </p:cNvPr>
          <p:cNvSpPr/>
          <p:nvPr/>
        </p:nvSpPr>
        <p:spPr>
          <a:xfrm>
            <a:off x="7499140" y="2506860"/>
            <a:ext cx="1782469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退職者一覧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8" name="四角形: 角を丸くする 35">
            <a:extLst>
              <a:ext uri="{FF2B5EF4-FFF2-40B4-BE49-F238E27FC236}">
                <a16:creationId xmlns:a16="http://schemas.microsoft.com/office/drawing/2014/main" id="{8EC7BF7B-F3D4-3715-7C3D-0D9EAABFE5E9}"/>
              </a:ext>
            </a:extLst>
          </p:cNvPr>
          <p:cNvSpPr/>
          <p:nvPr/>
        </p:nvSpPr>
        <p:spPr>
          <a:xfrm>
            <a:off x="708937" y="1186512"/>
            <a:ext cx="1470845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＜＜</a:t>
            </a:r>
            <a:r>
              <a:rPr kumimoji="1" lang="en-US" altLang="ja-JP" sz="1400" dirty="0">
                <a:solidFill>
                  <a:schemeClr val="tx1"/>
                </a:solidFill>
              </a:rPr>
              <a:t>TOP</a:t>
            </a:r>
            <a:r>
              <a:rPr kumimoji="1" lang="ja-JP" altLang="en-US" sz="1400" dirty="0">
                <a:solidFill>
                  <a:schemeClr val="tx1"/>
                </a:solidFill>
              </a:rPr>
              <a:t>ページ</a:t>
            </a:r>
          </a:p>
        </p:txBody>
      </p:sp>
    </p:spTree>
    <p:extLst>
      <p:ext uri="{BB962C8B-B14F-4D97-AF65-F5344CB8AC3E}">
        <p14:creationId xmlns:p14="http://schemas.microsoft.com/office/powerpoint/2010/main" val="301944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5B9E-663E-978E-5F8E-9C240160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1E279E03-69AF-AC35-4614-C194B259E71F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現場担当者：従業員一覧表</a:t>
            </a:r>
            <a:r>
              <a:rPr kumimoji="1" lang="ja-JP" altLang="en-US" dirty="0">
                <a:solidFill>
                  <a:schemeClr val="tx1"/>
                </a:solidFill>
              </a:rPr>
              <a:t>：スマホ画面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F467A21-3FCD-1E0A-65C5-EAD9DBD66344}"/>
              </a:ext>
            </a:extLst>
          </p:cNvPr>
          <p:cNvSpPr/>
          <p:nvPr/>
        </p:nvSpPr>
        <p:spPr>
          <a:xfrm>
            <a:off x="4228748" y="1035698"/>
            <a:ext cx="3853069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C563F6-7584-7B9A-9034-F1BCC8F83EBD}"/>
              </a:ext>
            </a:extLst>
          </p:cNvPr>
          <p:cNvSpPr txBox="1"/>
          <p:nvPr/>
        </p:nvSpPr>
        <p:spPr>
          <a:xfrm>
            <a:off x="4476574" y="2163597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従業員検索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CE6129C-A9CF-EAB7-6485-F8C7AA602324}"/>
              </a:ext>
            </a:extLst>
          </p:cNvPr>
          <p:cNvSpPr txBox="1"/>
          <p:nvPr/>
        </p:nvSpPr>
        <p:spPr>
          <a:xfrm>
            <a:off x="5388781" y="1623853"/>
            <a:ext cx="141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従業員一覧</a:t>
            </a:r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C89F05FB-135E-42CA-A86B-771A08A1E1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6844145" y="1144142"/>
            <a:ext cx="584414" cy="35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EF366690-461D-70F8-4743-58C8D1D44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132" y="1170459"/>
            <a:ext cx="424112" cy="29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四角形: 角を丸くする 35">
            <a:extLst>
              <a:ext uri="{FF2B5EF4-FFF2-40B4-BE49-F238E27FC236}">
                <a16:creationId xmlns:a16="http://schemas.microsoft.com/office/drawing/2014/main" id="{96890622-3E02-F876-B4FD-CC5DB2FF1B92}"/>
              </a:ext>
            </a:extLst>
          </p:cNvPr>
          <p:cNvSpPr/>
          <p:nvPr/>
        </p:nvSpPr>
        <p:spPr>
          <a:xfrm>
            <a:off x="5400401" y="2178887"/>
            <a:ext cx="1589224" cy="2050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3" name="表 42">
            <a:extLst>
              <a:ext uri="{FF2B5EF4-FFF2-40B4-BE49-F238E27FC236}">
                <a16:creationId xmlns:a16="http://schemas.microsoft.com/office/drawing/2014/main" id="{DC09CA27-0633-C2E7-7C58-317E9C9E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414455"/>
              </p:ext>
            </p:extLst>
          </p:nvPr>
        </p:nvGraphicFramePr>
        <p:xfrm>
          <a:off x="4476574" y="2592931"/>
          <a:ext cx="3418729" cy="369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190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905163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  <a:gridCol w="846582">
                  <a:extLst>
                    <a:ext uri="{9D8B030D-6E8A-4147-A177-3AD203B41FA5}">
                      <a16:colId xmlns:a16="http://schemas.microsoft.com/office/drawing/2014/main" val="234629454"/>
                    </a:ext>
                  </a:extLst>
                </a:gridCol>
                <a:gridCol w="1072794">
                  <a:extLst>
                    <a:ext uri="{9D8B030D-6E8A-4147-A177-3AD203B41FA5}">
                      <a16:colId xmlns:a16="http://schemas.microsoft.com/office/drawing/2014/main" val="2828400043"/>
                    </a:ext>
                  </a:extLst>
                </a:gridCol>
              </a:tblGrid>
              <a:tr h="380895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kumimoji="1" lang="en-US" altLang="ja-JP" sz="800" dirty="0"/>
                        <a:t>Y</a:t>
                      </a:r>
                      <a:r>
                        <a:rPr kumimoji="1" lang="ja-JP" altLang="en-US" sz="800" dirty="0"/>
                        <a:t>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kumimoji="1" lang="ja-JP" altLang="en-US" sz="800" dirty="0"/>
                        <a:t>名前</a:t>
                      </a:r>
                      <a:endParaRPr kumimoji="1" lang="en-US" altLang="ja-JP" sz="800" dirty="0"/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kumimoji="1" lang="ja-JP" altLang="en-US" sz="800" dirty="0"/>
                        <a:t>（通称名）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kumimoji="1" lang="ja-JP" altLang="en-US" sz="800" dirty="0"/>
                        <a:t>名前</a:t>
                      </a:r>
                      <a:endParaRPr kumimoji="1" lang="en-US" altLang="ja-JP" sz="800" dirty="0"/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kumimoji="1" lang="ja-JP" altLang="en-US" sz="800" dirty="0"/>
                        <a:t>（カタカナ）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kumimoji="1" lang="ja-JP" altLang="en-US" sz="800" dirty="0"/>
                        <a:t>派遣先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414781">
                <a:tc>
                  <a:txBody>
                    <a:bodyPr/>
                    <a:lstStyle/>
                    <a:p>
                      <a:pPr algn="ctr"/>
                      <a:endParaRPr kumimoji="1" lang="ja-JP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  <a:tr h="414781"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62407"/>
                  </a:ext>
                </a:extLst>
              </a:tr>
              <a:tr h="414781">
                <a:tc>
                  <a:txBody>
                    <a:bodyPr/>
                    <a:lstStyle/>
                    <a:p>
                      <a:pPr algn="ctr"/>
                      <a:endParaRPr kumimoji="1" lang="ja-JP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581279"/>
                  </a:ext>
                </a:extLst>
              </a:tr>
              <a:tr h="414781">
                <a:tc>
                  <a:txBody>
                    <a:bodyPr/>
                    <a:lstStyle/>
                    <a:p>
                      <a:pPr algn="ctr"/>
                      <a:endParaRPr kumimoji="1" lang="ja-JP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088561"/>
                  </a:ext>
                </a:extLst>
              </a:tr>
              <a:tr h="414781"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815082"/>
                  </a:ext>
                </a:extLst>
              </a:tr>
              <a:tr h="414781"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5956"/>
                  </a:ext>
                </a:extLst>
              </a:tr>
              <a:tr h="414781"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501144"/>
                  </a:ext>
                </a:extLst>
              </a:tr>
              <a:tr h="414781"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80930"/>
                  </a:ext>
                </a:extLst>
              </a:tr>
            </a:tbl>
          </a:graphicData>
        </a:graphic>
      </p:graphicFrame>
      <p:sp>
        <p:nvSpPr>
          <p:cNvPr id="45" name="四角形: 角を丸くする 35">
            <a:extLst>
              <a:ext uri="{FF2B5EF4-FFF2-40B4-BE49-F238E27FC236}">
                <a16:creationId xmlns:a16="http://schemas.microsoft.com/office/drawing/2014/main" id="{D55E48E6-29F1-67B5-86CF-9CAE7F54C0BC}"/>
              </a:ext>
            </a:extLst>
          </p:cNvPr>
          <p:cNvSpPr/>
          <p:nvPr/>
        </p:nvSpPr>
        <p:spPr>
          <a:xfrm>
            <a:off x="6937564" y="1635444"/>
            <a:ext cx="1041297" cy="310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退職者一覧</a:t>
            </a:r>
          </a:p>
        </p:txBody>
      </p:sp>
      <p:sp>
        <p:nvSpPr>
          <p:cNvPr id="48" name="四角形: 角を丸くする 35">
            <a:extLst>
              <a:ext uri="{FF2B5EF4-FFF2-40B4-BE49-F238E27FC236}">
                <a16:creationId xmlns:a16="http://schemas.microsoft.com/office/drawing/2014/main" id="{3D07B117-52D9-21A4-8305-D07ED7603D03}"/>
              </a:ext>
            </a:extLst>
          </p:cNvPr>
          <p:cNvSpPr/>
          <p:nvPr/>
        </p:nvSpPr>
        <p:spPr>
          <a:xfrm>
            <a:off x="4445917" y="1215124"/>
            <a:ext cx="1166045" cy="20817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＜＜</a:t>
            </a:r>
            <a:r>
              <a:rPr kumimoji="1" lang="en-US" altLang="ja-JP" sz="1050" dirty="0">
                <a:solidFill>
                  <a:schemeClr val="tx1"/>
                </a:solidFill>
              </a:rPr>
              <a:t>TOP</a:t>
            </a:r>
            <a:r>
              <a:rPr kumimoji="1" lang="ja-JP" altLang="en-US" sz="1050" dirty="0">
                <a:solidFill>
                  <a:schemeClr val="tx1"/>
                </a:solidFill>
              </a:rPr>
              <a:t>ページ</a:t>
            </a:r>
          </a:p>
        </p:txBody>
      </p:sp>
    </p:spTree>
    <p:extLst>
      <p:ext uri="{BB962C8B-B14F-4D97-AF65-F5344CB8AC3E}">
        <p14:creationId xmlns:p14="http://schemas.microsoft.com/office/powerpoint/2010/main" val="505886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509F-554E-E729-7939-D49845FB6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D68CDE35-9782-371B-F662-C246C9A5D30D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現場担当者：従業員一覧表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C3031F-D1F4-AF96-64E0-5FE02D8DF4AE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114321-7911-6536-D84B-4E0CAC7F54B5}"/>
              </a:ext>
            </a:extLst>
          </p:cNvPr>
          <p:cNvSpPr txBox="1"/>
          <p:nvPr/>
        </p:nvSpPr>
        <p:spPr>
          <a:xfrm>
            <a:off x="8717732" y="221470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従業員検索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F2BE0A5-7CB4-37E0-3D9C-0440FF9E21BE}"/>
              </a:ext>
            </a:extLst>
          </p:cNvPr>
          <p:cNvSpPr txBox="1"/>
          <p:nvPr/>
        </p:nvSpPr>
        <p:spPr>
          <a:xfrm>
            <a:off x="5139399" y="1471453"/>
            <a:ext cx="1913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従業員詳細</a:t>
            </a:r>
            <a:endParaRPr kumimoji="1" lang="ja-JP" altLang="en-US" sz="2400" b="1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84803B7C-ED28-66BA-46B6-85FD655F66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D3627C92-4319-D178-E252-33093D09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四角形: 角を丸くする 35">
            <a:extLst>
              <a:ext uri="{FF2B5EF4-FFF2-40B4-BE49-F238E27FC236}">
                <a16:creationId xmlns:a16="http://schemas.microsoft.com/office/drawing/2014/main" id="{10D4A0C5-A157-9A35-7BBB-2D38DDF11CBC}"/>
              </a:ext>
            </a:extLst>
          </p:cNvPr>
          <p:cNvSpPr/>
          <p:nvPr/>
        </p:nvSpPr>
        <p:spPr>
          <a:xfrm>
            <a:off x="9800080" y="2214709"/>
            <a:ext cx="1782469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3" name="表 42">
            <a:extLst>
              <a:ext uri="{FF2B5EF4-FFF2-40B4-BE49-F238E27FC236}">
                <a16:creationId xmlns:a16="http://schemas.microsoft.com/office/drawing/2014/main" id="{4BFD447F-0A6B-4B25-51B5-5DF85BE9A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858734"/>
              </p:ext>
            </p:extLst>
          </p:nvPr>
        </p:nvGraphicFramePr>
        <p:xfrm>
          <a:off x="691732" y="2651595"/>
          <a:ext cx="10970266" cy="810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554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1496291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  <a:gridCol w="1653309">
                  <a:extLst>
                    <a:ext uri="{9D8B030D-6E8A-4147-A177-3AD203B41FA5}">
                      <a16:colId xmlns:a16="http://schemas.microsoft.com/office/drawing/2014/main" val="234629454"/>
                    </a:ext>
                  </a:extLst>
                </a:gridCol>
                <a:gridCol w="1245641">
                  <a:extLst>
                    <a:ext uri="{9D8B030D-6E8A-4147-A177-3AD203B41FA5}">
                      <a16:colId xmlns:a16="http://schemas.microsoft.com/office/drawing/2014/main" val="3531457908"/>
                    </a:ext>
                  </a:extLst>
                </a:gridCol>
                <a:gridCol w="1671782">
                  <a:extLst>
                    <a:ext uri="{9D8B030D-6E8A-4147-A177-3AD203B41FA5}">
                      <a16:colId xmlns:a16="http://schemas.microsoft.com/office/drawing/2014/main" val="861470874"/>
                    </a:ext>
                  </a:extLst>
                </a:gridCol>
                <a:gridCol w="1839304">
                  <a:extLst>
                    <a:ext uri="{9D8B030D-6E8A-4147-A177-3AD203B41FA5}">
                      <a16:colId xmlns:a16="http://schemas.microsoft.com/office/drawing/2014/main" val="507341979"/>
                    </a:ext>
                  </a:extLst>
                </a:gridCol>
                <a:gridCol w="2073385">
                  <a:extLst>
                    <a:ext uri="{9D8B030D-6E8A-4147-A177-3AD203B41FA5}">
                      <a16:colId xmlns:a16="http://schemas.microsoft.com/office/drawing/2014/main" val="544003337"/>
                    </a:ext>
                  </a:extLst>
                </a:gridCol>
              </a:tblGrid>
              <a:tr h="29522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/>
                        <a:t>Y</a:t>
                      </a:r>
                      <a:r>
                        <a:rPr kumimoji="1" lang="ja-JP" altLang="en-US" sz="1050" dirty="0"/>
                        <a:t>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名前（通称名）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名前（カタカナ）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入社日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派遣先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所蔵部署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/>
                        <a:t>TEL</a:t>
                      </a:r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515075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</a:tbl>
          </a:graphicData>
        </a:graphic>
      </p:graphicFrame>
      <p:sp>
        <p:nvSpPr>
          <p:cNvPr id="4" name="四角形: 角を丸くする 35">
            <a:extLst>
              <a:ext uri="{FF2B5EF4-FFF2-40B4-BE49-F238E27FC236}">
                <a16:creationId xmlns:a16="http://schemas.microsoft.com/office/drawing/2014/main" id="{3D930A95-BCE6-B775-A079-B40796C222E1}"/>
              </a:ext>
            </a:extLst>
          </p:cNvPr>
          <p:cNvSpPr/>
          <p:nvPr/>
        </p:nvSpPr>
        <p:spPr>
          <a:xfrm>
            <a:off x="708937" y="1186512"/>
            <a:ext cx="1470845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＜＜</a:t>
            </a:r>
            <a:r>
              <a:rPr kumimoji="1" lang="en-US" altLang="ja-JP" sz="1400" dirty="0">
                <a:solidFill>
                  <a:schemeClr val="tx1"/>
                </a:solidFill>
              </a:rPr>
              <a:t>TOP</a:t>
            </a:r>
            <a:r>
              <a:rPr kumimoji="1" lang="ja-JP" altLang="en-US" sz="14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" name="四角形: 角を丸くする 35">
            <a:extLst>
              <a:ext uri="{FF2B5EF4-FFF2-40B4-BE49-F238E27FC236}">
                <a16:creationId xmlns:a16="http://schemas.microsoft.com/office/drawing/2014/main" id="{12EBBAB2-4028-C67B-A09B-DB2BD62A5E41}"/>
              </a:ext>
            </a:extLst>
          </p:cNvPr>
          <p:cNvSpPr/>
          <p:nvPr/>
        </p:nvSpPr>
        <p:spPr>
          <a:xfrm>
            <a:off x="2295357" y="1186511"/>
            <a:ext cx="1470845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＜従業員一覧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913C6D-0DA2-106C-A1D5-331C458AB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144758"/>
              </p:ext>
            </p:extLst>
          </p:nvPr>
        </p:nvGraphicFramePr>
        <p:xfrm>
          <a:off x="625810" y="3906863"/>
          <a:ext cx="2126626" cy="810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135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4629454"/>
                    </a:ext>
                  </a:extLst>
                </a:gridCol>
              </a:tblGrid>
              <a:tr h="29522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有給残日数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前年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515075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F27D6610-0140-CCB7-C612-CA4428FA2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076184"/>
              </p:ext>
            </p:extLst>
          </p:nvPr>
        </p:nvGraphicFramePr>
        <p:xfrm>
          <a:off x="3030779" y="3906863"/>
          <a:ext cx="1901439" cy="810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135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966304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</a:tblGrid>
              <a:tr h="29522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次年度付与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付与日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515075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029E63CA-064E-D269-D056-FC7C7BB50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95343"/>
              </p:ext>
            </p:extLst>
          </p:nvPr>
        </p:nvGraphicFramePr>
        <p:xfrm>
          <a:off x="5437051" y="3906863"/>
          <a:ext cx="2385052" cy="252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578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581578">
                  <a:extLst>
                    <a:ext uri="{9D8B030D-6E8A-4147-A177-3AD203B41FA5}">
                      <a16:colId xmlns:a16="http://schemas.microsoft.com/office/drawing/2014/main" val="1711619345"/>
                    </a:ext>
                  </a:extLst>
                </a:gridCol>
                <a:gridCol w="581578">
                  <a:extLst>
                    <a:ext uri="{9D8B030D-6E8A-4147-A177-3AD203B41FA5}">
                      <a16:colId xmlns:a16="http://schemas.microsoft.com/office/drawing/2014/main" val="174371488"/>
                    </a:ext>
                  </a:extLst>
                </a:gridCol>
                <a:gridCol w="640318">
                  <a:extLst>
                    <a:ext uri="{9D8B030D-6E8A-4147-A177-3AD203B41FA5}">
                      <a16:colId xmlns:a16="http://schemas.microsoft.com/office/drawing/2014/main" val="1911768398"/>
                    </a:ext>
                  </a:extLst>
                </a:gridCol>
              </a:tblGrid>
              <a:tr h="258618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有給消化実績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212555"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1050" b="1" dirty="0">
                          <a:solidFill>
                            <a:schemeClr val="bg1"/>
                          </a:solidFill>
                        </a:rPr>
                        <a:t>使用期間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b="1" dirty="0">
                          <a:solidFill>
                            <a:schemeClr val="bg1"/>
                          </a:solidFill>
                        </a:rPr>
                        <a:t>使用数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698029"/>
                  </a:ext>
                </a:extLst>
              </a:tr>
              <a:tr h="2019800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  <a:endParaRPr kumimoji="1" lang="en-US" altLang="ja-JP" sz="1050" dirty="0"/>
                    </a:p>
                    <a:p>
                      <a:pPr algn="ctr"/>
                      <a:r>
                        <a:rPr kumimoji="1" lang="ja-JP" altLang="en-US" sz="1050" dirty="0"/>
                        <a:t>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</a:tbl>
          </a:graphicData>
        </a:graphic>
      </p:graphicFrame>
      <p:sp>
        <p:nvSpPr>
          <p:cNvPr id="10" name="四角形: 角を丸くする 35">
            <a:extLst>
              <a:ext uri="{FF2B5EF4-FFF2-40B4-BE49-F238E27FC236}">
                <a16:creationId xmlns:a16="http://schemas.microsoft.com/office/drawing/2014/main" id="{6328BB82-C70B-D872-9C29-D6C7A3276EB5}"/>
              </a:ext>
            </a:extLst>
          </p:cNvPr>
          <p:cNvSpPr/>
          <p:nvPr/>
        </p:nvSpPr>
        <p:spPr>
          <a:xfrm>
            <a:off x="8527874" y="5708226"/>
            <a:ext cx="2163441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有給申請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四角形: 角を丸くする 35">
            <a:extLst>
              <a:ext uri="{FF2B5EF4-FFF2-40B4-BE49-F238E27FC236}">
                <a16:creationId xmlns:a16="http://schemas.microsoft.com/office/drawing/2014/main" id="{7284DA4C-B13C-A452-E827-4B5DAF00C924}"/>
              </a:ext>
            </a:extLst>
          </p:cNvPr>
          <p:cNvSpPr/>
          <p:nvPr/>
        </p:nvSpPr>
        <p:spPr>
          <a:xfrm>
            <a:off x="8527874" y="5017913"/>
            <a:ext cx="2113831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雇用条件変更申請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35">
            <a:extLst>
              <a:ext uri="{FF2B5EF4-FFF2-40B4-BE49-F238E27FC236}">
                <a16:creationId xmlns:a16="http://schemas.microsoft.com/office/drawing/2014/main" id="{7855DCFB-8666-DF58-9BDA-B48C42253290}"/>
              </a:ext>
            </a:extLst>
          </p:cNvPr>
          <p:cNvSpPr/>
          <p:nvPr/>
        </p:nvSpPr>
        <p:spPr>
          <a:xfrm>
            <a:off x="8527874" y="4312013"/>
            <a:ext cx="2113831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退職</a:t>
            </a:r>
            <a:r>
              <a:rPr lang="ja-JP" altLang="en-US" dirty="0">
                <a:solidFill>
                  <a:schemeClr val="tx1"/>
                </a:solidFill>
              </a:rPr>
              <a:t>連絡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237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21F32-0114-9B00-75FB-2A2CDC99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CD4A8E0B-6C94-F5F0-7B83-A4AD6F1B1D45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現場担当者：退社申請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1B2667-1852-08E7-52D8-3D105AB8084F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4650D2-0834-8C67-4AFF-F728211268EC}"/>
              </a:ext>
            </a:extLst>
          </p:cNvPr>
          <p:cNvSpPr txBox="1"/>
          <p:nvPr/>
        </p:nvSpPr>
        <p:spPr>
          <a:xfrm>
            <a:off x="650240" y="2164070"/>
            <a:ext cx="1019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⑴</a:t>
            </a:r>
            <a:r>
              <a:rPr lang="en-US" altLang="ja-JP" sz="1400" dirty="0"/>
              <a:t>Y</a:t>
            </a:r>
            <a:r>
              <a:rPr lang="ja-JP" altLang="en-US" sz="1400" dirty="0"/>
              <a:t>コード</a:t>
            </a:r>
            <a:endParaRPr kumimoji="1" lang="ja-JP" altLang="en-US" sz="14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1E3049-8084-4D3E-4456-5589ECE9644D}"/>
              </a:ext>
            </a:extLst>
          </p:cNvPr>
          <p:cNvSpPr/>
          <p:nvPr/>
        </p:nvSpPr>
        <p:spPr>
          <a:xfrm>
            <a:off x="3042188" y="2115586"/>
            <a:ext cx="1169345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E00E7B-3877-3A77-5BF4-C1EBE20F1BFC}"/>
              </a:ext>
            </a:extLst>
          </p:cNvPr>
          <p:cNvSpPr txBox="1"/>
          <p:nvPr/>
        </p:nvSpPr>
        <p:spPr>
          <a:xfrm>
            <a:off x="650240" y="2578809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⑵名前（</a:t>
            </a:r>
            <a:r>
              <a:rPr lang="ja-JP" altLang="en-US" sz="1400" dirty="0"/>
              <a:t>通称名</a:t>
            </a:r>
            <a:r>
              <a:rPr kumimoji="1" lang="ja-JP" altLang="en-US" sz="1400" dirty="0"/>
              <a:t>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2A435B-D0A5-4351-9726-371DE1B51696}"/>
              </a:ext>
            </a:extLst>
          </p:cNvPr>
          <p:cNvSpPr/>
          <p:nvPr/>
        </p:nvSpPr>
        <p:spPr>
          <a:xfrm>
            <a:off x="3042191" y="2530580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131B2DD1-FAFF-A743-D32F-B753CE148FE9}"/>
              </a:ext>
            </a:extLst>
          </p:cNvPr>
          <p:cNvSpPr/>
          <p:nvPr/>
        </p:nvSpPr>
        <p:spPr>
          <a:xfrm>
            <a:off x="10935854" y="6031223"/>
            <a:ext cx="742961" cy="36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送信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D9C683B-4058-F599-CAF7-CAB76F5D998F}"/>
              </a:ext>
            </a:extLst>
          </p:cNvPr>
          <p:cNvSpPr txBox="1"/>
          <p:nvPr/>
        </p:nvSpPr>
        <p:spPr>
          <a:xfrm>
            <a:off x="5183867" y="1465684"/>
            <a:ext cx="1567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退社連絡</a:t>
            </a:r>
            <a:endParaRPr kumimoji="1" lang="ja-JP" altLang="en-US" sz="2400" b="1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CC65D1A5-993E-C95A-0450-6276A4C1D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12F720E5-855C-47A1-6D8E-C931C4525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68BF0E4-60A8-3284-7C9D-55434C6AE212}"/>
              </a:ext>
            </a:extLst>
          </p:cNvPr>
          <p:cNvSpPr txBox="1"/>
          <p:nvPr/>
        </p:nvSpPr>
        <p:spPr>
          <a:xfrm>
            <a:off x="650240" y="2993548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⑶</a:t>
            </a:r>
            <a:r>
              <a:rPr kumimoji="1" lang="ja-JP" altLang="en-US" sz="1400" dirty="0"/>
              <a:t>名前（</a:t>
            </a:r>
            <a:r>
              <a:rPr lang="ja-JP" altLang="en-US" sz="1400" dirty="0"/>
              <a:t>カタカナ</a:t>
            </a:r>
            <a:r>
              <a:rPr kumimoji="1" lang="ja-JP" altLang="en-US" sz="1400" dirty="0"/>
              <a:t>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26F861-1C11-C0A4-20CD-BD4527806D9F}"/>
              </a:ext>
            </a:extLst>
          </p:cNvPr>
          <p:cNvSpPr txBox="1"/>
          <p:nvPr/>
        </p:nvSpPr>
        <p:spPr>
          <a:xfrm>
            <a:off x="650240" y="3428227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⑷</a:t>
            </a:r>
            <a:r>
              <a:rPr lang="ja-JP" altLang="en-US" sz="1400" dirty="0"/>
              <a:t>派遣先</a:t>
            </a:r>
            <a:endParaRPr kumimoji="1" lang="ja-JP" altLang="en-US" sz="1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B0D05CA-87FE-10F5-4294-8134D9A2ED38}"/>
              </a:ext>
            </a:extLst>
          </p:cNvPr>
          <p:cNvSpPr txBox="1"/>
          <p:nvPr/>
        </p:nvSpPr>
        <p:spPr>
          <a:xfrm>
            <a:off x="650240" y="3862906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⑸離職票</a:t>
            </a:r>
            <a:endParaRPr kumimoji="1" lang="ja-JP" altLang="en-US" sz="14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2B9A9A-6A64-AAE6-BC6D-708BE9AB13BD}"/>
              </a:ext>
            </a:extLst>
          </p:cNvPr>
          <p:cNvSpPr/>
          <p:nvPr/>
        </p:nvSpPr>
        <p:spPr>
          <a:xfrm>
            <a:off x="3042191" y="3393870"/>
            <a:ext cx="2074754" cy="307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60917F4-469C-7134-7822-C2E9E8605CC3}"/>
              </a:ext>
            </a:extLst>
          </p:cNvPr>
          <p:cNvSpPr/>
          <p:nvPr/>
        </p:nvSpPr>
        <p:spPr>
          <a:xfrm>
            <a:off x="3042187" y="2931791"/>
            <a:ext cx="2915264" cy="3077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7CE60BC-452F-4B4D-DA01-95F9CED8194D}"/>
              </a:ext>
            </a:extLst>
          </p:cNvPr>
          <p:cNvSpPr/>
          <p:nvPr/>
        </p:nvSpPr>
        <p:spPr>
          <a:xfrm>
            <a:off x="3042191" y="3826832"/>
            <a:ext cx="490730" cy="3064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B5D3E2C-49D5-658F-621F-1F6E8AEF8861}"/>
              </a:ext>
            </a:extLst>
          </p:cNvPr>
          <p:cNvSpPr txBox="1"/>
          <p:nvPr/>
        </p:nvSpPr>
        <p:spPr>
          <a:xfrm>
            <a:off x="646452" y="4297584"/>
            <a:ext cx="1438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⑹派遣先終了日</a:t>
            </a:r>
            <a:endParaRPr kumimoji="1" lang="ja-JP" altLang="en-US" sz="1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3894910-CF1B-D463-200E-ECE64873E4B7}"/>
              </a:ext>
            </a:extLst>
          </p:cNvPr>
          <p:cNvSpPr/>
          <p:nvPr/>
        </p:nvSpPr>
        <p:spPr>
          <a:xfrm>
            <a:off x="3368527" y="4278861"/>
            <a:ext cx="490730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F9A5457-467E-9ACA-3C71-588F66F2CC1F}"/>
              </a:ext>
            </a:extLst>
          </p:cNvPr>
          <p:cNvSpPr txBox="1"/>
          <p:nvPr/>
        </p:nvSpPr>
        <p:spPr>
          <a:xfrm>
            <a:off x="646452" y="5105286"/>
            <a:ext cx="1180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⑻退社区分</a:t>
            </a:r>
            <a:endParaRPr kumimoji="1" lang="ja-JP" altLang="en-US" sz="14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A5101C4-E20D-0698-03DF-ED28650BBAF0}"/>
              </a:ext>
            </a:extLst>
          </p:cNvPr>
          <p:cNvSpPr/>
          <p:nvPr/>
        </p:nvSpPr>
        <p:spPr>
          <a:xfrm>
            <a:off x="3031319" y="5139855"/>
            <a:ext cx="1191085" cy="306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DEC1EDD-B2A2-5F8C-726E-991C82C5D9BF}"/>
              </a:ext>
            </a:extLst>
          </p:cNvPr>
          <p:cNvSpPr txBox="1"/>
          <p:nvPr/>
        </p:nvSpPr>
        <p:spPr>
          <a:xfrm>
            <a:off x="646451" y="5539965"/>
            <a:ext cx="150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⑼退社理由</a:t>
            </a:r>
            <a:endParaRPr kumimoji="1" lang="ja-JP" altLang="en-US" sz="14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05D9543-ACFD-7193-F85F-0BF6BCEDBB85}"/>
              </a:ext>
            </a:extLst>
          </p:cNvPr>
          <p:cNvSpPr/>
          <p:nvPr/>
        </p:nvSpPr>
        <p:spPr>
          <a:xfrm>
            <a:off x="3042189" y="5511152"/>
            <a:ext cx="2915262" cy="306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8D36185-96A2-B621-7063-22AF7A5EC6A0}"/>
              </a:ext>
            </a:extLst>
          </p:cNvPr>
          <p:cNvSpPr txBox="1"/>
          <p:nvPr/>
        </p:nvSpPr>
        <p:spPr>
          <a:xfrm>
            <a:off x="6210241" y="2138468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⑾有給買上</a:t>
            </a:r>
            <a:endParaRPr kumimoji="1" lang="ja-JP" altLang="en-US" sz="14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ED92736-E669-33D9-D005-A157EB38BD98}"/>
              </a:ext>
            </a:extLst>
          </p:cNvPr>
          <p:cNvSpPr txBox="1"/>
          <p:nvPr/>
        </p:nvSpPr>
        <p:spPr>
          <a:xfrm>
            <a:off x="6210240" y="2506579"/>
            <a:ext cx="175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⑿クリーニング代</a:t>
            </a:r>
            <a:endParaRPr kumimoji="1"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634FEF9-EE58-35D1-EF5D-44689C844522}"/>
              </a:ext>
            </a:extLst>
          </p:cNvPr>
          <p:cNvSpPr txBox="1"/>
          <p:nvPr/>
        </p:nvSpPr>
        <p:spPr>
          <a:xfrm>
            <a:off x="649323" y="4674398"/>
            <a:ext cx="1367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⑺当社退社日</a:t>
            </a:r>
            <a:endParaRPr kumimoji="1" lang="ja-JP" altLang="en-US" sz="14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2BA3015-9DC3-F5E4-FB40-619DFE7B6AAE}"/>
              </a:ext>
            </a:extLst>
          </p:cNvPr>
          <p:cNvSpPr txBox="1"/>
          <p:nvPr/>
        </p:nvSpPr>
        <p:spPr>
          <a:xfrm>
            <a:off x="6210241" y="2921355"/>
            <a:ext cx="1261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⒀制服代</a:t>
            </a:r>
            <a:endParaRPr kumimoji="1" lang="ja-JP" altLang="en-US" sz="1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D660ACD-EE8D-80E7-E6B4-84B5F5093A27}"/>
              </a:ext>
            </a:extLst>
          </p:cNvPr>
          <p:cNvSpPr txBox="1"/>
          <p:nvPr/>
        </p:nvSpPr>
        <p:spPr>
          <a:xfrm>
            <a:off x="8329694" y="6089712"/>
            <a:ext cx="760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申請者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3BE7BC9-DCAF-1917-D144-D7752A149AAB}"/>
              </a:ext>
            </a:extLst>
          </p:cNvPr>
          <p:cNvSpPr/>
          <p:nvPr/>
        </p:nvSpPr>
        <p:spPr>
          <a:xfrm>
            <a:off x="9002924" y="6031223"/>
            <a:ext cx="1851325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AB06F07-140A-7FA7-288F-ED10E0EC4C60}"/>
              </a:ext>
            </a:extLst>
          </p:cNvPr>
          <p:cNvSpPr txBox="1"/>
          <p:nvPr/>
        </p:nvSpPr>
        <p:spPr>
          <a:xfrm>
            <a:off x="658831" y="5928426"/>
            <a:ext cx="1357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⑽有給消化</a:t>
            </a:r>
            <a:endParaRPr kumimoji="1" lang="ja-JP" altLang="en-US" sz="1400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8107567-991C-8437-6379-B5EEDA458CD3}"/>
              </a:ext>
            </a:extLst>
          </p:cNvPr>
          <p:cNvSpPr/>
          <p:nvPr/>
        </p:nvSpPr>
        <p:spPr>
          <a:xfrm>
            <a:off x="3429889" y="5927947"/>
            <a:ext cx="477763" cy="306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CC17D86-AAC7-7393-7B75-93C051429B97}"/>
              </a:ext>
            </a:extLst>
          </p:cNvPr>
          <p:cNvSpPr txBox="1"/>
          <p:nvPr/>
        </p:nvSpPr>
        <p:spPr>
          <a:xfrm>
            <a:off x="6214196" y="3274338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⒁備考</a:t>
            </a:r>
            <a:endParaRPr kumimoji="1" lang="ja-JP" altLang="en-US" sz="1400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7C82BDF-5BEC-D1F0-D5C1-CA618E21B62B}"/>
              </a:ext>
            </a:extLst>
          </p:cNvPr>
          <p:cNvSpPr/>
          <p:nvPr/>
        </p:nvSpPr>
        <p:spPr>
          <a:xfrm>
            <a:off x="8327109" y="3356706"/>
            <a:ext cx="2915264" cy="9485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54639E76-A61D-28B7-C5DB-E883ECC51EBD}"/>
              </a:ext>
            </a:extLst>
          </p:cNvPr>
          <p:cNvSpPr/>
          <p:nvPr/>
        </p:nvSpPr>
        <p:spPr>
          <a:xfrm>
            <a:off x="8329694" y="2527575"/>
            <a:ext cx="1166760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F594ECA-0349-7496-D8E8-6385B374CD42}"/>
              </a:ext>
            </a:extLst>
          </p:cNvPr>
          <p:cNvSpPr/>
          <p:nvPr/>
        </p:nvSpPr>
        <p:spPr>
          <a:xfrm>
            <a:off x="8327109" y="2937538"/>
            <a:ext cx="1169345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四角形: 角を丸くする 35">
            <a:extLst>
              <a:ext uri="{FF2B5EF4-FFF2-40B4-BE49-F238E27FC236}">
                <a16:creationId xmlns:a16="http://schemas.microsoft.com/office/drawing/2014/main" id="{FA08EDBA-4F72-0A99-83C1-68A46FB869FB}"/>
              </a:ext>
            </a:extLst>
          </p:cNvPr>
          <p:cNvSpPr/>
          <p:nvPr/>
        </p:nvSpPr>
        <p:spPr>
          <a:xfrm>
            <a:off x="681228" y="1166392"/>
            <a:ext cx="1335443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＜＜＜</a:t>
            </a:r>
            <a:r>
              <a:rPr kumimoji="1" lang="en-US" altLang="ja-JP" sz="1100" dirty="0">
                <a:solidFill>
                  <a:schemeClr val="tx1"/>
                </a:solidFill>
              </a:rPr>
              <a:t>TOP</a:t>
            </a:r>
            <a:r>
              <a:rPr kumimoji="1" lang="ja-JP" altLang="en-US" sz="11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5" name="四角形: 角を丸くする 35">
            <a:extLst>
              <a:ext uri="{FF2B5EF4-FFF2-40B4-BE49-F238E27FC236}">
                <a16:creationId xmlns:a16="http://schemas.microsoft.com/office/drawing/2014/main" id="{503A50F8-649D-C2E3-6B82-1B2B008AF5A8}"/>
              </a:ext>
            </a:extLst>
          </p:cNvPr>
          <p:cNvSpPr/>
          <p:nvPr/>
        </p:nvSpPr>
        <p:spPr>
          <a:xfrm>
            <a:off x="3344454" y="1156713"/>
            <a:ext cx="1125607" cy="33441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</a:t>
            </a:r>
            <a:r>
              <a:rPr lang="ja-JP" altLang="en-US" sz="1100" dirty="0">
                <a:solidFill>
                  <a:schemeClr val="tx1"/>
                </a:solidFill>
              </a:rPr>
              <a:t>従業員詳細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四角形: 角を丸くする 35">
            <a:extLst>
              <a:ext uri="{FF2B5EF4-FFF2-40B4-BE49-F238E27FC236}">
                <a16:creationId xmlns:a16="http://schemas.microsoft.com/office/drawing/2014/main" id="{D70BAE70-F527-D533-BCFE-F80162586E5B}"/>
              </a:ext>
            </a:extLst>
          </p:cNvPr>
          <p:cNvSpPr/>
          <p:nvPr/>
        </p:nvSpPr>
        <p:spPr>
          <a:xfrm>
            <a:off x="2085020" y="1157907"/>
            <a:ext cx="1191085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＜＜従業員一覧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4EA926B-2B9A-E75F-BFFC-8044902678DF}"/>
              </a:ext>
            </a:extLst>
          </p:cNvPr>
          <p:cNvCxnSpPr/>
          <p:nvPr/>
        </p:nvCxnSpPr>
        <p:spPr>
          <a:xfrm>
            <a:off x="3532921" y="3969451"/>
            <a:ext cx="961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988918B-68F8-CE8B-2669-4E2244665657}"/>
              </a:ext>
            </a:extLst>
          </p:cNvPr>
          <p:cNvCxnSpPr/>
          <p:nvPr/>
        </p:nvCxnSpPr>
        <p:spPr>
          <a:xfrm>
            <a:off x="4525160" y="3532390"/>
            <a:ext cx="961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8F93A6-AFA6-061F-F674-36C5A4B97E63}"/>
              </a:ext>
            </a:extLst>
          </p:cNvPr>
          <p:cNvSpPr txBox="1"/>
          <p:nvPr/>
        </p:nvSpPr>
        <p:spPr>
          <a:xfrm>
            <a:off x="5424287" y="3432259"/>
            <a:ext cx="9798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プルダウン</a:t>
            </a:r>
            <a:endParaRPr kumimoji="1" lang="ja-JP" altLang="en-US" sz="105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BAB5134-4EAD-3FBD-0BF8-46759859DB29}"/>
              </a:ext>
            </a:extLst>
          </p:cNvPr>
          <p:cNvSpPr txBox="1"/>
          <p:nvPr/>
        </p:nvSpPr>
        <p:spPr>
          <a:xfrm>
            <a:off x="4474509" y="3855886"/>
            <a:ext cx="9798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必要　不要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65283A4-F011-499E-4D52-42C3586BC324}"/>
              </a:ext>
            </a:extLst>
          </p:cNvPr>
          <p:cNvSpPr txBox="1"/>
          <p:nvPr/>
        </p:nvSpPr>
        <p:spPr>
          <a:xfrm>
            <a:off x="3881486" y="4335037"/>
            <a:ext cx="35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年</a:t>
            </a:r>
            <a:endParaRPr kumimoji="1" lang="ja-JP" altLang="en-US" sz="105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EFC0D46-7717-039B-26A7-5DFDB8A6E016}"/>
              </a:ext>
            </a:extLst>
          </p:cNvPr>
          <p:cNvSpPr txBox="1"/>
          <p:nvPr/>
        </p:nvSpPr>
        <p:spPr>
          <a:xfrm>
            <a:off x="5583416" y="4337798"/>
            <a:ext cx="35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日</a:t>
            </a:r>
            <a:endParaRPr kumimoji="1" lang="ja-JP" altLang="en-US" sz="1050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E41D869-2243-0F68-A219-EFBA251CEF57}"/>
              </a:ext>
            </a:extLst>
          </p:cNvPr>
          <p:cNvSpPr/>
          <p:nvPr/>
        </p:nvSpPr>
        <p:spPr>
          <a:xfrm>
            <a:off x="4184930" y="4277127"/>
            <a:ext cx="490730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8562A8F7-A573-5FC9-469D-62C067AC0A49}"/>
              </a:ext>
            </a:extLst>
          </p:cNvPr>
          <p:cNvSpPr txBox="1"/>
          <p:nvPr/>
        </p:nvSpPr>
        <p:spPr>
          <a:xfrm>
            <a:off x="4708326" y="4345492"/>
            <a:ext cx="3581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月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C988BC4-0205-ECF5-F6D8-3C2F4BB1DB16}"/>
              </a:ext>
            </a:extLst>
          </p:cNvPr>
          <p:cNvSpPr/>
          <p:nvPr/>
        </p:nvSpPr>
        <p:spPr>
          <a:xfrm>
            <a:off x="5068164" y="4266234"/>
            <a:ext cx="490730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45FC3243-1E69-AE3E-8971-B89FF1B9780D}"/>
              </a:ext>
            </a:extLst>
          </p:cNvPr>
          <p:cNvSpPr txBox="1"/>
          <p:nvPr/>
        </p:nvSpPr>
        <p:spPr>
          <a:xfrm>
            <a:off x="2941194" y="4335993"/>
            <a:ext cx="4621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令和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9EB7DA24-8C2B-A738-FD21-55AB1C848A76}"/>
              </a:ext>
            </a:extLst>
          </p:cNvPr>
          <p:cNvSpPr txBox="1"/>
          <p:nvPr/>
        </p:nvSpPr>
        <p:spPr>
          <a:xfrm>
            <a:off x="2941193" y="4701328"/>
            <a:ext cx="4621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令和</a:t>
            </a:r>
          </a:p>
        </p:txBody>
      </p:sp>
      <p:pic>
        <p:nvPicPr>
          <p:cNvPr id="60" name="図 59">
            <a:extLst>
              <a:ext uri="{FF2B5EF4-FFF2-40B4-BE49-F238E27FC236}">
                <a16:creationId xmlns:a16="http://schemas.microsoft.com/office/drawing/2014/main" id="{3DF9D693-49E8-3FCC-3CD6-FF796D003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021" y="4657580"/>
            <a:ext cx="499915" cy="292633"/>
          </a:xfrm>
          <a:prstGeom prst="rect">
            <a:avLst/>
          </a:prstGeom>
        </p:spPr>
      </p:pic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BF1B97A-C830-7108-B3F6-98E73FAF2BEB}"/>
              </a:ext>
            </a:extLst>
          </p:cNvPr>
          <p:cNvSpPr/>
          <p:nvPr/>
        </p:nvSpPr>
        <p:spPr>
          <a:xfrm>
            <a:off x="3381495" y="4653066"/>
            <a:ext cx="490730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47645FC-52D7-BCCF-B57E-BD986474EDB1}"/>
              </a:ext>
            </a:extLst>
          </p:cNvPr>
          <p:cNvSpPr/>
          <p:nvPr/>
        </p:nvSpPr>
        <p:spPr>
          <a:xfrm>
            <a:off x="5068164" y="4662008"/>
            <a:ext cx="490730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026639D9-8AF5-CE33-1EDF-9EB4E27C2C64}"/>
              </a:ext>
            </a:extLst>
          </p:cNvPr>
          <p:cNvSpPr txBox="1"/>
          <p:nvPr/>
        </p:nvSpPr>
        <p:spPr>
          <a:xfrm>
            <a:off x="3877153" y="4684174"/>
            <a:ext cx="35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年</a:t>
            </a:r>
            <a:endParaRPr kumimoji="1" lang="ja-JP" altLang="en-US" sz="1050" dirty="0"/>
          </a:p>
        </p:txBody>
      </p:sp>
      <p:sp>
        <p:nvSpPr>
          <p:cNvPr id="1024" name="テキスト ボックス 1023">
            <a:extLst>
              <a:ext uri="{FF2B5EF4-FFF2-40B4-BE49-F238E27FC236}">
                <a16:creationId xmlns:a16="http://schemas.microsoft.com/office/drawing/2014/main" id="{0B4109D0-4445-0A93-6C4B-6804CC562940}"/>
              </a:ext>
            </a:extLst>
          </p:cNvPr>
          <p:cNvSpPr txBox="1"/>
          <p:nvPr/>
        </p:nvSpPr>
        <p:spPr>
          <a:xfrm>
            <a:off x="4716271" y="4691868"/>
            <a:ext cx="3581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月</a:t>
            </a:r>
          </a:p>
        </p:txBody>
      </p:sp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ECDB31CC-BD39-B283-CA66-8089D99145F4}"/>
              </a:ext>
            </a:extLst>
          </p:cNvPr>
          <p:cNvSpPr txBox="1"/>
          <p:nvPr/>
        </p:nvSpPr>
        <p:spPr>
          <a:xfrm>
            <a:off x="5599317" y="4720565"/>
            <a:ext cx="35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日</a:t>
            </a:r>
            <a:endParaRPr kumimoji="1" lang="ja-JP" altLang="en-US" sz="1050" dirty="0"/>
          </a:p>
        </p:txBody>
      </p:sp>
      <p:cxnSp>
        <p:nvCxnSpPr>
          <p:cNvPr id="1027" name="直線矢印コネクタ 1026">
            <a:extLst>
              <a:ext uri="{FF2B5EF4-FFF2-40B4-BE49-F238E27FC236}">
                <a16:creationId xmlns:a16="http://schemas.microsoft.com/office/drawing/2014/main" id="{E87191CC-E942-5987-B153-A5E3DBAADA9D}"/>
              </a:ext>
            </a:extLst>
          </p:cNvPr>
          <p:cNvCxnSpPr/>
          <p:nvPr/>
        </p:nvCxnSpPr>
        <p:spPr>
          <a:xfrm>
            <a:off x="3468397" y="5293075"/>
            <a:ext cx="961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テキスト ボックス 1028">
            <a:extLst>
              <a:ext uri="{FF2B5EF4-FFF2-40B4-BE49-F238E27FC236}">
                <a16:creationId xmlns:a16="http://schemas.microsoft.com/office/drawing/2014/main" id="{9BC9BCC4-3C99-54F7-43DE-0F6C69CE28C0}"/>
              </a:ext>
            </a:extLst>
          </p:cNvPr>
          <p:cNvSpPr txBox="1"/>
          <p:nvPr/>
        </p:nvSpPr>
        <p:spPr>
          <a:xfrm>
            <a:off x="4430295" y="5185353"/>
            <a:ext cx="16209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契約満了　会社都合　自己都合</a:t>
            </a:r>
          </a:p>
        </p:txBody>
      </p:sp>
      <p:sp>
        <p:nvSpPr>
          <p:cNvPr id="1030" name="テキスト ボックス 1029">
            <a:extLst>
              <a:ext uri="{FF2B5EF4-FFF2-40B4-BE49-F238E27FC236}">
                <a16:creationId xmlns:a16="http://schemas.microsoft.com/office/drawing/2014/main" id="{61365FC8-BC0F-4B5A-3208-77B2B5FEC83A}"/>
              </a:ext>
            </a:extLst>
          </p:cNvPr>
          <p:cNvSpPr txBox="1"/>
          <p:nvPr/>
        </p:nvSpPr>
        <p:spPr>
          <a:xfrm>
            <a:off x="3025576" y="5982287"/>
            <a:ext cx="4777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有：</a:t>
            </a:r>
            <a:endParaRPr kumimoji="1" lang="ja-JP" altLang="en-US" sz="1050" dirty="0"/>
          </a:p>
        </p:txBody>
      </p:sp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88551232-AFA3-71E9-5C84-D15798D320E4}"/>
              </a:ext>
            </a:extLst>
          </p:cNvPr>
          <p:cNvSpPr txBox="1"/>
          <p:nvPr/>
        </p:nvSpPr>
        <p:spPr>
          <a:xfrm>
            <a:off x="3884238" y="5995974"/>
            <a:ext cx="35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日</a:t>
            </a:r>
            <a:endParaRPr kumimoji="1" lang="ja-JP" altLang="en-US" sz="1050" dirty="0"/>
          </a:p>
        </p:txBody>
      </p:sp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18BE669F-56E1-8BBC-30DE-0F3709C54C18}"/>
              </a:ext>
            </a:extLst>
          </p:cNvPr>
          <p:cNvSpPr txBox="1"/>
          <p:nvPr/>
        </p:nvSpPr>
        <p:spPr>
          <a:xfrm>
            <a:off x="4623271" y="6003668"/>
            <a:ext cx="452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無</a:t>
            </a: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1B16021F-5EDB-F66B-A7FB-5200B44A9FE1}"/>
              </a:ext>
            </a:extLst>
          </p:cNvPr>
          <p:cNvSpPr/>
          <p:nvPr/>
        </p:nvSpPr>
        <p:spPr>
          <a:xfrm>
            <a:off x="4933376" y="5982287"/>
            <a:ext cx="226575" cy="253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5" name="直線矢印コネクタ 1034">
            <a:extLst>
              <a:ext uri="{FF2B5EF4-FFF2-40B4-BE49-F238E27FC236}">
                <a16:creationId xmlns:a16="http://schemas.microsoft.com/office/drawing/2014/main" id="{D5DD76C1-3CBF-7DED-EBFB-4DD2207524BC}"/>
              </a:ext>
            </a:extLst>
          </p:cNvPr>
          <p:cNvCxnSpPr>
            <a:cxnSpLocks/>
          </p:cNvCxnSpPr>
          <p:nvPr/>
        </p:nvCxnSpPr>
        <p:spPr>
          <a:xfrm>
            <a:off x="5046663" y="6109245"/>
            <a:ext cx="377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23F7E2A3-A312-0FD6-0B1F-D082411C9F91}"/>
              </a:ext>
            </a:extLst>
          </p:cNvPr>
          <p:cNvSpPr txBox="1"/>
          <p:nvPr/>
        </p:nvSpPr>
        <p:spPr>
          <a:xfrm>
            <a:off x="5407226" y="6003668"/>
            <a:ext cx="742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チェック</a:t>
            </a:r>
          </a:p>
        </p:txBody>
      </p:sp>
      <p:sp>
        <p:nvSpPr>
          <p:cNvPr id="1038" name="正方形/長方形 1037">
            <a:extLst>
              <a:ext uri="{FF2B5EF4-FFF2-40B4-BE49-F238E27FC236}">
                <a16:creationId xmlns:a16="http://schemas.microsoft.com/office/drawing/2014/main" id="{D1328DDC-BD0D-82E8-F6AF-F470E4C864DB}"/>
              </a:ext>
            </a:extLst>
          </p:cNvPr>
          <p:cNvSpPr/>
          <p:nvPr/>
        </p:nvSpPr>
        <p:spPr>
          <a:xfrm>
            <a:off x="8749730" y="2100416"/>
            <a:ext cx="477763" cy="306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正方形/長方形 1038">
            <a:extLst>
              <a:ext uri="{FF2B5EF4-FFF2-40B4-BE49-F238E27FC236}">
                <a16:creationId xmlns:a16="http://schemas.microsoft.com/office/drawing/2014/main" id="{F192EA1A-4952-979B-7749-1EBE3B36B4D7}"/>
              </a:ext>
            </a:extLst>
          </p:cNvPr>
          <p:cNvSpPr/>
          <p:nvPr/>
        </p:nvSpPr>
        <p:spPr>
          <a:xfrm>
            <a:off x="10458059" y="2145446"/>
            <a:ext cx="226575" cy="253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テキスト ボックス 1039">
            <a:extLst>
              <a:ext uri="{FF2B5EF4-FFF2-40B4-BE49-F238E27FC236}">
                <a16:creationId xmlns:a16="http://schemas.microsoft.com/office/drawing/2014/main" id="{80F0D451-4458-21DA-C929-462D158E05CF}"/>
              </a:ext>
            </a:extLst>
          </p:cNvPr>
          <p:cNvSpPr txBox="1"/>
          <p:nvPr/>
        </p:nvSpPr>
        <p:spPr>
          <a:xfrm>
            <a:off x="8348154" y="2145446"/>
            <a:ext cx="4777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有：</a:t>
            </a:r>
            <a:endParaRPr kumimoji="1" lang="ja-JP" altLang="en-US" sz="1050" dirty="0"/>
          </a:p>
        </p:txBody>
      </p:sp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B3A160FF-BD88-C30F-B40B-E33E84FD60E5}"/>
              </a:ext>
            </a:extLst>
          </p:cNvPr>
          <p:cNvSpPr txBox="1"/>
          <p:nvPr/>
        </p:nvSpPr>
        <p:spPr>
          <a:xfrm>
            <a:off x="9208434" y="2145446"/>
            <a:ext cx="35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日</a:t>
            </a:r>
            <a:endParaRPr kumimoji="1" lang="ja-JP" altLang="en-US" sz="1050" dirty="0"/>
          </a:p>
        </p:txBody>
      </p:sp>
      <p:sp>
        <p:nvSpPr>
          <p:cNvPr id="1042" name="テキスト ボックス 1041">
            <a:extLst>
              <a:ext uri="{FF2B5EF4-FFF2-40B4-BE49-F238E27FC236}">
                <a16:creationId xmlns:a16="http://schemas.microsoft.com/office/drawing/2014/main" id="{EF4E1923-B8B2-37F6-4244-D2E582086E8E}"/>
              </a:ext>
            </a:extLst>
          </p:cNvPr>
          <p:cNvSpPr txBox="1"/>
          <p:nvPr/>
        </p:nvSpPr>
        <p:spPr>
          <a:xfrm>
            <a:off x="10092609" y="2177338"/>
            <a:ext cx="452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無</a:t>
            </a:r>
            <a:r>
              <a:rPr lang="ja-JP" altLang="en-US" sz="1050" dirty="0"/>
              <a:t>：</a:t>
            </a:r>
            <a:endParaRPr kumimoji="1" lang="en-US" altLang="ja-JP" sz="1050" dirty="0"/>
          </a:p>
        </p:txBody>
      </p:sp>
      <p:cxnSp>
        <p:nvCxnSpPr>
          <p:cNvPr id="1043" name="直線矢印コネクタ 1042">
            <a:extLst>
              <a:ext uri="{FF2B5EF4-FFF2-40B4-BE49-F238E27FC236}">
                <a16:creationId xmlns:a16="http://schemas.microsoft.com/office/drawing/2014/main" id="{BB9EE940-94BA-9728-0D75-A8B32D4E8657}"/>
              </a:ext>
            </a:extLst>
          </p:cNvPr>
          <p:cNvCxnSpPr>
            <a:cxnSpLocks/>
          </p:cNvCxnSpPr>
          <p:nvPr/>
        </p:nvCxnSpPr>
        <p:spPr>
          <a:xfrm>
            <a:off x="10496445" y="2272404"/>
            <a:ext cx="377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テキスト ボックス 1043">
            <a:extLst>
              <a:ext uri="{FF2B5EF4-FFF2-40B4-BE49-F238E27FC236}">
                <a16:creationId xmlns:a16="http://schemas.microsoft.com/office/drawing/2014/main" id="{378A36D3-DEDA-EE43-E521-350356E03A2B}"/>
              </a:ext>
            </a:extLst>
          </p:cNvPr>
          <p:cNvSpPr txBox="1"/>
          <p:nvPr/>
        </p:nvSpPr>
        <p:spPr>
          <a:xfrm>
            <a:off x="10853115" y="2166238"/>
            <a:ext cx="742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チェック</a:t>
            </a:r>
          </a:p>
        </p:txBody>
      </p:sp>
      <p:sp>
        <p:nvSpPr>
          <p:cNvPr id="1045" name="テキスト ボックス 1044">
            <a:extLst>
              <a:ext uri="{FF2B5EF4-FFF2-40B4-BE49-F238E27FC236}">
                <a16:creationId xmlns:a16="http://schemas.microsoft.com/office/drawing/2014/main" id="{994F265D-8651-AEC4-09B7-66FFBA88C88F}"/>
              </a:ext>
            </a:extLst>
          </p:cNvPr>
          <p:cNvSpPr txBox="1"/>
          <p:nvPr/>
        </p:nvSpPr>
        <p:spPr>
          <a:xfrm>
            <a:off x="9517499" y="2577030"/>
            <a:ext cx="3581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円</a:t>
            </a:r>
          </a:p>
        </p:txBody>
      </p:sp>
      <p:sp>
        <p:nvSpPr>
          <p:cNvPr id="1046" name="テキスト ボックス 1045">
            <a:extLst>
              <a:ext uri="{FF2B5EF4-FFF2-40B4-BE49-F238E27FC236}">
                <a16:creationId xmlns:a16="http://schemas.microsoft.com/office/drawing/2014/main" id="{C257B899-E2F3-7A56-C99F-6BA1AB45F72E}"/>
              </a:ext>
            </a:extLst>
          </p:cNvPr>
          <p:cNvSpPr txBox="1"/>
          <p:nvPr/>
        </p:nvSpPr>
        <p:spPr>
          <a:xfrm>
            <a:off x="9543153" y="2982304"/>
            <a:ext cx="3581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円</a:t>
            </a:r>
          </a:p>
        </p:txBody>
      </p:sp>
      <p:sp>
        <p:nvSpPr>
          <p:cNvPr id="1047" name="テキスト ボックス 1046">
            <a:extLst>
              <a:ext uri="{FF2B5EF4-FFF2-40B4-BE49-F238E27FC236}">
                <a16:creationId xmlns:a16="http://schemas.microsoft.com/office/drawing/2014/main" id="{11C898A2-1AD2-D96F-6B21-D324C89E4EE9}"/>
              </a:ext>
            </a:extLst>
          </p:cNvPr>
          <p:cNvSpPr txBox="1"/>
          <p:nvPr/>
        </p:nvSpPr>
        <p:spPr>
          <a:xfrm>
            <a:off x="10087676" y="2560639"/>
            <a:ext cx="452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無</a:t>
            </a:r>
            <a:r>
              <a:rPr lang="ja-JP" altLang="en-US" sz="1050" dirty="0"/>
              <a:t>：</a:t>
            </a:r>
            <a:endParaRPr kumimoji="1" lang="en-US" altLang="ja-JP" sz="1050" dirty="0"/>
          </a:p>
        </p:txBody>
      </p:sp>
      <p:sp>
        <p:nvSpPr>
          <p:cNvPr id="1048" name="テキスト ボックス 1047">
            <a:extLst>
              <a:ext uri="{FF2B5EF4-FFF2-40B4-BE49-F238E27FC236}">
                <a16:creationId xmlns:a16="http://schemas.microsoft.com/office/drawing/2014/main" id="{A9CFBDA5-3593-3C1A-BF67-ED53E5A74F0E}"/>
              </a:ext>
            </a:extLst>
          </p:cNvPr>
          <p:cNvSpPr txBox="1"/>
          <p:nvPr/>
        </p:nvSpPr>
        <p:spPr>
          <a:xfrm>
            <a:off x="10092609" y="2965601"/>
            <a:ext cx="452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無</a:t>
            </a:r>
            <a:r>
              <a:rPr lang="ja-JP" altLang="en-US" sz="1050" dirty="0"/>
              <a:t>：</a:t>
            </a:r>
            <a:endParaRPr kumimoji="1" lang="en-US" altLang="ja-JP" sz="1050" dirty="0"/>
          </a:p>
        </p:txBody>
      </p:sp>
      <p:sp>
        <p:nvSpPr>
          <p:cNvPr id="1049" name="正方形/長方形 1048">
            <a:extLst>
              <a:ext uri="{FF2B5EF4-FFF2-40B4-BE49-F238E27FC236}">
                <a16:creationId xmlns:a16="http://schemas.microsoft.com/office/drawing/2014/main" id="{ED146F71-4B0C-DCF2-4C7A-A199A18E2D2F}"/>
              </a:ext>
            </a:extLst>
          </p:cNvPr>
          <p:cNvSpPr/>
          <p:nvPr/>
        </p:nvSpPr>
        <p:spPr>
          <a:xfrm>
            <a:off x="10441924" y="2536285"/>
            <a:ext cx="226575" cy="253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正方形/長方形 1049">
            <a:extLst>
              <a:ext uri="{FF2B5EF4-FFF2-40B4-BE49-F238E27FC236}">
                <a16:creationId xmlns:a16="http://schemas.microsoft.com/office/drawing/2014/main" id="{555D516C-A832-FCC6-036F-AF1896CDA8C0}"/>
              </a:ext>
            </a:extLst>
          </p:cNvPr>
          <p:cNvSpPr/>
          <p:nvPr/>
        </p:nvSpPr>
        <p:spPr>
          <a:xfrm>
            <a:off x="10441925" y="2931791"/>
            <a:ext cx="226575" cy="253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51" name="直線矢印コネクタ 1050">
            <a:extLst>
              <a:ext uri="{FF2B5EF4-FFF2-40B4-BE49-F238E27FC236}">
                <a16:creationId xmlns:a16="http://schemas.microsoft.com/office/drawing/2014/main" id="{B79EFE9E-78EE-4555-90CD-426BEC3CCA3F}"/>
              </a:ext>
            </a:extLst>
          </p:cNvPr>
          <p:cNvCxnSpPr>
            <a:cxnSpLocks/>
          </p:cNvCxnSpPr>
          <p:nvPr/>
        </p:nvCxnSpPr>
        <p:spPr>
          <a:xfrm>
            <a:off x="10540141" y="2660467"/>
            <a:ext cx="377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E948E03B-B01F-6F39-99CB-E1A4B4F1D5B1}"/>
              </a:ext>
            </a:extLst>
          </p:cNvPr>
          <p:cNvCxnSpPr>
            <a:cxnSpLocks/>
          </p:cNvCxnSpPr>
          <p:nvPr/>
        </p:nvCxnSpPr>
        <p:spPr>
          <a:xfrm>
            <a:off x="10555211" y="3048992"/>
            <a:ext cx="377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テキスト ボックス 1052">
            <a:extLst>
              <a:ext uri="{FF2B5EF4-FFF2-40B4-BE49-F238E27FC236}">
                <a16:creationId xmlns:a16="http://schemas.microsoft.com/office/drawing/2014/main" id="{29C80B8B-9DC4-95BB-6062-6FDB309F8BA6}"/>
              </a:ext>
            </a:extLst>
          </p:cNvPr>
          <p:cNvSpPr txBox="1"/>
          <p:nvPr/>
        </p:nvSpPr>
        <p:spPr>
          <a:xfrm>
            <a:off x="10870892" y="2541663"/>
            <a:ext cx="742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チェック</a:t>
            </a:r>
          </a:p>
        </p:txBody>
      </p:sp>
      <p:sp>
        <p:nvSpPr>
          <p:cNvPr id="1054" name="テキスト ボックス 1053">
            <a:extLst>
              <a:ext uri="{FF2B5EF4-FFF2-40B4-BE49-F238E27FC236}">
                <a16:creationId xmlns:a16="http://schemas.microsoft.com/office/drawing/2014/main" id="{5E6EF62E-5181-87CD-20E9-F256454BA761}"/>
              </a:ext>
            </a:extLst>
          </p:cNvPr>
          <p:cNvSpPr txBox="1"/>
          <p:nvPr/>
        </p:nvSpPr>
        <p:spPr>
          <a:xfrm>
            <a:off x="10861803" y="2933710"/>
            <a:ext cx="742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チェック</a:t>
            </a:r>
          </a:p>
        </p:txBody>
      </p:sp>
    </p:spTree>
    <p:extLst>
      <p:ext uri="{BB962C8B-B14F-4D97-AF65-F5344CB8AC3E}">
        <p14:creationId xmlns:p14="http://schemas.microsoft.com/office/powerpoint/2010/main" val="3533465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0C75-B4E2-0CFE-9FE7-CDA5EA97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108A0919-996B-5D3C-A736-1836062C6BDC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現場担当者：退社申請</a:t>
            </a:r>
            <a:r>
              <a:rPr kumimoji="1" lang="ja-JP" altLang="en-US" dirty="0">
                <a:solidFill>
                  <a:schemeClr val="tx1"/>
                </a:solidFill>
              </a:rPr>
              <a:t>：</a:t>
            </a:r>
            <a:r>
              <a:rPr lang="ja-JP" altLang="en-US" dirty="0">
                <a:solidFill>
                  <a:schemeClr val="tx1"/>
                </a:solidFill>
              </a:rPr>
              <a:t>スマホ</a:t>
            </a:r>
            <a:r>
              <a:rPr kumimoji="1" lang="ja-JP" altLang="en-US" dirty="0">
                <a:solidFill>
                  <a:schemeClr val="tx1"/>
                </a:solidFill>
              </a:rPr>
              <a:t>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CBB1766-3942-DBF8-DC69-85933298EEDC}"/>
              </a:ext>
            </a:extLst>
          </p:cNvPr>
          <p:cNvSpPr/>
          <p:nvPr/>
        </p:nvSpPr>
        <p:spPr>
          <a:xfrm>
            <a:off x="4323661" y="1035698"/>
            <a:ext cx="3683108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F968BE-5A32-60DB-6E58-194324025F9E}"/>
              </a:ext>
            </a:extLst>
          </p:cNvPr>
          <p:cNvSpPr txBox="1"/>
          <p:nvPr/>
        </p:nvSpPr>
        <p:spPr>
          <a:xfrm>
            <a:off x="4574790" y="1652145"/>
            <a:ext cx="1019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⑴</a:t>
            </a:r>
            <a:r>
              <a:rPr lang="en-US" altLang="ja-JP" sz="1000" dirty="0"/>
              <a:t>Y</a:t>
            </a:r>
            <a:r>
              <a:rPr lang="ja-JP" altLang="en-US" sz="1000" dirty="0"/>
              <a:t>コード</a:t>
            </a:r>
            <a:endParaRPr kumimoji="1" lang="ja-JP" altLang="en-US" sz="1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45B728-2A6F-2C9E-01D6-082F03022D81}"/>
              </a:ext>
            </a:extLst>
          </p:cNvPr>
          <p:cNvSpPr/>
          <p:nvPr/>
        </p:nvSpPr>
        <p:spPr>
          <a:xfrm>
            <a:off x="5932630" y="1660676"/>
            <a:ext cx="1203461" cy="1575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AB232F-34D1-A142-08E8-F1ECCAD20AFB}"/>
              </a:ext>
            </a:extLst>
          </p:cNvPr>
          <p:cNvSpPr txBox="1"/>
          <p:nvPr/>
        </p:nvSpPr>
        <p:spPr>
          <a:xfrm>
            <a:off x="4555805" y="1870600"/>
            <a:ext cx="16209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⑵名前（</a:t>
            </a:r>
            <a:r>
              <a:rPr lang="ja-JP" altLang="en-US" sz="1000" dirty="0"/>
              <a:t>通称名</a:t>
            </a:r>
            <a:r>
              <a:rPr kumimoji="1" lang="ja-JP" altLang="en-US" sz="1000" dirty="0"/>
              <a:t>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CA0319F-EC0D-C5F7-313D-839EBC8A111F}"/>
              </a:ext>
            </a:extLst>
          </p:cNvPr>
          <p:cNvSpPr/>
          <p:nvPr/>
        </p:nvSpPr>
        <p:spPr>
          <a:xfrm>
            <a:off x="5932630" y="1897073"/>
            <a:ext cx="1872764" cy="1537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BEF5C53E-12ED-35B6-318F-45F3228BB92A}"/>
              </a:ext>
            </a:extLst>
          </p:cNvPr>
          <p:cNvSpPr/>
          <p:nvPr/>
        </p:nvSpPr>
        <p:spPr>
          <a:xfrm>
            <a:off x="7214369" y="6109761"/>
            <a:ext cx="591025" cy="2122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送信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F1253BA-45BE-0CA0-0A49-FD329B3591FC}"/>
              </a:ext>
            </a:extLst>
          </p:cNvPr>
          <p:cNvSpPr txBox="1"/>
          <p:nvPr/>
        </p:nvSpPr>
        <p:spPr>
          <a:xfrm>
            <a:off x="5735994" y="1308123"/>
            <a:ext cx="109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/>
              <a:t>退社連絡</a:t>
            </a:r>
            <a:endParaRPr kumimoji="1" lang="ja-JP" altLang="en-US" sz="1400" b="1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1B728E40-4599-BE1A-EBF2-06DC3C179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 flipH="1">
            <a:off x="7204183" y="1311949"/>
            <a:ext cx="367263" cy="22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F0706C92-911E-8A8C-650F-E17FA1C67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77880" y="1331917"/>
            <a:ext cx="278435" cy="19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20AE59-5DB4-ADD0-EB57-8D175BC6FD52}"/>
              </a:ext>
            </a:extLst>
          </p:cNvPr>
          <p:cNvSpPr txBox="1"/>
          <p:nvPr/>
        </p:nvSpPr>
        <p:spPr>
          <a:xfrm>
            <a:off x="4555805" y="2103186"/>
            <a:ext cx="18004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⑶</a:t>
            </a:r>
            <a:r>
              <a:rPr kumimoji="1" lang="ja-JP" altLang="en-US" sz="1000" dirty="0"/>
              <a:t>名前（</a:t>
            </a:r>
            <a:r>
              <a:rPr lang="ja-JP" altLang="en-US" sz="1000" dirty="0"/>
              <a:t>カタカナ</a:t>
            </a:r>
            <a:r>
              <a:rPr kumimoji="1" lang="ja-JP" altLang="en-US" sz="1000" dirty="0"/>
              <a:t>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BD6C21A-0D3B-8CC2-6FAD-3CB31BCBCB89}"/>
              </a:ext>
            </a:extLst>
          </p:cNvPr>
          <p:cNvSpPr txBox="1"/>
          <p:nvPr/>
        </p:nvSpPr>
        <p:spPr>
          <a:xfrm>
            <a:off x="4555804" y="2318948"/>
            <a:ext cx="18004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⑷</a:t>
            </a:r>
            <a:r>
              <a:rPr lang="ja-JP" altLang="en-US" sz="1000" dirty="0"/>
              <a:t>派遣先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EFE1323-3809-64CF-9C3F-C11B04E28D2E}"/>
              </a:ext>
            </a:extLst>
          </p:cNvPr>
          <p:cNvSpPr txBox="1"/>
          <p:nvPr/>
        </p:nvSpPr>
        <p:spPr>
          <a:xfrm>
            <a:off x="4555805" y="2551534"/>
            <a:ext cx="16209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⑸離職票</a:t>
            </a:r>
            <a:endParaRPr kumimoji="1" lang="ja-JP" altLang="en-US" sz="1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C0A0102-39EE-1394-FB44-87A15756BBA1}"/>
              </a:ext>
            </a:extLst>
          </p:cNvPr>
          <p:cNvSpPr txBox="1"/>
          <p:nvPr/>
        </p:nvSpPr>
        <p:spPr>
          <a:xfrm>
            <a:off x="4555804" y="2803564"/>
            <a:ext cx="1438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⑹派遣先終了日</a:t>
            </a:r>
            <a:endParaRPr kumimoji="1" lang="ja-JP" altLang="en-US" sz="1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FB6B095-4DE8-2C10-E35A-31288BF9235E}"/>
              </a:ext>
            </a:extLst>
          </p:cNvPr>
          <p:cNvSpPr txBox="1"/>
          <p:nvPr/>
        </p:nvSpPr>
        <p:spPr>
          <a:xfrm>
            <a:off x="4554579" y="3295344"/>
            <a:ext cx="1180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⑻退社区分</a:t>
            </a:r>
            <a:endParaRPr kumimoji="1" lang="ja-JP" altLang="en-US" sz="10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BD2C549-4A52-61AE-0561-5152997043B4}"/>
              </a:ext>
            </a:extLst>
          </p:cNvPr>
          <p:cNvSpPr txBox="1"/>
          <p:nvPr/>
        </p:nvSpPr>
        <p:spPr>
          <a:xfrm>
            <a:off x="4560463" y="3548729"/>
            <a:ext cx="15056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⑼退社理由</a:t>
            </a:r>
            <a:endParaRPr kumimoji="1" lang="ja-JP" altLang="en-US" sz="10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1970635-4778-5AF3-EF48-CA5BC3886C7B}"/>
              </a:ext>
            </a:extLst>
          </p:cNvPr>
          <p:cNvSpPr txBox="1"/>
          <p:nvPr/>
        </p:nvSpPr>
        <p:spPr>
          <a:xfrm>
            <a:off x="4569862" y="4018746"/>
            <a:ext cx="1082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⑾有給買上</a:t>
            </a:r>
            <a:endParaRPr kumimoji="1" lang="ja-JP" altLang="en-US" sz="10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D381A71-821C-3786-EBBC-C10E83894EA2}"/>
              </a:ext>
            </a:extLst>
          </p:cNvPr>
          <p:cNvSpPr txBox="1"/>
          <p:nvPr/>
        </p:nvSpPr>
        <p:spPr>
          <a:xfrm>
            <a:off x="4569862" y="4264967"/>
            <a:ext cx="1758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⑿クリーニング代</a:t>
            </a:r>
            <a:endParaRPr kumimoji="1" lang="ja-JP" altLang="en-US" sz="10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8D1BD91-C6C9-181B-3F35-990F801BDB75}"/>
              </a:ext>
            </a:extLst>
          </p:cNvPr>
          <p:cNvSpPr txBox="1"/>
          <p:nvPr/>
        </p:nvSpPr>
        <p:spPr>
          <a:xfrm>
            <a:off x="4555803" y="3041959"/>
            <a:ext cx="1367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⑺当社退社日</a:t>
            </a:r>
            <a:endParaRPr kumimoji="1" lang="ja-JP" altLang="en-US" sz="10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DD9D11A-DD3A-B3EB-5823-B66491804E1C}"/>
              </a:ext>
            </a:extLst>
          </p:cNvPr>
          <p:cNvSpPr txBox="1"/>
          <p:nvPr/>
        </p:nvSpPr>
        <p:spPr>
          <a:xfrm>
            <a:off x="4569862" y="4496589"/>
            <a:ext cx="1261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⒀制服代</a:t>
            </a:r>
            <a:endParaRPr kumimoji="1" lang="ja-JP" altLang="en-US" sz="10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0474AA6-5334-43BE-554B-A9625B45533E}"/>
              </a:ext>
            </a:extLst>
          </p:cNvPr>
          <p:cNvSpPr txBox="1"/>
          <p:nvPr/>
        </p:nvSpPr>
        <p:spPr>
          <a:xfrm>
            <a:off x="6030298" y="5841891"/>
            <a:ext cx="7601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申請者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FFE0E19-90B8-2FF3-9E8A-572F34683A0B}"/>
              </a:ext>
            </a:extLst>
          </p:cNvPr>
          <p:cNvSpPr txBox="1"/>
          <p:nvPr/>
        </p:nvSpPr>
        <p:spPr>
          <a:xfrm>
            <a:off x="4574790" y="3787124"/>
            <a:ext cx="1357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⑽有給消化</a:t>
            </a:r>
            <a:endParaRPr kumimoji="1" lang="ja-JP" altLang="en-US" sz="100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2758A81-2B57-B70E-0ECF-33C36BD3443F}"/>
              </a:ext>
            </a:extLst>
          </p:cNvPr>
          <p:cNvSpPr txBox="1"/>
          <p:nvPr/>
        </p:nvSpPr>
        <p:spPr>
          <a:xfrm>
            <a:off x="4569862" y="4759741"/>
            <a:ext cx="16209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⒁備考</a:t>
            </a:r>
            <a:endParaRPr kumimoji="1" lang="ja-JP" altLang="en-US" sz="1000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C701C28-7310-7BDE-86F7-5122D0F22A77}"/>
              </a:ext>
            </a:extLst>
          </p:cNvPr>
          <p:cNvSpPr/>
          <p:nvPr/>
        </p:nvSpPr>
        <p:spPr>
          <a:xfrm>
            <a:off x="5923151" y="4792891"/>
            <a:ext cx="1882243" cy="9825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4" name="四角形: 角を丸くする 35">
            <a:extLst>
              <a:ext uri="{FF2B5EF4-FFF2-40B4-BE49-F238E27FC236}">
                <a16:creationId xmlns:a16="http://schemas.microsoft.com/office/drawing/2014/main" id="{C2906763-A013-7E08-86A7-577C82C5406D}"/>
              </a:ext>
            </a:extLst>
          </p:cNvPr>
          <p:cNvSpPr/>
          <p:nvPr/>
        </p:nvSpPr>
        <p:spPr>
          <a:xfrm>
            <a:off x="4419368" y="1103303"/>
            <a:ext cx="970324" cy="15336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700" dirty="0">
                <a:solidFill>
                  <a:schemeClr val="tx1"/>
                </a:solidFill>
              </a:rPr>
              <a:t>＜＜＜</a:t>
            </a:r>
            <a:r>
              <a:rPr kumimoji="1" lang="en-US" altLang="ja-JP" sz="700" dirty="0">
                <a:solidFill>
                  <a:schemeClr val="tx1"/>
                </a:solidFill>
              </a:rPr>
              <a:t>TOP</a:t>
            </a:r>
            <a:r>
              <a:rPr kumimoji="1" lang="ja-JP" altLang="en-US" sz="7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5" name="四角形: 角を丸くする 35">
            <a:extLst>
              <a:ext uri="{FF2B5EF4-FFF2-40B4-BE49-F238E27FC236}">
                <a16:creationId xmlns:a16="http://schemas.microsoft.com/office/drawing/2014/main" id="{B79E0AB5-98B5-5C1B-4D5E-C43C51B7698E}"/>
              </a:ext>
            </a:extLst>
          </p:cNvPr>
          <p:cNvSpPr/>
          <p:nvPr/>
        </p:nvSpPr>
        <p:spPr>
          <a:xfrm>
            <a:off x="6475054" y="1103303"/>
            <a:ext cx="809477" cy="1618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700" dirty="0">
                <a:solidFill>
                  <a:schemeClr val="tx1"/>
                </a:solidFill>
              </a:rPr>
              <a:t>＜</a:t>
            </a:r>
            <a:r>
              <a:rPr lang="ja-JP" altLang="en-US" sz="700" dirty="0">
                <a:solidFill>
                  <a:schemeClr val="tx1"/>
                </a:solidFill>
              </a:rPr>
              <a:t>従業員詳細</a:t>
            </a:r>
            <a:endParaRPr kumimoji="1" lang="ja-JP" altLang="en-US" sz="700" dirty="0">
              <a:solidFill>
                <a:schemeClr val="tx1"/>
              </a:solidFill>
            </a:endParaRPr>
          </a:p>
        </p:txBody>
      </p:sp>
      <p:sp>
        <p:nvSpPr>
          <p:cNvPr id="56" name="四角形: 角を丸くする 35">
            <a:extLst>
              <a:ext uri="{FF2B5EF4-FFF2-40B4-BE49-F238E27FC236}">
                <a16:creationId xmlns:a16="http://schemas.microsoft.com/office/drawing/2014/main" id="{5312FA1F-D556-A223-2D37-C9D5A095A002}"/>
              </a:ext>
            </a:extLst>
          </p:cNvPr>
          <p:cNvSpPr/>
          <p:nvPr/>
        </p:nvSpPr>
        <p:spPr>
          <a:xfrm>
            <a:off x="5476944" y="1103303"/>
            <a:ext cx="910858" cy="1618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700" dirty="0">
                <a:solidFill>
                  <a:schemeClr val="tx1"/>
                </a:solidFill>
              </a:rPr>
              <a:t>＜＜従業員一覧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4E542C2-E979-8C28-9D56-60B8BB95C39C}"/>
              </a:ext>
            </a:extLst>
          </p:cNvPr>
          <p:cNvCxnSpPr>
            <a:cxnSpLocks/>
          </p:cNvCxnSpPr>
          <p:nvPr/>
        </p:nvCxnSpPr>
        <p:spPr>
          <a:xfrm>
            <a:off x="6190819" y="2628332"/>
            <a:ext cx="961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35FEF10-9187-B521-AADB-6918572AE5F1}"/>
              </a:ext>
            </a:extLst>
          </p:cNvPr>
          <p:cNvCxnSpPr>
            <a:cxnSpLocks/>
          </p:cNvCxnSpPr>
          <p:nvPr/>
        </p:nvCxnSpPr>
        <p:spPr>
          <a:xfrm>
            <a:off x="6362449" y="2420904"/>
            <a:ext cx="961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145D7C0-1028-E45F-954F-B17EB920F4AF}"/>
              </a:ext>
            </a:extLst>
          </p:cNvPr>
          <p:cNvSpPr txBox="1"/>
          <p:nvPr/>
        </p:nvSpPr>
        <p:spPr>
          <a:xfrm>
            <a:off x="7284531" y="2317402"/>
            <a:ext cx="97984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プルダウン</a:t>
            </a:r>
            <a:endParaRPr kumimoji="1" lang="ja-JP" altLang="en-US" sz="7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4CC8101-4566-A96F-67C9-CEFCB0789B72}"/>
              </a:ext>
            </a:extLst>
          </p:cNvPr>
          <p:cNvSpPr txBox="1"/>
          <p:nvPr/>
        </p:nvSpPr>
        <p:spPr>
          <a:xfrm>
            <a:off x="7137808" y="2520601"/>
            <a:ext cx="97984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必要　不要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BC83DC4-5F54-8B62-D39F-C7C6F457B7FB}"/>
              </a:ext>
            </a:extLst>
          </p:cNvPr>
          <p:cNvSpPr txBox="1"/>
          <p:nvPr/>
        </p:nvSpPr>
        <p:spPr>
          <a:xfrm>
            <a:off x="6566869" y="2831763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年</a:t>
            </a:r>
            <a:endParaRPr kumimoji="1" lang="ja-JP" altLang="en-US" sz="7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0E34B53-5C4D-E868-1FE1-5FF388F83487}"/>
              </a:ext>
            </a:extLst>
          </p:cNvPr>
          <p:cNvSpPr txBox="1"/>
          <p:nvPr/>
        </p:nvSpPr>
        <p:spPr>
          <a:xfrm>
            <a:off x="7766559" y="2799100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日</a:t>
            </a:r>
            <a:endParaRPr kumimoji="1" lang="ja-JP" altLang="en-US" sz="7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375B0AE-2088-519C-E3A1-9DDC6F90660A}"/>
              </a:ext>
            </a:extLst>
          </p:cNvPr>
          <p:cNvSpPr txBox="1"/>
          <p:nvPr/>
        </p:nvSpPr>
        <p:spPr>
          <a:xfrm>
            <a:off x="7207359" y="2817957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月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E985C61B-F6AD-6E38-DF6F-51AEE5F70437}"/>
              </a:ext>
            </a:extLst>
          </p:cNvPr>
          <p:cNvSpPr txBox="1"/>
          <p:nvPr/>
        </p:nvSpPr>
        <p:spPr>
          <a:xfrm>
            <a:off x="5859654" y="2824897"/>
            <a:ext cx="4621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令和</a:t>
            </a:r>
          </a:p>
        </p:txBody>
      </p:sp>
      <p:cxnSp>
        <p:nvCxnSpPr>
          <p:cNvPr id="1027" name="直線矢印コネクタ 1026">
            <a:extLst>
              <a:ext uri="{FF2B5EF4-FFF2-40B4-BE49-F238E27FC236}">
                <a16:creationId xmlns:a16="http://schemas.microsoft.com/office/drawing/2014/main" id="{5F644054-17BA-252D-4C14-FBA7CFF9930B}"/>
              </a:ext>
            </a:extLst>
          </p:cNvPr>
          <p:cNvCxnSpPr>
            <a:cxnSpLocks/>
          </p:cNvCxnSpPr>
          <p:nvPr/>
        </p:nvCxnSpPr>
        <p:spPr>
          <a:xfrm>
            <a:off x="6190819" y="3386976"/>
            <a:ext cx="961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テキスト ボックス 1028">
            <a:extLst>
              <a:ext uri="{FF2B5EF4-FFF2-40B4-BE49-F238E27FC236}">
                <a16:creationId xmlns:a16="http://schemas.microsoft.com/office/drawing/2014/main" id="{B4E3F967-5A36-70B8-9427-538ED13810B0}"/>
              </a:ext>
            </a:extLst>
          </p:cNvPr>
          <p:cNvSpPr txBox="1"/>
          <p:nvPr/>
        </p:nvSpPr>
        <p:spPr>
          <a:xfrm>
            <a:off x="7199033" y="3296281"/>
            <a:ext cx="162095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契約満了　会社都合　自己都合</a:t>
            </a:r>
          </a:p>
        </p:txBody>
      </p:sp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0A03B16D-10A9-1876-39F4-BD1D5E4B270B}"/>
              </a:ext>
            </a:extLst>
          </p:cNvPr>
          <p:cNvSpPr txBox="1"/>
          <p:nvPr/>
        </p:nvSpPr>
        <p:spPr>
          <a:xfrm>
            <a:off x="6887255" y="3802709"/>
            <a:ext cx="45277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無：</a:t>
            </a:r>
          </a:p>
        </p:txBody>
      </p:sp>
      <p:cxnSp>
        <p:nvCxnSpPr>
          <p:cNvPr id="1035" name="直線矢印コネクタ 1034">
            <a:extLst>
              <a:ext uri="{FF2B5EF4-FFF2-40B4-BE49-F238E27FC236}">
                <a16:creationId xmlns:a16="http://schemas.microsoft.com/office/drawing/2014/main" id="{E71508A0-71DB-CBA6-D4D9-8519AA7B5C8B}"/>
              </a:ext>
            </a:extLst>
          </p:cNvPr>
          <p:cNvCxnSpPr>
            <a:cxnSpLocks/>
            <a:endCxn id="1036" idx="1"/>
          </p:cNvCxnSpPr>
          <p:nvPr/>
        </p:nvCxnSpPr>
        <p:spPr>
          <a:xfrm flipV="1">
            <a:off x="7340027" y="3913121"/>
            <a:ext cx="666742" cy="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1313FF88-6AA2-0AB7-033C-76FC2C2BF464}"/>
              </a:ext>
            </a:extLst>
          </p:cNvPr>
          <p:cNvSpPr txBox="1"/>
          <p:nvPr/>
        </p:nvSpPr>
        <p:spPr>
          <a:xfrm>
            <a:off x="8006769" y="3813093"/>
            <a:ext cx="742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チェック</a:t>
            </a:r>
          </a:p>
        </p:txBody>
      </p:sp>
      <p:sp>
        <p:nvSpPr>
          <p:cNvPr id="1040" name="テキスト ボックス 1039">
            <a:extLst>
              <a:ext uri="{FF2B5EF4-FFF2-40B4-BE49-F238E27FC236}">
                <a16:creationId xmlns:a16="http://schemas.microsoft.com/office/drawing/2014/main" id="{62C9DFCA-E91A-B2A6-9D31-ACFACF6AB494}"/>
              </a:ext>
            </a:extLst>
          </p:cNvPr>
          <p:cNvSpPr txBox="1"/>
          <p:nvPr/>
        </p:nvSpPr>
        <p:spPr>
          <a:xfrm>
            <a:off x="5932630" y="3802279"/>
            <a:ext cx="4777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有：</a:t>
            </a:r>
            <a:endParaRPr kumimoji="1" lang="ja-JP" altLang="en-US" sz="700" dirty="0"/>
          </a:p>
        </p:txBody>
      </p:sp>
      <p:sp>
        <p:nvSpPr>
          <p:cNvPr id="1045" name="テキスト ボックス 1044">
            <a:extLst>
              <a:ext uri="{FF2B5EF4-FFF2-40B4-BE49-F238E27FC236}">
                <a16:creationId xmlns:a16="http://schemas.microsoft.com/office/drawing/2014/main" id="{FCFEB4FD-181B-9CEA-CD10-9E15E9843243}"/>
              </a:ext>
            </a:extLst>
          </p:cNvPr>
          <p:cNvSpPr txBox="1"/>
          <p:nvPr/>
        </p:nvSpPr>
        <p:spPr>
          <a:xfrm>
            <a:off x="6566869" y="4318468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円</a:t>
            </a:r>
          </a:p>
        </p:txBody>
      </p:sp>
      <p:sp>
        <p:nvSpPr>
          <p:cNvPr id="1046" name="テキスト ボックス 1045">
            <a:extLst>
              <a:ext uri="{FF2B5EF4-FFF2-40B4-BE49-F238E27FC236}">
                <a16:creationId xmlns:a16="http://schemas.microsoft.com/office/drawing/2014/main" id="{89F0B7DC-723A-F976-61F8-87D8E0741BC8}"/>
              </a:ext>
            </a:extLst>
          </p:cNvPr>
          <p:cNvSpPr txBox="1"/>
          <p:nvPr/>
        </p:nvSpPr>
        <p:spPr>
          <a:xfrm>
            <a:off x="6566869" y="4603327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円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2EC98B2-8C42-C9E0-95EF-4E6C92ACA64F}"/>
              </a:ext>
            </a:extLst>
          </p:cNvPr>
          <p:cNvSpPr/>
          <p:nvPr/>
        </p:nvSpPr>
        <p:spPr>
          <a:xfrm>
            <a:off x="5932630" y="2116821"/>
            <a:ext cx="1872764" cy="1537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E4393AB8-A2ED-EC72-CBFB-8FA384389EBD}"/>
              </a:ext>
            </a:extLst>
          </p:cNvPr>
          <p:cNvSpPr/>
          <p:nvPr/>
        </p:nvSpPr>
        <p:spPr>
          <a:xfrm>
            <a:off x="5932630" y="2332945"/>
            <a:ext cx="1203461" cy="1575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74EE46A-28B3-33F3-EB2E-85FD1FBE4366}"/>
              </a:ext>
            </a:extLst>
          </p:cNvPr>
          <p:cNvSpPr/>
          <p:nvPr/>
        </p:nvSpPr>
        <p:spPr>
          <a:xfrm>
            <a:off x="5923152" y="2548071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765DB47-A36C-F8F3-6DCC-0B24D8A2A4ED}"/>
              </a:ext>
            </a:extLst>
          </p:cNvPr>
          <p:cNvSpPr/>
          <p:nvPr/>
        </p:nvSpPr>
        <p:spPr>
          <a:xfrm>
            <a:off x="6197443" y="2803564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3F304AF-7392-61E1-0B18-A8242D04453B}"/>
              </a:ext>
            </a:extLst>
          </p:cNvPr>
          <p:cNvSpPr/>
          <p:nvPr/>
        </p:nvSpPr>
        <p:spPr>
          <a:xfrm>
            <a:off x="7450571" y="2781237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33" name="正方形/長方形 1032">
            <a:extLst>
              <a:ext uri="{FF2B5EF4-FFF2-40B4-BE49-F238E27FC236}">
                <a16:creationId xmlns:a16="http://schemas.microsoft.com/office/drawing/2014/main" id="{40ECB84D-8E0A-EB38-F7A8-C23B941D9468}"/>
              </a:ext>
            </a:extLst>
          </p:cNvPr>
          <p:cNvSpPr/>
          <p:nvPr/>
        </p:nvSpPr>
        <p:spPr>
          <a:xfrm>
            <a:off x="6847381" y="2786096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37" name="テキスト ボックス 1036">
            <a:extLst>
              <a:ext uri="{FF2B5EF4-FFF2-40B4-BE49-F238E27FC236}">
                <a16:creationId xmlns:a16="http://schemas.microsoft.com/office/drawing/2014/main" id="{8633148C-9126-C6DE-9D78-130F6F033719}"/>
              </a:ext>
            </a:extLst>
          </p:cNvPr>
          <p:cNvSpPr txBox="1"/>
          <p:nvPr/>
        </p:nvSpPr>
        <p:spPr>
          <a:xfrm>
            <a:off x="6546351" y="3059475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年</a:t>
            </a:r>
            <a:endParaRPr kumimoji="1" lang="ja-JP" altLang="en-US" sz="700" dirty="0"/>
          </a:p>
        </p:txBody>
      </p:sp>
      <p:sp>
        <p:nvSpPr>
          <p:cNvPr id="1055" name="テキスト ボックス 1054">
            <a:extLst>
              <a:ext uri="{FF2B5EF4-FFF2-40B4-BE49-F238E27FC236}">
                <a16:creationId xmlns:a16="http://schemas.microsoft.com/office/drawing/2014/main" id="{EFA9B840-A4F0-CB6E-351B-215A5B3C42F9}"/>
              </a:ext>
            </a:extLst>
          </p:cNvPr>
          <p:cNvSpPr txBox="1"/>
          <p:nvPr/>
        </p:nvSpPr>
        <p:spPr>
          <a:xfrm>
            <a:off x="7207359" y="3046961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月</a:t>
            </a:r>
          </a:p>
        </p:txBody>
      </p:sp>
      <p:sp>
        <p:nvSpPr>
          <p:cNvPr id="1056" name="テキスト ボックス 1055">
            <a:extLst>
              <a:ext uri="{FF2B5EF4-FFF2-40B4-BE49-F238E27FC236}">
                <a16:creationId xmlns:a16="http://schemas.microsoft.com/office/drawing/2014/main" id="{AE68EA7A-8C85-4BAD-CB9D-489F50797D20}"/>
              </a:ext>
            </a:extLst>
          </p:cNvPr>
          <p:cNvSpPr txBox="1"/>
          <p:nvPr/>
        </p:nvSpPr>
        <p:spPr>
          <a:xfrm>
            <a:off x="5864918" y="3052082"/>
            <a:ext cx="4621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令和</a:t>
            </a:r>
          </a:p>
        </p:txBody>
      </p:sp>
      <p:sp>
        <p:nvSpPr>
          <p:cNvPr id="1057" name="正方形/長方形 1056">
            <a:extLst>
              <a:ext uri="{FF2B5EF4-FFF2-40B4-BE49-F238E27FC236}">
                <a16:creationId xmlns:a16="http://schemas.microsoft.com/office/drawing/2014/main" id="{9A1F21AC-D799-E653-0D82-B04E89BB4F6B}"/>
              </a:ext>
            </a:extLst>
          </p:cNvPr>
          <p:cNvSpPr/>
          <p:nvPr/>
        </p:nvSpPr>
        <p:spPr>
          <a:xfrm>
            <a:off x="6205211" y="3031818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58" name="正方形/長方形 1057">
            <a:extLst>
              <a:ext uri="{FF2B5EF4-FFF2-40B4-BE49-F238E27FC236}">
                <a16:creationId xmlns:a16="http://schemas.microsoft.com/office/drawing/2014/main" id="{794EBD3F-0842-07AE-82D0-CAD0A8F4CB0B}"/>
              </a:ext>
            </a:extLst>
          </p:cNvPr>
          <p:cNvSpPr/>
          <p:nvPr/>
        </p:nvSpPr>
        <p:spPr>
          <a:xfrm>
            <a:off x="7458717" y="2999155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59" name="正方形/長方形 1058">
            <a:extLst>
              <a:ext uri="{FF2B5EF4-FFF2-40B4-BE49-F238E27FC236}">
                <a16:creationId xmlns:a16="http://schemas.microsoft.com/office/drawing/2014/main" id="{D43047DB-99B9-78C4-4104-34AC9637E70C}"/>
              </a:ext>
            </a:extLst>
          </p:cNvPr>
          <p:cNvSpPr/>
          <p:nvPr/>
        </p:nvSpPr>
        <p:spPr>
          <a:xfrm>
            <a:off x="6854776" y="3017459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60" name="テキスト ボックス 1059">
            <a:extLst>
              <a:ext uri="{FF2B5EF4-FFF2-40B4-BE49-F238E27FC236}">
                <a16:creationId xmlns:a16="http://schemas.microsoft.com/office/drawing/2014/main" id="{125AE1AF-B6BD-CD24-75D8-44B034A53987}"/>
              </a:ext>
            </a:extLst>
          </p:cNvPr>
          <p:cNvSpPr txBox="1"/>
          <p:nvPr/>
        </p:nvSpPr>
        <p:spPr>
          <a:xfrm>
            <a:off x="7766559" y="3053128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日</a:t>
            </a:r>
            <a:endParaRPr kumimoji="1" lang="ja-JP" altLang="en-US" sz="700" dirty="0"/>
          </a:p>
        </p:txBody>
      </p:sp>
      <p:sp>
        <p:nvSpPr>
          <p:cNvPr id="1061" name="正方形/長方形 1060">
            <a:extLst>
              <a:ext uri="{FF2B5EF4-FFF2-40B4-BE49-F238E27FC236}">
                <a16:creationId xmlns:a16="http://schemas.microsoft.com/office/drawing/2014/main" id="{9AA9BA6D-7EBF-ED39-BC71-6A152C35C4A1}"/>
              </a:ext>
            </a:extLst>
          </p:cNvPr>
          <p:cNvSpPr/>
          <p:nvPr/>
        </p:nvSpPr>
        <p:spPr>
          <a:xfrm>
            <a:off x="5923151" y="3285037"/>
            <a:ext cx="643718" cy="2099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62" name="正方形/長方形 1061">
            <a:extLst>
              <a:ext uri="{FF2B5EF4-FFF2-40B4-BE49-F238E27FC236}">
                <a16:creationId xmlns:a16="http://schemas.microsoft.com/office/drawing/2014/main" id="{85B1F472-57AF-BFE4-43BD-86CC369EDACB}"/>
              </a:ext>
            </a:extLst>
          </p:cNvPr>
          <p:cNvSpPr/>
          <p:nvPr/>
        </p:nvSpPr>
        <p:spPr>
          <a:xfrm>
            <a:off x="5923151" y="3577875"/>
            <a:ext cx="1872764" cy="1537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63" name="正方形/長方形 1062">
            <a:extLst>
              <a:ext uri="{FF2B5EF4-FFF2-40B4-BE49-F238E27FC236}">
                <a16:creationId xmlns:a16="http://schemas.microsoft.com/office/drawing/2014/main" id="{4CEAB459-586F-10E3-7642-84F455360DA3}"/>
              </a:ext>
            </a:extLst>
          </p:cNvPr>
          <p:cNvSpPr/>
          <p:nvPr/>
        </p:nvSpPr>
        <p:spPr>
          <a:xfrm>
            <a:off x="6207199" y="3796974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64" name="テキスト ボックス 1063">
            <a:extLst>
              <a:ext uri="{FF2B5EF4-FFF2-40B4-BE49-F238E27FC236}">
                <a16:creationId xmlns:a16="http://schemas.microsoft.com/office/drawing/2014/main" id="{1B698342-D23D-7177-E009-2A86B66DD979}"/>
              </a:ext>
            </a:extLst>
          </p:cNvPr>
          <p:cNvSpPr txBox="1"/>
          <p:nvPr/>
        </p:nvSpPr>
        <p:spPr>
          <a:xfrm>
            <a:off x="6533148" y="3816610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日</a:t>
            </a:r>
            <a:endParaRPr kumimoji="1" lang="ja-JP" altLang="en-US" sz="700" dirty="0"/>
          </a:p>
        </p:txBody>
      </p:sp>
      <p:sp>
        <p:nvSpPr>
          <p:cNvPr id="1065" name="正方形/長方形 1064">
            <a:extLst>
              <a:ext uri="{FF2B5EF4-FFF2-40B4-BE49-F238E27FC236}">
                <a16:creationId xmlns:a16="http://schemas.microsoft.com/office/drawing/2014/main" id="{18FFA87F-9DFB-BF7C-EAF9-B339A3900048}"/>
              </a:ext>
            </a:extLst>
          </p:cNvPr>
          <p:cNvSpPr/>
          <p:nvPr/>
        </p:nvSpPr>
        <p:spPr>
          <a:xfrm>
            <a:off x="7224701" y="3797745"/>
            <a:ext cx="199224" cy="183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68" name="テキスト ボックス 1067">
            <a:extLst>
              <a:ext uri="{FF2B5EF4-FFF2-40B4-BE49-F238E27FC236}">
                <a16:creationId xmlns:a16="http://schemas.microsoft.com/office/drawing/2014/main" id="{FA304074-6AB7-079F-234B-59772F774273}"/>
              </a:ext>
            </a:extLst>
          </p:cNvPr>
          <p:cNvSpPr txBox="1"/>
          <p:nvPr/>
        </p:nvSpPr>
        <p:spPr>
          <a:xfrm>
            <a:off x="6878861" y="4020598"/>
            <a:ext cx="45277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無：</a:t>
            </a:r>
          </a:p>
        </p:txBody>
      </p:sp>
      <p:cxnSp>
        <p:nvCxnSpPr>
          <p:cNvPr id="1069" name="直線矢印コネクタ 1068">
            <a:extLst>
              <a:ext uri="{FF2B5EF4-FFF2-40B4-BE49-F238E27FC236}">
                <a16:creationId xmlns:a16="http://schemas.microsoft.com/office/drawing/2014/main" id="{D370FB1D-0BFC-276F-60F7-8D6E7EAFC38D}"/>
              </a:ext>
            </a:extLst>
          </p:cNvPr>
          <p:cNvCxnSpPr>
            <a:cxnSpLocks/>
            <a:endCxn id="1070" idx="1"/>
          </p:cNvCxnSpPr>
          <p:nvPr/>
        </p:nvCxnSpPr>
        <p:spPr>
          <a:xfrm flipV="1">
            <a:off x="7331633" y="4131010"/>
            <a:ext cx="666742" cy="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テキスト ボックス 1069">
            <a:extLst>
              <a:ext uri="{FF2B5EF4-FFF2-40B4-BE49-F238E27FC236}">
                <a16:creationId xmlns:a16="http://schemas.microsoft.com/office/drawing/2014/main" id="{3D35BA61-5AEB-CCCA-7B81-8F80382B3717}"/>
              </a:ext>
            </a:extLst>
          </p:cNvPr>
          <p:cNvSpPr txBox="1"/>
          <p:nvPr/>
        </p:nvSpPr>
        <p:spPr>
          <a:xfrm>
            <a:off x="7998375" y="4030982"/>
            <a:ext cx="742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チェック</a:t>
            </a:r>
          </a:p>
        </p:txBody>
      </p:sp>
      <p:sp>
        <p:nvSpPr>
          <p:cNvPr id="1071" name="テキスト ボックス 1070">
            <a:extLst>
              <a:ext uri="{FF2B5EF4-FFF2-40B4-BE49-F238E27FC236}">
                <a16:creationId xmlns:a16="http://schemas.microsoft.com/office/drawing/2014/main" id="{6A57C518-7DBD-26DC-3DD8-B025840DCC65}"/>
              </a:ext>
            </a:extLst>
          </p:cNvPr>
          <p:cNvSpPr txBox="1"/>
          <p:nvPr/>
        </p:nvSpPr>
        <p:spPr>
          <a:xfrm>
            <a:off x="5924236" y="4020168"/>
            <a:ext cx="4777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有：</a:t>
            </a:r>
            <a:endParaRPr kumimoji="1" lang="ja-JP" altLang="en-US" sz="700" dirty="0"/>
          </a:p>
        </p:txBody>
      </p:sp>
      <p:sp>
        <p:nvSpPr>
          <p:cNvPr id="1072" name="正方形/長方形 1071">
            <a:extLst>
              <a:ext uri="{FF2B5EF4-FFF2-40B4-BE49-F238E27FC236}">
                <a16:creationId xmlns:a16="http://schemas.microsoft.com/office/drawing/2014/main" id="{B5EA9DE0-3A93-E05B-14D3-392544FDD08C}"/>
              </a:ext>
            </a:extLst>
          </p:cNvPr>
          <p:cNvSpPr/>
          <p:nvPr/>
        </p:nvSpPr>
        <p:spPr>
          <a:xfrm>
            <a:off x="6198805" y="4014863"/>
            <a:ext cx="351828" cy="18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73" name="テキスト ボックス 1072">
            <a:extLst>
              <a:ext uri="{FF2B5EF4-FFF2-40B4-BE49-F238E27FC236}">
                <a16:creationId xmlns:a16="http://schemas.microsoft.com/office/drawing/2014/main" id="{543FA3B2-447E-AE4C-2B9E-BC73F24C8B77}"/>
              </a:ext>
            </a:extLst>
          </p:cNvPr>
          <p:cNvSpPr txBox="1"/>
          <p:nvPr/>
        </p:nvSpPr>
        <p:spPr>
          <a:xfrm>
            <a:off x="6524754" y="4034499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日</a:t>
            </a:r>
            <a:endParaRPr kumimoji="1" lang="ja-JP" altLang="en-US" sz="700" dirty="0"/>
          </a:p>
        </p:txBody>
      </p:sp>
      <p:sp>
        <p:nvSpPr>
          <p:cNvPr id="1074" name="正方形/長方形 1073">
            <a:extLst>
              <a:ext uri="{FF2B5EF4-FFF2-40B4-BE49-F238E27FC236}">
                <a16:creationId xmlns:a16="http://schemas.microsoft.com/office/drawing/2014/main" id="{5535C5CD-3325-A221-0EAF-3654C9E6E37E}"/>
              </a:ext>
            </a:extLst>
          </p:cNvPr>
          <p:cNvSpPr/>
          <p:nvPr/>
        </p:nvSpPr>
        <p:spPr>
          <a:xfrm>
            <a:off x="7216307" y="4033345"/>
            <a:ext cx="212015" cy="2032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75" name="正方形/長方形 1074">
            <a:extLst>
              <a:ext uri="{FF2B5EF4-FFF2-40B4-BE49-F238E27FC236}">
                <a16:creationId xmlns:a16="http://schemas.microsoft.com/office/drawing/2014/main" id="{3A1A9B02-B349-BFAA-3CDA-97443C8483F8}"/>
              </a:ext>
            </a:extLst>
          </p:cNvPr>
          <p:cNvSpPr/>
          <p:nvPr/>
        </p:nvSpPr>
        <p:spPr>
          <a:xfrm>
            <a:off x="5923369" y="4530499"/>
            <a:ext cx="643718" cy="2099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76" name="正方形/長方形 1075">
            <a:extLst>
              <a:ext uri="{FF2B5EF4-FFF2-40B4-BE49-F238E27FC236}">
                <a16:creationId xmlns:a16="http://schemas.microsoft.com/office/drawing/2014/main" id="{B64CC115-FD6B-7E60-6F42-C8B640AE4BE9}"/>
              </a:ext>
            </a:extLst>
          </p:cNvPr>
          <p:cNvSpPr/>
          <p:nvPr/>
        </p:nvSpPr>
        <p:spPr>
          <a:xfrm>
            <a:off x="5932630" y="4271740"/>
            <a:ext cx="643718" cy="2099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077" name="正方形/長方形 1076">
            <a:extLst>
              <a:ext uri="{FF2B5EF4-FFF2-40B4-BE49-F238E27FC236}">
                <a16:creationId xmlns:a16="http://schemas.microsoft.com/office/drawing/2014/main" id="{36F6F5AA-5AB7-69D8-DBF7-107D5DDEC42D}"/>
              </a:ext>
            </a:extLst>
          </p:cNvPr>
          <p:cNvSpPr/>
          <p:nvPr/>
        </p:nvSpPr>
        <p:spPr>
          <a:xfrm>
            <a:off x="6601933" y="5873631"/>
            <a:ext cx="1203461" cy="1575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393429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ECC18-3370-FD51-492A-614B92FC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83F7C481-5390-1B3D-E867-3038BC8F945C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現場担当者：退社申請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59439C-DF24-F643-D2A1-3B92E43BDE22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9C6155-621E-17D1-B206-CD53E7A6B420}"/>
              </a:ext>
            </a:extLst>
          </p:cNvPr>
          <p:cNvSpPr txBox="1"/>
          <p:nvPr/>
        </p:nvSpPr>
        <p:spPr>
          <a:xfrm>
            <a:off x="650240" y="2164070"/>
            <a:ext cx="1019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⑴名前</a:t>
            </a:r>
            <a:endParaRPr kumimoji="1" lang="ja-JP" altLang="en-US" sz="14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AC0E011-CD1F-F560-ED40-A3E6A16EC2F1}"/>
              </a:ext>
            </a:extLst>
          </p:cNvPr>
          <p:cNvSpPr/>
          <p:nvPr/>
        </p:nvSpPr>
        <p:spPr>
          <a:xfrm>
            <a:off x="3042188" y="2115586"/>
            <a:ext cx="1169345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9F6BC6-1ADB-26AC-8189-C193595456FF}"/>
              </a:ext>
            </a:extLst>
          </p:cNvPr>
          <p:cNvSpPr txBox="1"/>
          <p:nvPr/>
        </p:nvSpPr>
        <p:spPr>
          <a:xfrm>
            <a:off x="650240" y="2578809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⑵変更日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1E41341-1EA1-69AA-BD87-D3A349FAE55F}"/>
              </a:ext>
            </a:extLst>
          </p:cNvPr>
          <p:cNvSpPr/>
          <p:nvPr/>
        </p:nvSpPr>
        <p:spPr>
          <a:xfrm>
            <a:off x="3042191" y="2530580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80E4014F-226E-78A2-27DE-04835A684DA7}"/>
              </a:ext>
            </a:extLst>
          </p:cNvPr>
          <p:cNvSpPr/>
          <p:nvPr/>
        </p:nvSpPr>
        <p:spPr>
          <a:xfrm>
            <a:off x="10987843" y="6048788"/>
            <a:ext cx="742961" cy="36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送信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88B973-7954-A2B2-A13B-7FC17E17F676}"/>
              </a:ext>
            </a:extLst>
          </p:cNvPr>
          <p:cNvSpPr txBox="1"/>
          <p:nvPr/>
        </p:nvSpPr>
        <p:spPr>
          <a:xfrm>
            <a:off x="4521729" y="1609488"/>
            <a:ext cx="352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雇用条件変更申請</a:t>
            </a:r>
            <a:endParaRPr kumimoji="1" lang="ja-JP" altLang="en-US" sz="2400" b="1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E20FA941-2C33-4EA0-6558-9135E4F52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7EE024AC-70F9-C653-5923-5929F3C14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EFC9A0D-0751-4700-88F9-52DD3EB59D84}"/>
              </a:ext>
            </a:extLst>
          </p:cNvPr>
          <p:cNvSpPr txBox="1"/>
          <p:nvPr/>
        </p:nvSpPr>
        <p:spPr>
          <a:xfrm>
            <a:off x="650240" y="2993548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⑶</a:t>
            </a:r>
            <a:r>
              <a:rPr lang="en-US" altLang="ja-JP" sz="1400" dirty="0"/>
              <a:t>Y</a:t>
            </a:r>
            <a:r>
              <a:rPr lang="ja-JP" altLang="en-US" sz="1400" dirty="0"/>
              <a:t>コード</a:t>
            </a:r>
            <a:endParaRPr kumimoji="1" lang="ja-JP" altLang="en-US" sz="1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6C3DD7-9DCC-0455-B13E-D93C9C148334}"/>
              </a:ext>
            </a:extLst>
          </p:cNvPr>
          <p:cNvSpPr txBox="1"/>
          <p:nvPr/>
        </p:nvSpPr>
        <p:spPr>
          <a:xfrm>
            <a:off x="650240" y="3428227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⑷派遣先</a:t>
            </a:r>
            <a:endParaRPr kumimoji="1" lang="ja-JP" altLang="en-US" sz="1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6F3B40-9B1F-125E-1D0A-11F15822CC26}"/>
              </a:ext>
            </a:extLst>
          </p:cNvPr>
          <p:cNvSpPr txBox="1"/>
          <p:nvPr/>
        </p:nvSpPr>
        <p:spPr>
          <a:xfrm>
            <a:off x="650240" y="3862906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⑸所属</a:t>
            </a:r>
            <a:endParaRPr kumimoji="1" lang="ja-JP" altLang="en-US" sz="14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45063DC-E369-81C3-7A21-933EDA183F2E}"/>
              </a:ext>
            </a:extLst>
          </p:cNvPr>
          <p:cNvSpPr/>
          <p:nvPr/>
        </p:nvSpPr>
        <p:spPr>
          <a:xfrm>
            <a:off x="3042191" y="3393870"/>
            <a:ext cx="2904392" cy="307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6A23245-0DA4-7683-A44E-A5061E534B26}"/>
              </a:ext>
            </a:extLst>
          </p:cNvPr>
          <p:cNvSpPr/>
          <p:nvPr/>
        </p:nvSpPr>
        <p:spPr>
          <a:xfrm>
            <a:off x="3042187" y="2931791"/>
            <a:ext cx="2915264" cy="3077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2DB2900-5ED2-67FD-D4AF-FFE792991B9F}"/>
              </a:ext>
            </a:extLst>
          </p:cNvPr>
          <p:cNvSpPr/>
          <p:nvPr/>
        </p:nvSpPr>
        <p:spPr>
          <a:xfrm>
            <a:off x="3042191" y="3826832"/>
            <a:ext cx="2904392" cy="3064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20635BD-0C82-D128-AEC1-BCDF908D0E08}"/>
              </a:ext>
            </a:extLst>
          </p:cNvPr>
          <p:cNvSpPr txBox="1"/>
          <p:nvPr/>
        </p:nvSpPr>
        <p:spPr>
          <a:xfrm>
            <a:off x="646452" y="4297584"/>
            <a:ext cx="1089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⑹変更理由</a:t>
            </a:r>
            <a:endParaRPr kumimoji="1" lang="ja-JP" altLang="en-US" sz="1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A099DEE-353B-4F16-6A11-3496DD1DBEED}"/>
              </a:ext>
            </a:extLst>
          </p:cNvPr>
          <p:cNvSpPr/>
          <p:nvPr/>
        </p:nvSpPr>
        <p:spPr>
          <a:xfrm>
            <a:off x="3042187" y="4267900"/>
            <a:ext cx="2893524" cy="9485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6F2C51A-8231-F043-8AF6-D6E99DD80B85}"/>
              </a:ext>
            </a:extLst>
          </p:cNvPr>
          <p:cNvSpPr txBox="1"/>
          <p:nvPr/>
        </p:nvSpPr>
        <p:spPr>
          <a:xfrm>
            <a:off x="7412999" y="2102320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変更内容</a:t>
            </a:r>
            <a:endParaRPr kumimoji="1"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8C20275-3F52-46BB-16A1-7537BD755721}"/>
              </a:ext>
            </a:extLst>
          </p:cNvPr>
          <p:cNvSpPr txBox="1"/>
          <p:nvPr/>
        </p:nvSpPr>
        <p:spPr>
          <a:xfrm>
            <a:off x="681228" y="5273716"/>
            <a:ext cx="902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⑺備考</a:t>
            </a:r>
            <a:endParaRPr kumimoji="1" lang="ja-JP" altLang="en-US" sz="1400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2CBB7A8-F0FF-ACCC-F7B4-F114761B495F}"/>
              </a:ext>
            </a:extLst>
          </p:cNvPr>
          <p:cNvSpPr/>
          <p:nvPr/>
        </p:nvSpPr>
        <p:spPr>
          <a:xfrm>
            <a:off x="3017865" y="5377223"/>
            <a:ext cx="2904392" cy="9485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0A64D5E-E509-13B3-8E3A-0C151AE0E44A}"/>
              </a:ext>
            </a:extLst>
          </p:cNvPr>
          <p:cNvSpPr txBox="1"/>
          <p:nvPr/>
        </p:nvSpPr>
        <p:spPr>
          <a:xfrm>
            <a:off x="8329694" y="6089712"/>
            <a:ext cx="760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申請者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BCE752A-0554-2782-388C-CE84B8E6C1CC}"/>
              </a:ext>
            </a:extLst>
          </p:cNvPr>
          <p:cNvSpPr/>
          <p:nvPr/>
        </p:nvSpPr>
        <p:spPr>
          <a:xfrm>
            <a:off x="9019060" y="6097807"/>
            <a:ext cx="1859040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8CE7C4B-F831-3DF2-8151-8E882D31180D}"/>
              </a:ext>
            </a:extLst>
          </p:cNvPr>
          <p:cNvSpPr/>
          <p:nvPr/>
        </p:nvSpPr>
        <p:spPr>
          <a:xfrm>
            <a:off x="8329694" y="2120521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E919F1B-C14B-D2C3-4924-3B35EF9C8A74}"/>
              </a:ext>
            </a:extLst>
          </p:cNvPr>
          <p:cNvSpPr/>
          <p:nvPr/>
        </p:nvSpPr>
        <p:spPr>
          <a:xfrm>
            <a:off x="8327109" y="2530580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四角形: 角を丸くする 35">
            <a:extLst>
              <a:ext uri="{FF2B5EF4-FFF2-40B4-BE49-F238E27FC236}">
                <a16:creationId xmlns:a16="http://schemas.microsoft.com/office/drawing/2014/main" id="{AD296149-0A38-5020-2160-1D12F4273B93}"/>
              </a:ext>
            </a:extLst>
          </p:cNvPr>
          <p:cNvSpPr/>
          <p:nvPr/>
        </p:nvSpPr>
        <p:spPr>
          <a:xfrm>
            <a:off x="681228" y="1166392"/>
            <a:ext cx="1335443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＜＜＜</a:t>
            </a:r>
            <a:r>
              <a:rPr kumimoji="1" lang="en-US" altLang="ja-JP" sz="1100" dirty="0">
                <a:solidFill>
                  <a:schemeClr val="tx1"/>
                </a:solidFill>
              </a:rPr>
              <a:t>TOP</a:t>
            </a:r>
            <a:r>
              <a:rPr kumimoji="1" lang="ja-JP" altLang="en-US" sz="11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5" name="四角形: 角を丸くする 35">
            <a:extLst>
              <a:ext uri="{FF2B5EF4-FFF2-40B4-BE49-F238E27FC236}">
                <a16:creationId xmlns:a16="http://schemas.microsoft.com/office/drawing/2014/main" id="{D96FEADE-224A-C399-233A-494CECC7EA35}"/>
              </a:ext>
            </a:extLst>
          </p:cNvPr>
          <p:cNvSpPr/>
          <p:nvPr/>
        </p:nvSpPr>
        <p:spPr>
          <a:xfrm>
            <a:off x="3344454" y="1156713"/>
            <a:ext cx="1125607" cy="33441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</a:t>
            </a:r>
            <a:r>
              <a:rPr lang="ja-JP" altLang="en-US" sz="1100" dirty="0">
                <a:solidFill>
                  <a:schemeClr val="tx1"/>
                </a:solidFill>
              </a:rPr>
              <a:t>従業員詳細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四角形: 角を丸くする 35">
            <a:extLst>
              <a:ext uri="{FF2B5EF4-FFF2-40B4-BE49-F238E27FC236}">
                <a16:creationId xmlns:a16="http://schemas.microsoft.com/office/drawing/2014/main" id="{BEF4D69F-5196-A53F-6AE2-41153CB79699}"/>
              </a:ext>
            </a:extLst>
          </p:cNvPr>
          <p:cNvSpPr/>
          <p:nvPr/>
        </p:nvSpPr>
        <p:spPr>
          <a:xfrm>
            <a:off x="2071178" y="1166885"/>
            <a:ext cx="1191085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＜＜従業員一覧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9991AE7-8829-1703-C403-A80A701CBA84}"/>
              </a:ext>
            </a:extLst>
          </p:cNvPr>
          <p:cNvSpPr txBox="1"/>
          <p:nvPr/>
        </p:nvSpPr>
        <p:spPr>
          <a:xfrm>
            <a:off x="7585938" y="2502307"/>
            <a:ext cx="741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変更前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85925DF-B2A6-23D4-1ABB-FA401A67187E}"/>
              </a:ext>
            </a:extLst>
          </p:cNvPr>
          <p:cNvSpPr txBox="1"/>
          <p:nvPr/>
        </p:nvSpPr>
        <p:spPr>
          <a:xfrm>
            <a:off x="7593958" y="2936367"/>
            <a:ext cx="741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変更後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2A34876-96B2-9542-5AB3-1E726C329508}"/>
              </a:ext>
            </a:extLst>
          </p:cNvPr>
          <p:cNvSpPr/>
          <p:nvPr/>
        </p:nvSpPr>
        <p:spPr>
          <a:xfrm>
            <a:off x="8327109" y="2930994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969D254-01D1-5AB8-6315-C05CF2BEC1B5}"/>
              </a:ext>
            </a:extLst>
          </p:cNvPr>
          <p:cNvSpPr txBox="1"/>
          <p:nvPr/>
        </p:nvSpPr>
        <p:spPr>
          <a:xfrm>
            <a:off x="7412999" y="3424680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変更内容</a:t>
            </a:r>
            <a:endParaRPr kumimoji="1" lang="ja-JP" altLang="en-US" sz="1400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E2A4139-53D5-E081-89E8-97FE95D44267}"/>
              </a:ext>
            </a:extLst>
          </p:cNvPr>
          <p:cNvSpPr/>
          <p:nvPr/>
        </p:nvSpPr>
        <p:spPr>
          <a:xfrm>
            <a:off x="8327109" y="3440227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07D23F9-0AF0-99DA-B794-7A4AFA7E07F3}"/>
              </a:ext>
            </a:extLst>
          </p:cNvPr>
          <p:cNvSpPr txBox="1"/>
          <p:nvPr/>
        </p:nvSpPr>
        <p:spPr>
          <a:xfrm>
            <a:off x="7585937" y="3835981"/>
            <a:ext cx="741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変更前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99838B1-079C-2A47-53B2-7435EF458D82}"/>
              </a:ext>
            </a:extLst>
          </p:cNvPr>
          <p:cNvSpPr txBox="1"/>
          <p:nvPr/>
        </p:nvSpPr>
        <p:spPr>
          <a:xfrm>
            <a:off x="7593958" y="4225637"/>
            <a:ext cx="741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変更後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F845129-9841-D44A-6E18-F1AC68E1F8A9}"/>
              </a:ext>
            </a:extLst>
          </p:cNvPr>
          <p:cNvSpPr/>
          <p:nvPr/>
        </p:nvSpPr>
        <p:spPr>
          <a:xfrm>
            <a:off x="8335129" y="3839439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0F612A5-3C92-CAC4-D34A-FD93F42A871E}"/>
              </a:ext>
            </a:extLst>
          </p:cNvPr>
          <p:cNvSpPr/>
          <p:nvPr/>
        </p:nvSpPr>
        <p:spPr>
          <a:xfrm>
            <a:off x="8327109" y="4255736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06EC1C79-536F-C28A-90A8-BFA59DA3EB4E}"/>
              </a:ext>
            </a:extLst>
          </p:cNvPr>
          <p:cNvCxnSpPr>
            <a:cxnSpLocks/>
          </p:cNvCxnSpPr>
          <p:nvPr/>
        </p:nvCxnSpPr>
        <p:spPr>
          <a:xfrm>
            <a:off x="6282508" y="3317698"/>
            <a:ext cx="539630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64A9C538-B134-5BF8-53B1-8E7A1DF5D7D8}"/>
              </a:ext>
            </a:extLst>
          </p:cNvPr>
          <p:cNvCxnSpPr>
            <a:cxnSpLocks/>
          </p:cNvCxnSpPr>
          <p:nvPr/>
        </p:nvCxnSpPr>
        <p:spPr>
          <a:xfrm>
            <a:off x="6282507" y="4605361"/>
            <a:ext cx="539630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158B3E95-E555-38F3-0459-79428E491361}"/>
              </a:ext>
            </a:extLst>
          </p:cNvPr>
          <p:cNvSpPr txBox="1"/>
          <p:nvPr/>
        </p:nvSpPr>
        <p:spPr>
          <a:xfrm>
            <a:off x="7412999" y="4703888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変更内容</a:t>
            </a:r>
            <a:endParaRPr kumimoji="1" lang="ja-JP" altLang="en-US" sz="1400" dirty="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7980D993-0FD8-A4AA-71A7-35FD7CCEACC4}"/>
              </a:ext>
            </a:extLst>
          </p:cNvPr>
          <p:cNvSpPr/>
          <p:nvPr/>
        </p:nvSpPr>
        <p:spPr>
          <a:xfrm>
            <a:off x="8327108" y="4717188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6B31516-37AF-DD5A-17CA-33F32F343CF8}"/>
              </a:ext>
            </a:extLst>
          </p:cNvPr>
          <p:cNvSpPr/>
          <p:nvPr/>
        </p:nvSpPr>
        <p:spPr>
          <a:xfrm>
            <a:off x="8335129" y="5106562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A562B1EE-F55F-7071-EC6B-E844433D71CF}"/>
              </a:ext>
            </a:extLst>
          </p:cNvPr>
          <p:cNvSpPr/>
          <p:nvPr/>
        </p:nvSpPr>
        <p:spPr>
          <a:xfrm>
            <a:off x="8324759" y="5512815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500A750-728F-9674-9C93-4E870C16ACE3}"/>
              </a:ext>
            </a:extLst>
          </p:cNvPr>
          <p:cNvSpPr txBox="1"/>
          <p:nvPr/>
        </p:nvSpPr>
        <p:spPr>
          <a:xfrm>
            <a:off x="7593958" y="5117599"/>
            <a:ext cx="741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変更前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2F6B40A-8F74-D5F5-F6B8-208D98605C59}"/>
              </a:ext>
            </a:extLst>
          </p:cNvPr>
          <p:cNvSpPr txBox="1"/>
          <p:nvPr/>
        </p:nvSpPr>
        <p:spPr>
          <a:xfrm>
            <a:off x="7583588" y="5500814"/>
            <a:ext cx="741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変更後</a:t>
            </a:r>
          </a:p>
        </p:txBody>
      </p:sp>
    </p:spTree>
    <p:extLst>
      <p:ext uri="{BB962C8B-B14F-4D97-AF65-F5344CB8AC3E}">
        <p14:creationId xmlns:p14="http://schemas.microsoft.com/office/powerpoint/2010/main" val="4215520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8FB31-9F1D-CF84-0796-36E2E0DD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E9324A41-1DBD-C583-F4D9-9263D95E6352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現場担当者：退社申請</a:t>
            </a:r>
            <a:r>
              <a:rPr kumimoji="1" lang="ja-JP" altLang="en-US" dirty="0">
                <a:solidFill>
                  <a:schemeClr val="tx1"/>
                </a:solidFill>
              </a:rPr>
              <a:t>：</a:t>
            </a:r>
            <a:r>
              <a:rPr lang="ja-JP" altLang="en-US" dirty="0">
                <a:solidFill>
                  <a:schemeClr val="tx1"/>
                </a:solidFill>
              </a:rPr>
              <a:t>スマホ</a:t>
            </a:r>
            <a:r>
              <a:rPr kumimoji="1" lang="ja-JP" altLang="en-US" dirty="0">
                <a:solidFill>
                  <a:schemeClr val="tx1"/>
                </a:solidFill>
              </a:rPr>
              <a:t>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2035B3-707B-EBE1-BBC4-641A28C7C0A9}"/>
              </a:ext>
            </a:extLst>
          </p:cNvPr>
          <p:cNvSpPr/>
          <p:nvPr/>
        </p:nvSpPr>
        <p:spPr>
          <a:xfrm>
            <a:off x="4339145" y="1035698"/>
            <a:ext cx="3585518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2F9762-342D-A0EF-8433-9DA2DD08A052}"/>
              </a:ext>
            </a:extLst>
          </p:cNvPr>
          <p:cNvSpPr txBox="1"/>
          <p:nvPr/>
        </p:nvSpPr>
        <p:spPr>
          <a:xfrm>
            <a:off x="4534995" y="1786646"/>
            <a:ext cx="1019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⑴名前</a:t>
            </a:r>
            <a:endParaRPr kumimoji="1" lang="ja-JP" altLang="en-US" sz="1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8051E7D-483C-048F-FEE5-7105ABC307B2}"/>
              </a:ext>
            </a:extLst>
          </p:cNvPr>
          <p:cNvSpPr/>
          <p:nvPr/>
        </p:nvSpPr>
        <p:spPr>
          <a:xfrm>
            <a:off x="5554826" y="1811570"/>
            <a:ext cx="1082348" cy="1549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109A70-10A5-53FE-7805-879B77D1CBD1}"/>
              </a:ext>
            </a:extLst>
          </p:cNvPr>
          <p:cNvSpPr txBox="1"/>
          <p:nvPr/>
        </p:nvSpPr>
        <p:spPr>
          <a:xfrm>
            <a:off x="4531207" y="1987124"/>
            <a:ext cx="1650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⑵変更日</a:t>
            </a:r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0C5CD1B8-3A92-6518-CCF5-EB40664BE4EC}"/>
              </a:ext>
            </a:extLst>
          </p:cNvPr>
          <p:cNvSpPr/>
          <p:nvPr/>
        </p:nvSpPr>
        <p:spPr>
          <a:xfrm>
            <a:off x="7245805" y="6241015"/>
            <a:ext cx="548375" cy="2599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送信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ADC217E-2DEC-C68C-DBB9-953E10CA110E}"/>
              </a:ext>
            </a:extLst>
          </p:cNvPr>
          <p:cNvSpPr txBox="1"/>
          <p:nvPr/>
        </p:nvSpPr>
        <p:spPr>
          <a:xfrm>
            <a:off x="5355302" y="1385934"/>
            <a:ext cx="1709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/>
              <a:t>雇用条件変更申請</a:t>
            </a:r>
            <a:endParaRPr kumimoji="1" lang="ja-JP" altLang="en-US" sz="1400" b="1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0E713DB3-C176-8657-A19F-0057F87B1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7006643" y="1303526"/>
            <a:ext cx="433938" cy="25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D379827A-0A90-D6CB-B67D-D412618B7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522" y="1309546"/>
            <a:ext cx="328984" cy="23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F395F7F-3800-E9BB-74C3-39091B6A176C}"/>
              </a:ext>
            </a:extLst>
          </p:cNvPr>
          <p:cNvSpPr txBox="1"/>
          <p:nvPr/>
        </p:nvSpPr>
        <p:spPr>
          <a:xfrm>
            <a:off x="4534995" y="2182992"/>
            <a:ext cx="18004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⑶</a:t>
            </a:r>
            <a:r>
              <a:rPr lang="en-US" altLang="ja-JP" sz="1000" dirty="0"/>
              <a:t>Y</a:t>
            </a:r>
            <a:r>
              <a:rPr lang="ja-JP" altLang="en-US" sz="1000" dirty="0"/>
              <a:t>コード</a:t>
            </a:r>
            <a:endParaRPr kumimoji="1" lang="ja-JP" altLang="en-US" sz="1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DE3A4B6-BA6D-B6FE-638C-4C2DD64AC060}"/>
              </a:ext>
            </a:extLst>
          </p:cNvPr>
          <p:cNvSpPr txBox="1"/>
          <p:nvPr/>
        </p:nvSpPr>
        <p:spPr>
          <a:xfrm>
            <a:off x="4531207" y="2376533"/>
            <a:ext cx="18004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⑷派遣先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37A81C3-5436-802F-249C-1320C7515A65}"/>
              </a:ext>
            </a:extLst>
          </p:cNvPr>
          <p:cNvSpPr txBox="1"/>
          <p:nvPr/>
        </p:nvSpPr>
        <p:spPr>
          <a:xfrm>
            <a:off x="4534995" y="2568192"/>
            <a:ext cx="16209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⑸所属</a:t>
            </a:r>
            <a:endParaRPr kumimoji="1" lang="ja-JP" altLang="en-US" sz="1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CD42275-6288-C2EB-5FF1-B859F1FE5D3D}"/>
              </a:ext>
            </a:extLst>
          </p:cNvPr>
          <p:cNvSpPr txBox="1"/>
          <p:nvPr/>
        </p:nvSpPr>
        <p:spPr>
          <a:xfrm>
            <a:off x="4531207" y="2777963"/>
            <a:ext cx="10899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⑹変更理由</a:t>
            </a:r>
            <a:endParaRPr kumimoji="1" lang="ja-JP" altLang="en-US" sz="10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3DCA58E-7EC2-1063-D823-8477D2653779}"/>
              </a:ext>
            </a:extLst>
          </p:cNvPr>
          <p:cNvSpPr/>
          <p:nvPr/>
        </p:nvSpPr>
        <p:spPr>
          <a:xfrm>
            <a:off x="5554088" y="3193717"/>
            <a:ext cx="2217936" cy="4129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F62CE53-2F8B-2A03-43FD-87B1B9B4FD21}"/>
              </a:ext>
            </a:extLst>
          </p:cNvPr>
          <p:cNvSpPr txBox="1"/>
          <p:nvPr/>
        </p:nvSpPr>
        <p:spPr>
          <a:xfrm>
            <a:off x="4654044" y="3747874"/>
            <a:ext cx="8443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変更内容</a:t>
            </a:r>
            <a:endParaRPr kumimoji="1" lang="ja-JP" altLang="en-US" sz="10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680F056-6667-A95D-0734-7F9397C3E72A}"/>
              </a:ext>
            </a:extLst>
          </p:cNvPr>
          <p:cNvSpPr txBox="1"/>
          <p:nvPr/>
        </p:nvSpPr>
        <p:spPr>
          <a:xfrm>
            <a:off x="4536732" y="3173914"/>
            <a:ext cx="902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⑺備考</a:t>
            </a:r>
            <a:endParaRPr kumimoji="1" lang="ja-JP" altLang="en-US" sz="10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C307669-5095-719C-1A24-416998CB2F13}"/>
              </a:ext>
            </a:extLst>
          </p:cNvPr>
          <p:cNvSpPr txBox="1"/>
          <p:nvPr/>
        </p:nvSpPr>
        <p:spPr>
          <a:xfrm>
            <a:off x="6096000" y="5977337"/>
            <a:ext cx="641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申請者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FBA79F7-CB86-3645-2356-3E5E50F19E2F}"/>
              </a:ext>
            </a:extLst>
          </p:cNvPr>
          <p:cNvSpPr/>
          <p:nvPr/>
        </p:nvSpPr>
        <p:spPr>
          <a:xfrm>
            <a:off x="6610473" y="6010801"/>
            <a:ext cx="1183707" cy="1710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EFCB00D-3657-6121-39D1-D3CBAD159DC8}"/>
              </a:ext>
            </a:extLst>
          </p:cNvPr>
          <p:cNvSpPr/>
          <p:nvPr/>
        </p:nvSpPr>
        <p:spPr>
          <a:xfrm>
            <a:off x="5554089" y="3779837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四角形: 角を丸くする 35">
            <a:extLst>
              <a:ext uri="{FF2B5EF4-FFF2-40B4-BE49-F238E27FC236}">
                <a16:creationId xmlns:a16="http://schemas.microsoft.com/office/drawing/2014/main" id="{C88772BC-81CA-0A15-E63B-2EE8A2C0DEE9}"/>
              </a:ext>
            </a:extLst>
          </p:cNvPr>
          <p:cNvSpPr/>
          <p:nvPr/>
        </p:nvSpPr>
        <p:spPr>
          <a:xfrm>
            <a:off x="4379683" y="1091286"/>
            <a:ext cx="1059860" cy="15388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＜＜＜</a:t>
            </a:r>
            <a:r>
              <a:rPr kumimoji="1" lang="en-US" altLang="ja-JP" sz="800" dirty="0">
                <a:solidFill>
                  <a:schemeClr val="tx1"/>
                </a:solidFill>
              </a:rPr>
              <a:t>TOP</a:t>
            </a:r>
            <a:r>
              <a:rPr kumimoji="1" lang="ja-JP" altLang="en-US" sz="8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5" name="四角形: 角を丸くする 35">
            <a:extLst>
              <a:ext uri="{FF2B5EF4-FFF2-40B4-BE49-F238E27FC236}">
                <a16:creationId xmlns:a16="http://schemas.microsoft.com/office/drawing/2014/main" id="{FD8E4FAE-9B26-D911-8F94-28FEBB02EED4}"/>
              </a:ext>
            </a:extLst>
          </p:cNvPr>
          <p:cNvSpPr/>
          <p:nvPr/>
        </p:nvSpPr>
        <p:spPr>
          <a:xfrm>
            <a:off x="6534576" y="1075565"/>
            <a:ext cx="893326" cy="1672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＜</a:t>
            </a:r>
            <a:r>
              <a:rPr lang="ja-JP" altLang="en-US" sz="800" dirty="0">
                <a:solidFill>
                  <a:schemeClr val="tx1"/>
                </a:solidFill>
              </a:rPr>
              <a:t>従業員詳細</a:t>
            </a:r>
            <a:endParaRPr kumimoji="1" lang="ja-JP" altLang="en-US" sz="800" dirty="0">
              <a:solidFill>
                <a:schemeClr val="tx1"/>
              </a:solidFill>
            </a:endParaRPr>
          </a:p>
        </p:txBody>
      </p:sp>
      <p:sp>
        <p:nvSpPr>
          <p:cNvPr id="56" name="四角形: 角を丸くする 35">
            <a:extLst>
              <a:ext uri="{FF2B5EF4-FFF2-40B4-BE49-F238E27FC236}">
                <a16:creationId xmlns:a16="http://schemas.microsoft.com/office/drawing/2014/main" id="{C91BAE1C-CA2C-7FDC-5A09-C341F3260587}"/>
              </a:ext>
            </a:extLst>
          </p:cNvPr>
          <p:cNvSpPr/>
          <p:nvPr/>
        </p:nvSpPr>
        <p:spPr>
          <a:xfrm>
            <a:off x="5514414" y="1091286"/>
            <a:ext cx="945291" cy="15388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＜＜従業員一覧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DFB6212-2DB0-077A-703C-73C92A219378}"/>
              </a:ext>
            </a:extLst>
          </p:cNvPr>
          <p:cNvSpPr txBox="1"/>
          <p:nvPr/>
        </p:nvSpPr>
        <p:spPr>
          <a:xfrm>
            <a:off x="4755825" y="3966688"/>
            <a:ext cx="578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変更前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C2CA638-3EF0-C825-A742-E5A54A0CDDBF}"/>
              </a:ext>
            </a:extLst>
          </p:cNvPr>
          <p:cNvSpPr txBox="1"/>
          <p:nvPr/>
        </p:nvSpPr>
        <p:spPr>
          <a:xfrm>
            <a:off x="4755824" y="4170746"/>
            <a:ext cx="578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変更後</a:t>
            </a: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473CF514-EE63-A7DC-41B6-68119FB0A6ED}"/>
              </a:ext>
            </a:extLst>
          </p:cNvPr>
          <p:cNvCxnSpPr>
            <a:cxnSpLocks/>
          </p:cNvCxnSpPr>
          <p:nvPr/>
        </p:nvCxnSpPr>
        <p:spPr>
          <a:xfrm>
            <a:off x="4531207" y="3724003"/>
            <a:ext cx="33104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BD4D74C-1BD0-9196-1BD8-11BCC37CCE33}"/>
              </a:ext>
            </a:extLst>
          </p:cNvPr>
          <p:cNvSpPr txBox="1"/>
          <p:nvPr/>
        </p:nvSpPr>
        <p:spPr>
          <a:xfrm>
            <a:off x="6199061" y="2017886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年</a:t>
            </a:r>
            <a:endParaRPr kumimoji="1" lang="ja-JP" altLang="en-US" sz="7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C7C67C2-82AF-EB5F-9563-DBB36743B21D}"/>
              </a:ext>
            </a:extLst>
          </p:cNvPr>
          <p:cNvSpPr txBox="1"/>
          <p:nvPr/>
        </p:nvSpPr>
        <p:spPr>
          <a:xfrm>
            <a:off x="7414004" y="1994391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00" dirty="0"/>
              <a:t>日</a:t>
            </a:r>
            <a:endParaRPr kumimoji="1" lang="ja-JP" altLang="en-US" sz="7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7FB6A5D-446C-BE8D-CB9A-8F6B58354A7B}"/>
              </a:ext>
            </a:extLst>
          </p:cNvPr>
          <p:cNvSpPr txBox="1"/>
          <p:nvPr/>
        </p:nvSpPr>
        <p:spPr>
          <a:xfrm>
            <a:off x="6839551" y="2004080"/>
            <a:ext cx="35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68C4477-5E22-E7F2-9AB6-AD7927439FCA}"/>
              </a:ext>
            </a:extLst>
          </p:cNvPr>
          <p:cNvSpPr txBox="1"/>
          <p:nvPr/>
        </p:nvSpPr>
        <p:spPr>
          <a:xfrm>
            <a:off x="5491846" y="2011020"/>
            <a:ext cx="4621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dirty="0"/>
              <a:t>令和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0138BF0-1BE0-0331-60D6-9FD9CB69B32B}"/>
              </a:ext>
            </a:extLst>
          </p:cNvPr>
          <p:cNvSpPr/>
          <p:nvPr/>
        </p:nvSpPr>
        <p:spPr>
          <a:xfrm>
            <a:off x="5829635" y="2011020"/>
            <a:ext cx="326317" cy="159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CDB50DD-C475-CC7C-C519-A69E01064160}"/>
              </a:ext>
            </a:extLst>
          </p:cNvPr>
          <p:cNvSpPr/>
          <p:nvPr/>
        </p:nvSpPr>
        <p:spPr>
          <a:xfrm>
            <a:off x="7082763" y="2004080"/>
            <a:ext cx="288132" cy="1436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42593E6-95BA-89E2-8EEF-832740FF2D03}"/>
              </a:ext>
            </a:extLst>
          </p:cNvPr>
          <p:cNvSpPr/>
          <p:nvPr/>
        </p:nvSpPr>
        <p:spPr>
          <a:xfrm>
            <a:off x="6479573" y="2011020"/>
            <a:ext cx="320834" cy="1415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47EAE70-C6C9-E95F-D887-D21333853CC2}"/>
              </a:ext>
            </a:extLst>
          </p:cNvPr>
          <p:cNvSpPr/>
          <p:nvPr/>
        </p:nvSpPr>
        <p:spPr>
          <a:xfrm>
            <a:off x="5554826" y="2214125"/>
            <a:ext cx="601126" cy="1442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ED63F49-E53F-91D6-0DFE-8724AB4E1BE2}"/>
              </a:ext>
            </a:extLst>
          </p:cNvPr>
          <p:cNvSpPr/>
          <p:nvPr/>
        </p:nvSpPr>
        <p:spPr>
          <a:xfrm>
            <a:off x="5554826" y="2407970"/>
            <a:ext cx="1082348" cy="1549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3190F1F5-78C3-A3C9-A420-60B267E4AAA2}"/>
              </a:ext>
            </a:extLst>
          </p:cNvPr>
          <p:cNvSpPr/>
          <p:nvPr/>
        </p:nvSpPr>
        <p:spPr>
          <a:xfrm>
            <a:off x="5554826" y="2606807"/>
            <a:ext cx="1082348" cy="1549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50025E9-3ADA-AF3A-F544-37D171310093}"/>
              </a:ext>
            </a:extLst>
          </p:cNvPr>
          <p:cNvSpPr/>
          <p:nvPr/>
        </p:nvSpPr>
        <p:spPr>
          <a:xfrm>
            <a:off x="5554202" y="2795891"/>
            <a:ext cx="2217936" cy="3505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2A5C7878-FA2A-7095-B019-D34FF32F0ADC}"/>
              </a:ext>
            </a:extLst>
          </p:cNvPr>
          <p:cNvCxnSpPr>
            <a:cxnSpLocks/>
          </p:cNvCxnSpPr>
          <p:nvPr/>
        </p:nvCxnSpPr>
        <p:spPr>
          <a:xfrm>
            <a:off x="4531207" y="4447637"/>
            <a:ext cx="33104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C97702A-97DE-1269-D3F8-7826063A10DD}"/>
              </a:ext>
            </a:extLst>
          </p:cNvPr>
          <p:cNvSpPr/>
          <p:nvPr/>
        </p:nvSpPr>
        <p:spPr>
          <a:xfrm>
            <a:off x="5547203" y="4220998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ABCD57E-F9FD-53C6-BB9A-0E6357B710FB}"/>
              </a:ext>
            </a:extLst>
          </p:cNvPr>
          <p:cNvSpPr/>
          <p:nvPr/>
        </p:nvSpPr>
        <p:spPr>
          <a:xfrm>
            <a:off x="5547203" y="3997287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テキスト ボックス 1038">
            <a:extLst>
              <a:ext uri="{FF2B5EF4-FFF2-40B4-BE49-F238E27FC236}">
                <a16:creationId xmlns:a16="http://schemas.microsoft.com/office/drawing/2014/main" id="{4468ACBF-B890-7919-4EB0-E88F4B2338CB}"/>
              </a:ext>
            </a:extLst>
          </p:cNvPr>
          <p:cNvSpPr txBox="1"/>
          <p:nvPr/>
        </p:nvSpPr>
        <p:spPr>
          <a:xfrm>
            <a:off x="4683085" y="4478308"/>
            <a:ext cx="8443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変更内容</a:t>
            </a:r>
            <a:endParaRPr kumimoji="1" lang="ja-JP" altLang="en-US" sz="1000" dirty="0"/>
          </a:p>
        </p:txBody>
      </p:sp>
      <p:sp>
        <p:nvSpPr>
          <p:cNvPr id="1040" name="正方形/長方形 1039">
            <a:extLst>
              <a:ext uri="{FF2B5EF4-FFF2-40B4-BE49-F238E27FC236}">
                <a16:creationId xmlns:a16="http://schemas.microsoft.com/office/drawing/2014/main" id="{1DB54A85-ABA6-D2B3-B402-97E5E49B2FF0}"/>
              </a:ext>
            </a:extLst>
          </p:cNvPr>
          <p:cNvSpPr/>
          <p:nvPr/>
        </p:nvSpPr>
        <p:spPr>
          <a:xfrm>
            <a:off x="5583130" y="4510271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981D46C0-38BD-CF30-6785-8090DEEB9BB3}"/>
              </a:ext>
            </a:extLst>
          </p:cNvPr>
          <p:cNvSpPr txBox="1"/>
          <p:nvPr/>
        </p:nvSpPr>
        <p:spPr>
          <a:xfrm>
            <a:off x="4784866" y="4697122"/>
            <a:ext cx="578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変更前</a:t>
            </a:r>
          </a:p>
        </p:txBody>
      </p:sp>
      <p:sp>
        <p:nvSpPr>
          <p:cNvPr id="1042" name="テキスト ボックス 1041">
            <a:extLst>
              <a:ext uri="{FF2B5EF4-FFF2-40B4-BE49-F238E27FC236}">
                <a16:creationId xmlns:a16="http://schemas.microsoft.com/office/drawing/2014/main" id="{3A3C007F-690F-08B6-A834-A840B95E2DEB}"/>
              </a:ext>
            </a:extLst>
          </p:cNvPr>
          <p:cNvSpPr txBox="1"/>
          <p:nvPr/>
        </p:nvSpPr>
        <p:spPr>
          <a:xfrm>
            <a:off x="4784865" y="4901180"/>
            <a:ext cx="578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変更後</a:t>
            </a:r>
          </a:p>
        </p:txBody>
      </p:sp>
      <p:cxnSp>
        <p:nvCxnSpPr>
          <p:cNvPr id="1044" name="直線コネクタ 1043">
            <a:extLst>
              <a:ext uri="{FF2B5EF4-FFF2-40B4-BE49-F238E27FC236}">
                <a16:creationId xmlns:a16="http://schemas.microsoft.com/office/drawing/2014/main" id="{4623BAFB-861E-E5B0-A833-542AF7410C22}"/>
              </a:ext>
            </a:extLst>
          </p:cNvPr>
          <p:cNvCxnSpPr>
            <a:cxnSpLocks/>
          </p:cNvCxnSpPr>
          <p:nvPr/>
        </p:nvCxnSpPr>
        <p:spPr>
          <a:xfrm>
            <a:off x="4560248" y="5178071"/>
            <a:ext cx="33104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正方形/長方形 1044">
            <a:extLst>
              <a:ext uri="{FF2B5EF4-FFF2-40B4-BE49-F238E27FC236}">
                <a16:creationId xmlns:a16="http://schemas.microsoft.com/office/drawing/2014/main" id="{84058F76-5853-3B28-D48F-A03DD09C66BB}"/>
              </a:ext>
            </a:extLst>
          </p:cNvPr>
          <p:cNvSpPr/>
          <p:nvPr/>
        </p:nvSpPr>
        <p:spPr>
          <a:xfrm>
            <a:off x="5576244" y="4951432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正方形/長方形 1045">
            <a:extLst>
              <a:ext uri="{FF2B5EF4-FFF2-40B4-BE49-F238E27FC236}">
                <a16:creationId xmlns:a16="http://schemas.microsoft.com/office/drawing/2014/main" id="{C91FE6C3-ED71-0ABA-5666-97758DACC62F}"/>
              </a:ext>
            </a:extLst>
          </p:cNvPr>
          <p:cNvSpPr/>
          <p:nvPr/>
        </p:nvSpPr>
        <p:spPr>
          <a:xfrm>
            <a:off x="5576244" y="4727721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テキスト ボックス 1047">
            <a:extLst>
              <a:ext uri="{FF2B5EF4-FFF2-40B4-BE49-F238E27FC236}">
                <a16:creationId xmlns:a16="http://schemas.microsoft.com/office/drawing/2014/main" id="{826BD6FC-4BD3-049A-59DD-3207457B1C5B}"/>
              </a:ext>
            </a:extLst>
          </p:cNvPr>
          <p:cNvSpPr txBox="1"/>
          <p:nvPr/>
        </p:nvSpPr>
        <p:spPr>
          <a:xfrm>
            <a:off x="4689525" y="5190929"/>
            <a:ext cx="8443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変更内容</a:t>
            </a:r>
            <a:endParaRPr kumimoji="1" lang="ja-JP" altLang="en-US" sz="1000" dirty="0"/>
          </a:p>
        </p:txBody>
      </p:sp>
      <p:sp>
        <p:nvSpPr>
          <p:cNvPr id="1049" name="正方形/長方形 1048">
            <a:extLst>
              <a:ext uri="{FF2B5EF4-FFF2-40B4-BE49-F238E27FC236}">
                <a16:creationId xmlns:a16="http://schemas.microsoft.com/office/drawing/2014/main" id="{42B36203-5939-DE72-D945-C7E32D2BD3F6}"/>
              </a:ext>
            </a:extLst>
          </p:cNvPr>
          <p:cNvSpPr/>
          <p:nvPr/>
        </p:nvSpPr>
        <p:spPr>
          <a:xfrm>
            <a:off x="5589570" y="5222892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テキスト ボックス 1049">
            <a:extLst>
              <a:ext uri="{FF2B5EF4-FFF2-40B4-BE49-F238E27FC236}">
                <a16:creationId xmlns:a16="http://schemas.microsoft.com/office/drawing/2014/main" id="{5D305331-EB6A-3EFD-46EA-4FD4C820E204}"/>
              </a:ext>
            </a:extLst>
          </p:cNvPr>
          <p:cNvSpPr txBox="1"/>
          <p:nvPr/>
        </p:nvSpPr>
        <p:spPr>
          <a:xfrm>
            <a:off x="4791306" y="5409743"/>
            <a:ext cx="578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変更前</a:t>
            </a:r>
          </a:p>
        </p:txBody>
      </p:sp>
      <p:sp>
        <p:nvSpPr>
          <p:cNvPr id="1051" name="テキスト ボックス 1050">
            <a:extLst>
              <a:ext uri="{FF2B5EF4-FFF2-40B4-BE49-F238E27FC236}">
                <a16:creationId xmlns:a16="http://schemas.microsoft.com/office/drawing/2014/main" id="{43972D16-3C6C-4850-380A-243EBBDC355B}"/>
              </a:ext>
            </a:extLst>
          </p:cNvPr>
          <p:cNvSpPr txBox="1"/>
          <p:nvPr/>
        </p:nvSpPr>
        <p:spPr>
          <a:xfrm>
            <a:off x="4791305" y="5613801"/>
            <a:ext cx="578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変更後</a:t>
            </a:r>
          </a:p>
        </p:txBody>
      </p:sp>
      <p:cxnSp>
        <p:nvCxnSpPr>
          <p:cNvPr id="1052" name="直線コネクタ 1051">
            <a:extLst>
              <a:ext uri="{FF2B5EF4-FFF2-40B4-BE49-F238E27FC236}">
                <a16:creationId xmlns:a16="http://schemas.microsoft.com/office/drawing/2014/main" id="{B0BEF361-28DE-2619-C7F6-56CA434A9B1C}"/>
              </a:ext>
            </a:extLst>
          </p:cNvPr>
          <p:cNvCxnSpPr>
            <a:cxnSpLocks/>
          </p:cNvCxnSpPr>
          <p:nvPr/>
        </p:nvCxnSpPr>
        <p:spPr>
          <a:xfrm>
            <a:off x="4566688" y="5890692"/>
            <a:ext cx="33104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正方形/長方形 1052">
            <a:extLst>
              <a:ext uri="{FF2B5EF4-FFF2-40B4-BE49-F238E27FC236}">
                <a16:creationId xmlns:a16="http://schemas.microsoft.com/office/drawing/2014/main" id="{2C860426-29F2-ACA7-6D7B-F6A9E005D7FD}"/>
              </a:ext>
            </a:extLst>
          </p:cNvPr>
          <p:cNvSpPr/>
          <p:nvPr/>
        </p:nvSpPr>
        <p:spPr>
          <a:xfrm>
            <a:off x="5582684" y="5664053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正方形/長方形 1053">
            <a:extLst>
              <a:ext uri="{FF2B5EF4-FFF2-40B4-BE49-F238E27FC236}">
                <a16:creationId xmlns:a16="http://schemas.microsoft.com/office/drawing/2014/main" id="{F08D5120-5C8D-E18F-D950-48F250C5EB25}"/>
              </a:ext>
            </a:extLst>
          </p:cNvPr>
          <p:cNvSpPr/>
          <p:nvPr/>
        </p:nvSpPr>
        <p:spPr>
          <a:xfrm>
            <a:off x="5582684" y="5440342"/>
            <a:ext cx="2217936" cy="18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38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D4F06-E072-7A8E-08F3-510C026A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EEA81B7D-F679-465C-20C3-CDA82744C083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現場担当者：退社申請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F25714E-F327-963E-6C61-AF9FFB614D3A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AF323D-E3C7-7B76-C442-801246669BC7}"/>
              </a:ext>
            </a:extLst>
          </p:cNvPr>
          <p:cNvSpPr txBox="1"/>
          <p:nvPr/>
        </p:nvSpPr>
        <p:spPr>
          <a:xfrm>
            <a:off x="650240" y="2164070"/>
            <a:ext cx="1019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⑴派遣先</a:t>
            </a:r>
            <a:endParaRPr kumimoji="1" lang="ja-JP" altLang="en-US" sz="14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10E1EF-C584-279D-81E7-9CDBF143F8F9}"/>
              </a:ext>
            </a:extLst>
          </p:cNvPr>
          <p:cNvSpPr/>
          <p:nvPr/>
        </p:nvSpPr>
        <p:spPr>
          <a:xfrm>
            <a:off x="3042188" y="2115586"/>
            <a:ext cx="1169345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AE043A-55F2-8BE0-D0F8-F10004848FF1}"/>
              </a:ext>
            </a:extLst>
          </p:cNvPr>
          <p:cNvSpPr txBox="1"/>
          <p:nvPr/>
        </p:nvSpPr>
        <p:spPr>
          <a:xfrm>
            <a:off x="650240" y="2578809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⑵</a:t>
            </a:r>
            <a:r>
              <a:rPr kumimoji="1" lang="en-US" altLang="ja-JP" sz="1400" dirty="0"/>
              <a:t>Y</a:t>
            </a:r>
            <a:r>
              <a:rPr kumimoji="1" lang="ja-JP" altLang="en-US" sz="1400" dirty="0"/>
              <a:t>コード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441518-6A93-C408-3BEE-96EF0A510712}"/>
              </a:ext>
            </a:extLst>
          </p:cNvPr>
          <p:cNvSpPr/>
          <p:nvPr/>
        </p:nvSpPr>
        <p:spPr>
          <a:xfrm>
            <a:off x="3042191" y="2530580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ADE64CA0-9C48-CBE2-0500-D1E99859B50C}"/>
              </a:ext>
            </a:extLst>
          </p:cNvPr>
          <p:cNvSpPr/>
          <p:nvPr/>
        </p:nvSpPr>
        <p:spPr>
          <a:xfrm>
            <a:off x="10935854" y="6031223"/>
            <a:ext cx="742961" cy="36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送信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25E25B-E148-B8CD-EE7A-C887A07365FB}"/>
              </a:ext>
            </a:extLst>
          </p:cNvPr>
          <p:cNvSpPr txBox="1"/>
          <p:nvPr/>
        </p:nvSpPr>
        <p:spPr>
          <a:xfrm>
            <a:off x="5356528" y="1502248"/>
            <a:ext cx="147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有給申請</a:t>
            </a:r>
            <a:endParaRPr kumimoji="1" lang="ja-JP" altLang="en-US" sz="2400" b="1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646D1323-4ECD-76DA-9153-73E8DDC2F8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401EE186-C90F-C4B2-6A75-F97A98AA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D2BD2C-DED6-5304-392E-112E1C8F6AC4}"/>
              </a:ext>
            </a:extLst>
          </p:cNvPr>
          <p:cNvSpPr txBox="1"/>
          <p:nvPr/>
        </p:nvSpPr>
        <p:spPr>
          <a:xfrm>
            <a:off x="650240" y="2993548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⑶使用者</a:t>
            </a:r>
            <a:endParaRPr kumimoji="1" lang="ja-JP" altLang="en-US" sz="1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7511FB-F4C7-B0BA-73AD-7CD515F70B74}"/>
              </a:ext>
            </a:extLst>
          </p:cNvPr>
          <p:cNvSpPr txBox="1"/>
          <p:nvPr/>
        </p:nvSpPr>
        <p:spPr>
          <a:xfrm>
            <a:off x="650240" y="3428227"/>
            <a:ext cx="1800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⑷使用期間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3B6E8DF-30B1-49C3-A000-76E68205750A}"/>
              </a:ext>
            </a:extLst>
          </p:cNvPr>
          <p:cNvSpPr txBox="1"/>
          <p:nvPr/>
        </p:nvSpPr>
        <p:spPr>
          <a:xfrm>
            <a:off x="650240" y="3862906"/>
            <a:ext cx="16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⑸使用日数</a:t>
            </a:r>
            <a:endParaRPr kumimoji="1" lang="ja-JP" altLang="en-US" sz="14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32D7DE2-8781-3F91-0C4C-1675408645A1}"/>
              </a:ext>
            </a:extLst>
          </p:cNvPr>
          <p:cNvSpPr/>
          <p:nvPr/>
        </p:nvSpPr>
        <p:spPr>
          <a:xfrm>
            <a:off x="3465558" y="3374197"/>
            <a:ext cx="596936" cy="307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71044F7-4DB1-5453-40F7-84C70611D83E}"/>
              </a:ext>
            </a:extLst>
          </p:cNvPr>
          <p:cNvSpPr/>
          <p:nvPr/>
        </p:nvSpPr>
        <p:spPr>
          <a:xfrm>
            <a:off x="3042187" y="2931791"/>
            <a:ext cx="2915264" cy="3077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4DB8119-E39C-C130-C321-12224F7404D0}"/>
              </a:ext>
            </a:extLst>
          </p:cNvPr>
          <p:cNvSpPr/>
          <p:nvPr/>
        </p:nvSpPr>
        <p:spPr>
          <a:xfrm>
            <a:off x="3042191" y="3826832"/>
            <a:ext cx="596936" cy="3064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EBDA81F-8E8F-372D-C01E-C6C4976B1744}"/>
              </a:ext>
            </a:extLst>
          </p:cNvPr>
          <p:cNvSpPr txBox="1"/>
          <p:nvPr/>
        </p:nvSpPr>
        <p:spPr>
          <a:xfrm>
            <a:off x="646452" y="4297584"/>
            <a:ext cx="1302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⑹使用理由</a:t>
            </a:r>
            <a:endParaRPr kumimoji="1" lang="ja-JP" altLang="en-US" sz="1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60D97E8-2D26-49D2-C5E6-23EA2AC35EC4}"/>
              </a:ext>
            </a:extLst>
          </p:cNvPr>
          <p:cNvSpPr/>
          <p:nvPr/>
        </p:nvSpPr>
        <p:spPr>
          <a:xfrm>
            <a:off x="3042187" y="4267900"/>
            <a:ext cx="2904392" cy="283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E82D6A8-42F4-9033-B8DC-F60C5117F070}"/>
              </a:ext>
            </a:extLst>
          </p:cNvPr>
          <p:cNvSpPr txBox="1"/>
          <p:nvPr/>
        </p:nvSpPr>
        <p:spPr>
          <a:xfrm>
            <a:off x="649323" y="4674398"/>
            <a:ext cx="902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⑺備考</a:t>
            </a:r>
            <a:endParaRPr kumimoji="1" lang="ja-JP" altLang="en-US" sz="1400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19BA042-8BF4-0725-9619-34BA805BC1E0}"/>
              </a:ext>
            </a:extLst>
          </p:cNvPr>
          <p:cNvSpPr/>
          <p:nvPr/>
        </p:nvSpPr>
        <p:spPr>
          <a:xfrm>
            <a:off x="3031318" y="4720534"/>
            <a:ext cx="4184629" cy="9807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D96C5D7-B200-F1C0-4DC4-DC2878CABA42}"/>
              </a:ext>
            </a:extLst>
          </p:cNvPr>
          <p:cNvSpPr txBox="1"/>
          <p:nvPr/>
        </p:nvSpPr>
        <p:spPr>
          <a:xfrm>
            <a:off x="8329694" y="6089712"/>
            <a:ext cx="760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提出者</a:t>
            </a:r>
            <a:endParaRPr kumimoji="1" lang="ja-JP" altLang="en-US" sz="140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1C6B0E6-623F-68CB-A545-74F4D97BB79E}"/>
              </a:ext>
            </a:extLst>
          </p:cNvPr>
          <p:cNvSpPr/>
          <p:nvPr/>
        </p:nvSpPr>
        <p:spPr>
          <a:xfrm>
            <a:off x="9002924" y="6031223"/>
            <a:ext cx="1851325" cy="369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四角形: 角を丸くする 35">
            <a:extLst>
              <a:ext uri="{FF2B5EF4-FFF2-40B4-BE49-F238E27FC236}">
                <a16:creationId xmlns:a16="http://schemas.microsoft.com/office/drawing/2014/main" id="{1B5424E0-0855-65E9-F831-C343DAA9F20B}"/>
              </a:ext>
            </a:extLst>
          </p:cNvPr>
          <p:cNvSpPr/>
          <p:nvPr/>
        </p:nvSpPr>
        <p:spPr>
          <a:xfrm>
            <a:off x="681228" y="1166392"/>
            <a:ext cx="1335443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＜＜＜</a:t>
            </a:r>
            <a:r>
              <a:rPr kumimoji="1" lang="en-US" altLang="ja-JP" sz="1100" dirty="0">
                <a:solidFill>
                  <a:schemeClr val="tx1"/>
                </a:solidFill>
              </a:rPr>
              <a:t>TOP</a:t>
            </a:r>
            <a:r>
              <a:rPr kumimoji="1" lang="ja-JP" altLang="en-US" sz="11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5" name="四角形: 角を丸くする 35">
            <a:extLst>
              <a:ext uri="{FF2B5EF4-FFF2-40B4-BE49-F238E27FC236}">
                <a16:creationId xmlns:a16="http://schemas.microsoft.com/office/drawing/2014/main" id="{675E86DE-A52B-E069-48EB-536BE82E1B36}"/>
              </a:ext>
            </a:extLst>
          </p:cNvPr>
          <p:cNvSpPr/>
          <p:nvPr/>
        </p:nvSpPr>
        <p:spPr>
          <a:xfrm>
            <a:off x="3344454" y="1156713"/>
            <a:ext cx="1125607" cy="3344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</a:t>
            </a:r>
            <a:r>
              <a:rPr lang="ja-JP" altLang="en-US" sz="1100" dirty="0">
                <a:solidFill>
                  <a:schemeClr val="tx1"/>
                </a:solidFill>
              </a:rPr>
              <a:t>従業員詳細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四角形: 角を丸くする 35">
            <a:extLst>
              <a:ext uri="{FF2B5EF4-FFF2-40B4-BE49-F238E27FC236}">
                <a16:creationId xmlns:a16="http://schemas.microsoft.com/office/drawing/2014/main" id="{F305E7BF-5AFF-F9CE-1FBB-F48F10D4C8B6}"/>
              </a:ext>
            </a:extLst>
          </p:cNvPr>
          <p:cNvSpPr/>
          <p:nvPr/>
        </p:nvSpPr>
        <p:spPr>
          <a:xfrm>
            <a:off x="2071178" y="1166885"/>
            <a:ext cx="1191085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＜＜従業員一覧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ECC859D-B110-BD57-C64F-2A322EFEDE76}"/>
              </a:ext>
            </a:extLst>
          </p:cNvPr>
          <p:cNvSpPr txBox="1"/>
          <p:nvPr/>
        </p:nvSpPr>
        <p:spPr>
          <a:xfrm>
            <a:off x="6328843" y="3408426"/>
            <a:ext cx="42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～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8634A23-99DC-B286-9106-8B96CB7D1AC7}"/>
              </a:ext>
            </a:extLst>
          </p:cNvPr>
          <p:cNvSpPr txBox="1"/>
          <p:nvPr/>
        </p:nvSpPr>
        <p:spPr>
          <a:xfrm>
            <a:off x="6761205" y="2564717"/>
            <a:ext cx="2915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オートコンプリート　　名前を入力すれば</a:t>
            </a:r>
            <a:r>
              <a:rPr lang="en-US" altLang="ja-JP" sz="1400" dirty="0"/>
              <a:t>Y</a:t>
            </a:r>
            <a:r>
              <a:rPr kumimoji="1" lang="ja-JP" altLang="en-US" sz="1400" dirty="0"/>
              <a:t>コード</a:t>
            </a:r>
            <a:r>
              <a:rPr kumimoji="1" lang="en-US" altLang="ja-JP" sz="1400" dirty="0"/>
              <a:t>/</a:t>
            </a:r>
            <a:r>
              <a:rPr kumimoji="1" lang="ja-JP" altLang="en-US" sz="1400" dirty="0"/>
              <a:t>派遣先自動表記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C915700-2810-EFDB-41AB-87831DF3A76B}"/>
              </a:ext>
            </a:extLst>
          </p:cNvPr>
          <p:cNvCxnSpPr>
            <a:cxnSpLocks/>
          </p:cNvCxnSpPr>
          <p:nvPr/>
        </p:nvCxnSpPr>
        <p:spPr>
          <a:xfrm>
            <a:off x="5770387" y="3542414"/>
            <a:ext cx="731104" cy="449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EF44917-8514-C9E5-CB66-AC900DA69E72}"/>
              </a:ext>
            </a:extLst>
          </p:cNvPr>
          <p:cNvSpPr txBox="1"/>
          <p:nvPr/>
        </p:nvSpPr>
        <p:spPr>
          <a:xfrm>
            <a:off x="4057367" y="3408427"/>
            <a:ext cx="42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年</a:t>
            </a:r>
            <a:endParaRPr kumimoji="1" lang="ja-JP" altLang="en-US" sz="14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EEDD16C-9202-6F06-3B36-1AD15AD3182D}"/>
              </a:ext>
            </a:extLst>
          </p:cNvPr>
          <p:cNvSpPr/>
          <p:nvPr/>
        </p:nvSpPr>
        <p:spPr>
          <a:xfrm>
            <a:off x="4435085" y="3381023"/>
            <a:ext cx="596936" cy="307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7AB4F6F-C529-B297-F22A-D9C281F2CAC5}"/>
              </a:ext>
            </a:extLst>
          </p:cNvPr>
          <p:cNvSpPr txBox="1"/>
          <p:nvPr/>
        </p:nvSpPr>
        <p:spPr>
          <a:xfrm>
            <a:off x="5032021" y="3413219"/>
            <a:ext cx="42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月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B34BA3E-01A7-233A-0F65-A440FB25361D}"/>
              </a:ext>
            </a:extLst>
          </p:cNvPr>
          <p:cNvSpPr txBox="1"/>
          <p:nvPr/>
        </p:nvSpPr>
        <p:spPr>
          <a:xfrm>
            <a:off x="6000043" y="3408427"/>
            <a:ext cx="42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日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0E30988-CBD0-5E3B-D001-7B65049808E4}"/>
              </a:ext>
            </a:extLst>
          </p:cNvPr>
          <p:cNvSpPr/>
          <p:nvPr/>
        </p:nvSpPr>
        <p:spPr>
          <a:xfrm>
            <a:off x="5403107" y="3393425"/>
            <a:ext cx="596936" cy="307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C12357B-4912-749C-6254-4771151D1275}"/>
              </a:ext>
            </a:extLst>
          </p:cNvPr>
          <p:cNvSpPr txBox="1"/>
          <p:nvPr/>
        </p:nvSpPr>
        <p:spPr>
          <a:xfrm>
            <a:off x="2949355" y="3389934"/>
            <a:ext cx="574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令和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D9E55F2-AB32-3054-D4BC-6AA2D2109820}"/>
              </a:ext>
            </a:extLst>
          </p:cNvPr>
          <p:cNvSpPr txBox="1"/>
          <p:nvPr/>
        </p:nvSpPr>
        <p:spPr>
          <a:xfrm>
            <a:off x="6641061" y="3420404"/>
            <a:ext cx="574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令和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B621DF1-820D-4B6A-B52A-86C44F82BAFA}"/>
              </a:ext>
            </a:extLst>
          </p:cNvPr>
          <p:cNvSpPr txBox="1"/>
          <p:nvPr/>
        </p:nvSpPr>
        <p:spPr>
          <a:xfrm>
            <a:off x="7701754" y="3417139"/>
            <a:ext cx="42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年</a:t>
            </a:r>
            <a:endParaRPr kumimoji="1" lang="ja-JP" altLang="en-US" sz="14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430F8D4-B28D-7857-9D7E-5D9B1641EC65}"/>
              </a:ext>
            </a:extLst>
          </p:cNvPr>
          <p:cNvSpPr/>
          <p:nvPr/>
        </p:nvSpPr>
        <p:spPr>
          <a:xfrm>
            <a:off x="7125072" y="3390603"/>
            <a:ext cx="596936" cy="307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34A2E54-D814-F77E-017E-F27373FF5C80}"/>
              </a:ext>
            </a:extLst>
          </p:cNvPr>
          <p:cNvSpPr/>
          <p:nvPr/>
        </p:nvSpPr>
        <p:spPr>
          <a:xfrm>
            <a:off x="8031226" y="3392728"/>
            <a:ext cx="596936" cy="307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F4B398E-D508-0542-470D-A9A32D762C61}"/>
              </a:ext>
            </a:extLst>
          </p:cNvPr>
          <p:cNvSpPr txBox="1"/>
          <p:nvPr/>
        </p:nvSpPr>
        <p:spPr>
          <a:xfrm>
            <a:off x="8609065" y="3408426"/>
            <a:ext cx="42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月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7F0D356-269D-8480-48CF-4DF21633CF96}"/>
              </a:ext>
            </a:extLst>
          </p:cNvPr>
          <p:cNvSpPr/>
          <p:nvPr/>
        </p:nvSpPr>
        <p:spPr>
          <a:xfrm>
            <a:off x="8957634" y="3402148"/>
            <a:ext cx="596936" cy="3071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E122F2E-1545-598F-2A48-5C591234CC4A}"/>
              </a:ext>
            </a:extLst>
          </p:cNvPr>
          <p:cNvSpPr txBox="1"/>
          <p:nvPr/>
        </p:nvSpPr>
        <p:spPr>
          <a:xfrm>
            <a:off x="9536661" y="3420404"/>
            <a:ext cx="42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日</a:t>
            </a: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56E6B33C-585E-95BB-BDF2-6FF0031FAADC}"/>
              </a:ext>
            </a:extLst>
          </p:cNvPr>
          <p:cNvCxnSpPr>
            <a:cxnSpLocks/>
          </p:cNvCxnSpPr>
          <p:nvPr/>
        </p:nvCxnSpPr>
        <p:spPr>
          <a:xfrm>
            <a:off x="3739111" y="3550985"/>
            <a:ext cx="1010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ED48593-34E0-F787-00D8-034EE5A9E55C}"/>
              </a:ext>
            </a:extLst>
          </p:cNvPr>
          <p:cNvCxnSpPr>
            <a:cxnSpLocks/>
          </p:cNvCxnSpPr>
          <p:nvPr/>
        </p:nvCxnSpPr>
        <p:spPr>
          <a:xfrm>
            <a:off x="4827859" y="3534579"/>
            <a:ext cx="957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16344FE-3C46-3E14-4FE8-AC9E0F7F96E5}"/>
              </a:ext>
            </a:extLst>
          </p:cNvPr>
          <p:cNvSpPr txBox="1"/>
          <p:nvPr/>
        </p:nvSpPr>
        <p:spPr>
          <a:xfrm>
            <a:off x="6568496" y="3859205"/>
            <a:ext cx="1153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プルダウン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034CDB8-6D78-5C56-CA69-89BD6229C807}"/>
              </a:ext>
            </a:extLst>
          </p:cNvPr>
          <p:cNvSpPr txBox="1"/>
          <p:nvPr/>
        </p:nvSpPr>
        <p:spPr>
          <a:xfrm>
            <a:off x="3609933" y="3850164"/>
            <a:ext cx="42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日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A5B9E82C-402D-F454-1D01-A7A9FD70DB49}"/>
              </a:ext>
            </a:extLst>
          </p:cNvPr>
          <p:cNvCxnSpPr>
            <a:cxnSpLocks/>
          </p:cNvCxnSpPr>
          <p:nvPr/>
        </p:nvCxnSpPr>
        <p:spPr>
          <a:xfrm>
            <a:off x="4211533" y="2290221"/>
            <a:ext cx="1010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6868FDC-8991-EA47-86E6-ED7D35346202}"/>
              </a:ext>
            </a:extLst>
          </p:cNvPr>
          <p:cNvSpPr txBox="1"/>
          <p:nvPr/>
        </p:nvSpPr>
        <p:spPr>
          <a:xfrm>
            <a:off x="5175331" y="2136528"/>
            <a:ext cx="1153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プルダウン</a:t>
            </a:r>
          </a:p>
        </p:txBody>
      </p:sp>
    </p:spTree>
    <p:extLst>
      <p:ext uri="{BB962C8B-B14F-4D97-AF65-F5344CB8AC3E}">
        <p14:creationId xmlns:p14="http://schemas.microsoft.com/office/powerpoint/2010/main" val="4159551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40B1F-2759-3E9A-AF28-90BD6CB1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A6147F85-4AD0-4C1D-9709-324731C97988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現場担当者：退社申請</a:t>
            </a:r>
            <a:r>
              <a:rPr kumimoji="1" lang="ja-JP" altLang="en-US" dirty="0">
                <a:solidFill>
                  <a:schemeClr val="tx1"/>
                </a:solidFill>
              </a:rPr>
              <a:t>：スマホ画面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9E6B9D3-0C2C-7320-B8A9-CEDB7EF3FF6F}"/>
              </a:ext>
            </a:extLst>
          </p:cNvPr>
          <p:cNvSpPr/>
          <p:nvPr/>
        </p:nvSpPr>
        <p:spPr>
          <a:xfrm>
            <a:off x="4382170" y="1022022"/>
            <a:ext cx="3686789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41C75B-3C25-7F27-DBC0-E117DB8E6523}"/>
              </a:ext>
            </a:extLst>
          </p:cNvPr>
          <p:cNvSpPr txBox="1"/>
          <p:nvPr/>
        </p:nvSpPr>
        <p:spPr>
          <a:xfrm>
            <a:off x="4686821" y="2329268"/>
            <a:ext cx="1019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⑴派遣先</a:t>
            </a:r>
            <a:endParaRPr kumimoji="1" lang="ja-JP" altLang="en-US" sz="105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2761D89-DDF0-8109-4A2B-5F1507F2813B}"/>
              </a:ext>
            </a:extLst>
          </p:cNvPr>
          <p:cNvSpPr/>
          <p:nvPr/>
        </p:nvSpPr>
        <p:spPr>
          <a:xfrm>
            <a:off x="5619870" y="2340842"/>
            <a:ext cx="859469" cy="217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4285D4-4A19-374E-98E6-33727653C5BF}"/>
              </a:ext>
            </a:extLst>
          </p:cNvPr>
          <p:cNvSpPr txBox="1"/>
          <p:nvPr/>
        </p:nvSpPr>
        <p:spPr>
          <a:xfrm>
            <a:off x="4686821" y="2744007"/>
            <a:ext cx="1620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⑵</a:t>
            </a:r>
            <a:r>
              <a:rPr kumimoji="1" lang="en-US" altLang="ja-JP" sz="1050" dirty="0"/>
              <a:t>Y</a:t>
            </a:r>
            <a:r>
              <a:rPr kumimoji="1" lang="ja-JP" altLang="en-US" sz="1050" dirty="0"/>
              <a:t>コード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5DA0A5-6BAB-9239-3050-866F5FB80189}"/>
              </a:ext>
            </a:extLst>
          </p:cNvPr>
          <p:cNvSpPr/>
          <p:nvPr/>
        </p:nvSpPr>
        <p:spPr>
          <a:xfrm>
            <a:off x="5619874" y="2755836"/>
            <a:ext cx="2134730" cy="217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4ABAF016-673E-CBE5-7805-8D4393E2F1A3}"/>
              </a:ext>
            </a:extLst>
          </p:cNvPr>
          <p:cNvSpPr/>
          <p:nvPr/>
        </p:nvSpPr>
        <p:spPr>
          <a:xfrm>
            <a:off x="6455671" y="6099533"/>
            <a:ext cx="1313493" cy="23066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送信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F1C703-2D4A-0A48-7CBF-0D744D3C561F}"/>
              </a:ext>
            </a:extLst>
          </p:cNvPr>
          <p:cNvSpPr txBox="1"/>
          <p:nvPr/>
        </p:nvSpPr>
        <p:spPr>
          <a:xfrm>
            <a:off x="5677757" y="1828348"/>
            <a:ext cx="12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有給申請</a:t>
            </a:r>
            <a:endParaRPr kumimoji="1" lang="ja-JP" altLang="en-US" b="1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52367E79-633F-B64B-EE3D-AA8DC31636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6948523" y="1816046"/>
            <a:ext cx="485318" cy="2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11EFA4C6-AC9A-437E-AB39-200BEAF2E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021" y="1832380"/>
            <a:ext cx="367937" cy="25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B9612D-0872-E63F-E271-AD20EFCA994B}"/>
              </a:ext>
            </a:extLst>
          </p:cNvPr>
          <p:cNvSpPr txBox="1"/>
          <p:nvPr/>
        </p:nvSpPr>
        <p:spPr>
          <a:xfrm>
            <a:off x="4686820" y="3157912"/>
            <a:ext cx="1800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⑶使用者</a:t>
            </a:r>
            <a:endParaRPr kumimoji="1" lang="ja-JP" altLang="en-US" sz="105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7F42842-3C66-11D8-22F6-6E907CD55C9D}"/>
              </a:ext>
            </a:extLst>
          </p:cNvPr>
          <p:cNvSpPr txBox="1"/>
          <p:nvPr/>
        </p:nvSpPr>
        <p:spPr>
          <a:xfrm>
            <a:off x="4697107" y="3640727"/>
            <a:ext cx="1800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⑷使用日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4F37EA-492A-82DA-75C2-91D199D61BA6}"/>
              </a:ext>
            </a:extLst>
          </p:cNvPr>
          <p:cNvSpPr txBox="1"/>
          <p:nvPr/>
        </p:nvSpPr>
        <p:spPr>
          <a:xfrm>
            <a:off x="4686821" y="4048329"/>
            <a:ext cx="1620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⑸使用日数</a:t>
            </a:r>
            <a:endParaRPr kumimoji="1" lang="ja-JP" altLang="en-US" sz="105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C48DEE2-394C-B09F-3841-88DF8043B373}"/>
              </a:ext>
            </a:extLst>
          </p:cNvPr>
          <p:cNvSpPr/>
          <p:nvPr/>
        </p:nvSpPr>
        <p:spPr>
          <a:xfrm>
            <a:off x="5619873" y="3621137"/>
            <a:ext cx="859467" cy="2357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A70A4E4-3628-D103-8DF8-097E028C63E1}"/>
              </a:ext>
            </a:extLst>
          </p:cNvPr>
          <p:cNvSpPr/>
          <p:nvPr/>
        </p:nvSpPr>
        <p:spPr>
          <a:xfrm>
            <a:off x="5619869" y="3159117"/>
            <a:ext cx="2142721" cy="236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50B5F87-397E-DECE-40AD-E5B58EEA70C5}"/>
              </a:ext>
            </a:extLst>
          </p:cNvPr>
          <p:cNvSpPr/>
          <p:nvPr/>
        </p:nvSpPr>
        <p:spPr>
          <a:xfrm>
            <a:off x="5619873" y="4054042"/>
            <a:ext cx="859467" cy="2352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7419B33-D483-935B-E847-65FA3C1D3F5F}"/>
              </a:ext>
            </a:extLst>
          </p:cNvPr>
          <p:cNvSpPr txBox="1"/>
          <p:nvPr/>
        </p:nvSpPr>
        <p:spPr>
          <a:xfrm>
            <a:off x="4683033" y="4462782"/>
            <a:ext cx="13024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⑹使用理由</a:t>
            </a:r>
            <a:endParaRPr kumimoji="1" lang="ja-JP" altLang="en-US" sz="105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3D1D0E0-62C7-99E7-3C1D-59CDA1F0D4E9}"/>
              </a:ext>
            </a:extLst>
          </p:cNvPr>
          <p:cNvSpPr/>
          <p:nvPr/>
        </p:nvSpPr>
        <p:spPr>
          <a:xfrm>
            <a:off x="5619870" y="4493156"/>
            <a:ext cx="2134730" cy="217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710A390-D606-05EA-A229-38ADE875218A}"/>
              </a:ext>
            </a:extLst>
          </p:cNvPr>
          <p:cNvSpPr txBox="1"/>
          <p:nvPr/>
        </p:nvSpPr>
        <p:spPr>
          <a:xfrm>
            <a:off x="4684256" y="4947744"/>
            <a:ext cx="9028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⑺備考</a:t>
            </a:r>
            <a:endParaRPr kumimoji="1" lang="ja-JP" altLang="en-US" sz="1050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5D267B8-F69C-6383-8B72-15A41B276C63}"/>
              </a:ext>
            </a:extLst>
          </p:cNvPr>
          <p:cNvSpPr/>
          <p:nvPr/>
        </p:nvSpPr>
        <p:spPr>
          <a:xfrm>
            <a:off x="5609002" y="4947744"/>
            <a:ext cx="2134730" cy="2352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BAEA081-6D2C-0669-5190-7FC44070011A}"/>
              </a:ext>
            </a:extLst>
          </p:cNvPr>
          <p:cNvSpPr txBox="1"/>
          <p:nvPr/>
        </p:nvSpPr>
        <p:spPr>
          <a:xfrm>
            <a:off x="5781428" y="5705173"/>
            <a:ext cx="11293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提出者</a:t>
            </a:r>
            <a:endParaRPr kumimoji="1" lang="ja-JP" altLang="en-US" sz="110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2146B18-4B97-ADCD-CBB4-30A328FB9AB6}"/>
              </a:ext>
            </a:extLst>
          </p:cNvPr>
          <p:cNvSpPr/>
          <p:nvPr/>
        </p:nvSpPr>
        <p:spPr>
          <a:xfrm>
            <a:off x="6410573" y="5710254"/>
            <a:ext cx="1369512" cy="2306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四角形: 角を丸くする 35">
            <a:extLst>
              <a:ext uri="{FF2B5EF4-FFF2-40B4-BE49-F238E27FC236}">
                <a16:creationId xmlns:a16="http://schemas.microsoft.com/office/drawing/2014/main" id="{4E5A8B0A-7696-F124-570D-495ADC658FA1}"/>
              </a:ext>
            </a:extLst>
          </p:cNvPr>
          <p:cNvSpPr/>
          <p:nvPr/>
        </p:nvSpPr>
        <p:spPr>
          <a:xfrm>
            <a:off x="4511709" y="1158058"/>
            <a:ext cx="1125607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＜＜＜</a:t>
            </a:r>
            <a:r>
              <a:rPr kumimoji="1" lang="en-US" altLang="ja-JP" sz="800" dirty="0">
                <a:solidFill>
                  <a:schemeClr val="tx1"/>
                </a:solidFill>
              </a:rPr>
              <a:t>TOP</a:t>
            </a:r>
            <a:r>
              <a:rPr kumimoji="1" lang="ja-JP" altLang="en-US" sz="8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5" name="四角形: 角を丸くする 35">
            <a:extLst>
              <a:ext uri="{FF2B5EF4-FFF2-40B4-BE49-F238E27FC236}">
                <a16:creationId xmlns:a16="http://schemas.microsoft.com/office/drawing/2014/main" id="{C885D438-6591-33C1-0BE6-8D89B6871545}"/>
              </a:ext>
            </a:extLst>
          </p:cNvPr>
          <p:cNvSpPr/>
          <p:nvPr/>
        </p:nvSpPr>
        <p:spPr>
          <a:xfrm>
            <a:off x="6755277" y="1174857"/>
            <a:ext cx="865845" cy="33441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＜</a:t>
            </a:r>
            <a:r>
              <a:rPr lang="ja-JP" altLang="en-US" sz="800" dirty="0">
                <a:solidFill>
                  <a:schemeClr val="tx1"/>
                </a:solidFill>
              </a:rPr>
              <a:t>従業員詳細</a:t>
            </a:r>
            <a:endParaRPr kumimoji="1" lang="ja-JP" altLang="en-US" sz="800" dirty="0">
              <a:solidFill>
                <a:schemeClr val="tx1"/>
              </a:solidFill>
            </a:endParaRPr>
          </a:p>
        </p:txBody>
      </p:sp>
      <p:sp>
        <p:nvSpPr>
          <p:cNvPr id="56" name="四角形: 角を丸くする 35">
            <a:extLst>
              <a:ext uri="{FF2B5EF4-FFF2-40B4-BE49-F238E27FC236}">
                <a16:creationId xmlns:a16="http://schemas.microsoft.com/office/drawing/2014/main" id="{37753B34-24FD-4FD9-95C2-1E550C53A593}"/>
              </a:ext>
            </a:extLst>
          </p:cNvPr>
          <p:cNvSpPr/>
          <p:nvPr/>
        </p:nvSpPr>
        <p:spPr>
          <a:xfrm>
            <a:off x="5716226" y="1165961"/>
            <a:ext cx="960141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＜＜従業員一覧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5F6EB6-AD72-7769-C76E-C25C22C28758}"/>
              </a:ext>
            </a:extLst>
          </p:cNvPr>
          <p:cNvSpPr/>
          <p:nvPr/>
        </p:nvSpPr>
        <p:spPr>
          <a:xfrm>
            <a:off x="6928624" y="3621137"/>
            <a:ext cx="840541" cy="2357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31CC4B-EA1B-49E4-EA29-08FCD9F234D7}"/>
              </a:ext>
            </a:extLst>
          </p:cNvPr>
          <p:cNvSpPr txBox="1"/>
          <p:nvPr/>
        </p:nvSpPr>
        <p:spPr>
          <a:xfrm>
            <a:off x="6515861" y="3606140"/>
            <a:ext cx="31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～</a:t>
            </a:r>
          </a:p>
        </p:txBody>
      </p:sp>
    </p:spTree>
    <p:extLst>
      <p:ext uri="{BB962C8B-B14F-4D97-AF65-F5344CB8AC3E}">
        <p14:creationId xmlns:p14="http://schemas.microsoft.com/office/powerpoint/2010/main" val="2394034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E69D-56F5-837A-D1BF-050BD76B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A349D0F9-A18C-F215-99E1-B665BAF84DCE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現場担当者：従業員一覧表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6DA1CAE-B0D9-F9A4-691A-BAC14FAF0F4C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1B2EB1-C74A-1931-11FC-20BE018DB200}"/>
              </a:ext>
            </a:extLst>
          </p:cNvPr>
          <p:cNvSpPr txBox="1"/>
          <p:nvPr/>
        </p:nvSpPr>
        <p:spPr>
          <a:xfrm>
            <a:off x="4552253" y="1345797"/>
            <a:ext cx="2291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カレンダー</a:t>
            </a:r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8482A312-741D-4E84-06CA-2BD1347BE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51E20074-555C-E36A-76E3-CC2C7451B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5">
            <a:extLst>
              <a:ext uri="{FF2B5EF4-FFF2-40B4-BE49-F238E27FC236}">
                <a16:creationId xmlns:a16="http://schemas.microsoft.com/office/drawing/2014/main" id="{BDDAC4B3-306D-4116-5EB7-DCB6BD595B49}"/>
              </a:ext>
            </a:extLst>
          </p:cNvPr>
          <p:cNvSpPr/>
          <p:nvPr/>
        </p:nvSpPr>
        <p:spPr>
          <a:xfrm>
            <a:off x="708937" y="1186512"/>
            <a:ext cx="1470845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＜＜</a:t>
            </a:r>
            <a:r>
              <a:rPr kumimoji="1" lang="en-US" altLang="ja-JP" sz="1400" dirty="0">
                <a:solidFill>
                  <a:schemeClr val="tx1"/>
                </a:solidFill>
              </a:rPr>
              <a:t>TOP</a:t>
            </a:r>
            <a:r>
              <a:rPr kumimoji="1" lang="ja-JP" altLang="en-US" sz="1400" dirty="0">
                <a:solidFill>
                  <a:schemeClr val="tx1"/>
                </a:solidFill>
              </a:rPr>
              <a:t>ページ</a:t>
            </a: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CE5AED48-7FA6-ED78-C04A-A4D5495D1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024028"/>
              </p:ext>
            </p:extLst>
          </p:nvPr>
        </p:nvGraphicFramePr>
        <p:xfrm>
          <a:off x="2031999" y="2240671"/>
          <a:ext cx="8128001" cy="4074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9285091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63266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1814331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8390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885464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9904407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4191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日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火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水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木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金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土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21683"/>
                  </a:ext>
                </a:extLst>
              </a:tr>
              <a:tr h="701934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4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5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6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7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392919"/>
                  </a:ext>
                </a:extLst>
              </a:tr>
              <a:tr h="674254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8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9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10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14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865240"/>
                  </a:ext>
                </a:extLst>
              </a:tr>
              <a:tr h="794327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15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16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17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18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19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20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21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960069"/>
                  </a:ext>
                </a:extLst>
              </a:tr>
              <a:tr h="720437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24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25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26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27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28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907538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29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30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76477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7231EE9-0A4F-CAEA-A399-3E2EF3DD6C10}"/>
              </a:ext>
            </a:extLst>
          </p:cNvPr>
          <p:cNvSpPr txBox="1"/>
          <p:nvPr/>
        </p:nvSpPr>
        <p:spPr>
          <a:xfrm>
            <a:off x="2196941" y="1796459"/>
            <a:ext cx="75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10</a:t>
            </a:r>
            <a:r>
              <a:rPr kumimoji="1" lang="ja-JP" altLang="en-US" sz="2000" dirty="0"/>
              <a:t>月</a:t>
            </a:r>
          </a:p>
        </p:txBody>
      </p:sp>
      <p:sp>
        <p:nvSpPr>
          <p:cNvPr id="13" name="四角形: 角を丸くする 35">
            <a:extLst>
              <a:ext uri="{FF2B5EF4-FFF2-40B4-BE49-F238E27FC236}">
                <a16:creationId xmlns:a16="http://schemas.microsoft.com/office/drawing/2014/main" id="{DCBB889A-9E40-17D4-3F6A-F53030DD4F90}"/>
              </a:ext>
            </a:extLst>
          </p:cNvPr>
          <p:cNvSpPr/>
          <p:nvPr/>
        </p:nvSpPr>
        <p:spPr>
          <a:xfrm>
            <a:off x="1056750" y="3797558"/>
            <a:ext cx="775217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</a:t>
            </a:r>
            <a:r>
              <a:rPr kumimoji="1" lang="en-US" altLang="ja-JP" sz="1400" dirty="0">
                <a:solidFill>
                  <a:schemeClr val="tx1"/>
                </a:solidFill>
              </a:rPr>
              <a:t>9</a:t>
            </a:r>
            <a:r>
              <a:rPr kumimoji="1" lang="ja-JP" altLang="en-US" sz="1400" dirty="0">
                <a:solidFill>
                  <a:schemeClr val="tx1"/>
                </a:solidFill>
              </a:rPr>
              <a:t>月</a:t>
            </a:r>
          </a:p>
        </p:txBody>
      </p:sp>
      <p:sp>
        <p:nvSpPr>
          <p:cNvPr id="14" name="四角形: 角を丸くする 35">
            <a:extLst>
              <a:ext uri="{FF2B5EF4-FFF2-40B4-BE49-F238E27FC236}">
                <a16:creationId xmlns:a16="http://schemas.microsoft.com/office/drawing/2014/main" id="{EDDDEDC5-8634-D56D-0F35-261D8D01984D}"/>
              </a:ext>
            </a:extLst>
          </p:cNvPr>
          <p:cNvSpPr/>
          <p:nvPr/>
        </p:nvSpPr>
        <p:spPr>
          <a:xfrm>
            <a:off x="10405654" y="3797559"/>
            <a:ext cx="775217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11</a:t>
            </a:r>
            <a:r>
              <a:rPr kumimoji="1" lang="ja-JP" altLang="en-US" sz="1400" dirty="0">
                <a:solidFill>
                  <a:schemeClr val="tx1"/>
                </a:solidFill>
              </a:rPr>
              <a:t>月＞</a:t>
            </a:r>
          </a:p>
        </p:txBody>
      </p:sp>
    </p:spTree>
    <p:extLst>
      <p:ext uri="{BB962C8B-B14F-4D97-AF65-F5344CB8AC3E}">
        <p14:creationId xmlns:p14="http://schemas.microsoft.com/office/powerpoint/2010/main" val="377134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1254-28D2-4688-1A0E-56740650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98198751-9066-815F-F736-0899360FA1FA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現場担当者：従業員一覧表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12589F-0CE8-290B-4CC7-9C764EAB1ABF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8E5179-7F7C-28B6-5627-E0CC041C6900}"/>
              </a:ext>
            </a:extLst>
          </p:cNvPr>
          <p:cNvSpPr txBox="1"/>
          <p:nvPr/>
        </p:nvSpPr>
        <p:spPr>
          <a:xfrm>
            <a:off x="4728699" y="1831822"/>
            <a:ext cx="2734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入力フォーム</a:t>
            </a:r>
            <a:endParaRPr kumimoji="1" lang="ja-JP" altLang="en-US" sz="3200" dirty="0"/>
          </a:p>
        </p:txBody>
      </p:sp>
      <p:pic>
        <p:nvPicPr>
          <p:cNvPr id="1026" name="Picture 2" descr="日本国旗】日の丸（34cm×42cm・金巾木綿）【領収書発行】 : フタバ装飾 - 通販 - Yahoo!ショッピング">
            <a:extLst>
              <a:ext uri="{FF2B5EF4-FFF2-40B4-BE49-F238E27FC236}">
                <a16:creationId xmlns:a16="http://schemas.microsoft.com/office/drawing/2014/main" id="{AA57894A-9580-E71D-6F9E-2B88BAF37F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3" b="20042"/>
          <a:stretch>
            <a:fillRect/>
          </a:stretch>
        </p:blipFill>
        <p:spPr bwMode="auto">
          <a:xfrm>
            <a:off x="9281609" y="1144142"/>
            <a:ext cx="1258839" cy="75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ブラジルの国旗 - Wikipedia">
            <a:extLst>
              <a:ext uri="{FF2B5EF4-FFF2-40B4-BE49-F238E27FC236}">
                <a16:creationId xmlns:a16="http://schemas.microsoft.com/office/drawing/2014/main" id="{C9DC807B-3A23-C797-AE70-089BEDC80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705" y="1186512"/>
            <a:ext cx="954371" cy="66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5">
            <a:extLst>
              <a:ext uri="{FF2B5EF4-FFF2-40B4-BE49-F238E27FC236}">
                <a16:creationId xmlns:a16="http://schemas.microsoft.com/office/drawing/2014/main" id="{99066457-9C45-794C-820B-B25AB6816034}"/>
              </a:ext>
            </a:extLst>
          </p:cNvPr>
          <p:cNvSpPr/>
          <p:nvPr/>
        </p:nvSpPr>
        <p:spPr>
          <a:xfrm>
            <a:off x="708937" y="1186512"/>
            <a:ext cx="1470845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＜＜</a:t>
            </a:r>
            <a:r>
              <a:rPr kumimoji="1" lang="en-US" altLang="ja-JP" sz="1400" dirty="0">
                <a:solidFill>
                  <a:schemeClr val="tx1"/>
                </a:solidFill>
              </a:rPr>
              <a:t>TOP</a:t>
            </a:r>
            <a:r>
              <a:rPr kumimoji="1" lang="ja-JP" altLang="en-US" sz="14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3" name="四角形: 角を丸くする 35">
            <a:extLst>
              <a:ext uri="{FF2B5EF4-FFF2-40B4-BE49-F238E27FC236}">
                <a16:creationId xmlns:a16="http://schemas.microsoft.com/office/drawing/2014/main" id="{C58B4A4E-1279-A28F-06BA-74AD8AB5255A}"/>
              </a:ext>
            </a:extLst>
          </p:cNvPr>
          <p:cNvSpPr/>
          <p:nvPr/>
        </p:nvSpPr>
        <p:spPr>
          <a:xfrm>
            <a:off x="2421763" y="1175274"/>
            <a:ext cx="1470845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＜＜</a:t>
            </a:r>
            <a:r>
              <a:rPr lang="ja-JP" altLang="en-US" sz="1400" dirty="0">
                <a:solidFill>
                  <a:schemeClr val="tx1"/>
                </a:solidFill>
              </a:rPr>
              <a:t>カレンダー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A95A0E33-C260-7BE6-CD12-A61B76B82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674995"/>
              </p:ext>
            </p:extLst>
          </p:nvPr>
        </p:nvGraphicFramePr>
        <p:xfrm>
          <a:off x="2146241" y="2976193"/>
          <a:ext cx="8128000" cy="2713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35103644"/>
                    </a:ext>
                  </a:extLst>
                </a:gridCol>
              </a:tblGrid>
              <a:tr h="46897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586255"/>
                  </a:ext>
                </a:extLst>
              </a:tr>
              <a:tr h="2244436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小澤＝</a:t>
                      </a:r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日休み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174685"/>
                  </a:ext>
                </a:extLst>
              </a:tr>
            </a:tbl>
          </a:graphicData>
        </a:graphic>
      </p:graphicFrame>
      <p:sp>
        <p:nvSpPr>
          <p:cNvPr id="6" name="四角形: 角を丸くする 35">
            <a:extLst>
              <a:ext uri="{FF2B5EF4-FFF2-40B4-BE49-F238E27FC236}">
                <a16:creationId xmlns:a16="http://schemas.microsoft.com/office/drawing/2014/main" id="{B8391437-3430-CB44-E299-15D2D763B724}"/>
              </a:ext>
            </a:extLst>
          </p:cNvPr>
          <p:cNvSpPr/>
          <p:nvPr/>
        </p:nvSpPr>
        <p:spPr>
          <a:xfrm>
            <a:off x="5474818" y="5861293"/>
            <a:ext cx="1470845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編集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163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C4A6-BEB7-7C5B-15B7-2D28666B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45147EF9-6B15-7DEF-A664-C4F4583F7FCA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本社：新着情報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BADE53-0F21-4A89-8D83-7AD1D41AD819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38E039-3395-CBBE-040A-10D798B4C6C3}"/>
              </a:ext>
            </a:extLst>
          </p:cNvPr>
          <p:cNvSpPr txBox="1"/>
          <p:nvPr/>
        </p:nvSpPr>
        <p:spPr>
          <a:xfrm>
            <a:off x="5381565" y="1494289"/>
            <a:ext cx="1428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新着情報</a:t>
            </a:r>
            <a:endParaRPr kumimoji="1" lang="ja-JP" altLang="en-US" sz="2400" b="1" dirty="0"/>
          </a:p>
        </p:txBody>
      </p:sp>
      <p:graphicFrame>
        <p:nvGraphicFramePr>
          <p:cNvPr id="43" name="表 42">
            <a:extLst>
              <a:ext uri="{FF2B5EF4-FFF2-40B4-BE49-F238E27FC236}">
                <a16:creationId xmlns:a16="http://schemas.microsoft.com/office/drawing/2014/main" id="{5FF7D113-F6AA-73EC-6132-3CA6402E8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17642"/>
              </p:ext>
            </p:extLst>
          </p:nvPr>
        </p:nvGraphicFramePr>
        <p:xfrm>
          <a:off x="3654931" y="2673388"/>
          <a:ext cx="4872943" cy="332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547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1805971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  <a:gridCol w="1818425">
                  <a:extLst>
                    <a:ext uri="{9D8B030D-6E8A-4147-A177-3AD203B41FA5}">
                      <a16:colId xmlns:a16="http://schemas.microsoft.com/office/drawing/2014/main" val="234629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提出日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申請者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区分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62407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581279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088561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80930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080913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9082"/>
                  </a:ext>
                </a:extLst>
              </a:tr>
            </a:tbl>
          </a:graphicData>
        </a:graphic>
      </p:graphicFrame>
      <p:sp>
        <p:nvSpPr>
          <p:cNvPr id="48" name="四角形: 角を丸くする 35">
            <a:extLst>
              <a:ext uri="{FF2B5EF4-FFF2-40B4-BE49-F238E27FC236}">
                <a16:creationId xmlns:a16="http://schemas.microsoft.com/office/drawing/2014/main" id="{EDEAC5F8-A4C1-EEB7-C8A5-7BBE18BBD743}"/>
              </a:ext>
            </a:extLst>
          </p:cNvPr>
          <p:cNvSpPr/>
          <p:nvPr/>
        </p:nvSpPr>
        <p:spPr>
          <a:xfrm>
            <a:off x="708937" y="1186512"/>
            <a:ext cx="1470845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＜＜</a:t>
            </a:r>
            <a:r>
              <a:rPr kumimoji="1" lang="en-US" altLang="ja-JP" sz="1400" dirty="0">
                <a:solidFill>
                  <a:schemeClr val="tx1"/>
                </a:solidFill>
              </a:rPr>
              <a:t>TOP</a:t>
            </a:r>
            <a:r>
              <a:rPr kumimoji="1" lang="ja-JP" altLang="en-US" sz="14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" name="四角形: 角を丸くする 35">
            <a:extLst>
              <a:ext uri="{FF2B5EF4-FFF2-40B4-BE49-F238E27FC236}">
                <a16:creationId xmlns:a16="http://schemas.microsoft.com/office/drawing/2014/main" id="{31DBFA5F-930B-ED2A-0A77-221C0F099581}"/>
              </a:ext>
            </a:extLst>
          </p:cNvPr>
          <p:cNvSpPr/>
          <p:nvPr/>
        </p:nvSpPr>
        <p:spPr>
          <a:xfrm>
            <a:off x="8656139" y="2966638"/>
            <a:ext cx="937986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処理済み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147604-77AB-8993-E31A-F4C2CBB7BF46}"/>
              </a:ext>
            </a:extLst>
          </p:cNvPr>
          <p:cNvSpPr txBox="1"/>
          <p:nvPr/>
        </p:nvSpPr>
        <p:spPr>
          <a:xfrm>
            <a:off x="7046189" y="1586870"/>
            <a:ext cx="48729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新着情報は本社：ログイン</a:t>
            </a:r>
            <a:r>
              <a:rPr lang="en-US" altLang="ja-JP" sz="1100" dirty="0"/>
              <a:t>ID</a:t>
            </a:r>
            <a:r>
              <a:rPr lang="ja-JP" altLang="en-US" sz="1100" dirty="0"/>
              <a:t>ごとへ送信し処理済みボタンにより本社：ログイン</a:t>
            </a:r>
            <a:r>
              <a:rPr lang="en-US" altLang="ja-JP" sz="1100" dirty="0"/>
              <a:t>ID</a:t>
            </a:r>
            <a:r>
              <a:rPr lang="ja-JP" altLang="en-US" sz="1100" dirty="0"/>
              <a:t>ごとに削除できるようにする。</a:t>
            </a:r>
            <a:endParaRPr kumimoji="1" lang="ja-JP" altLang="en-US" sz="1100" dirty="0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A311757-6086-6F90-B24F-42D7B53493E9}"/>
              </a:ext>
            </a:extLst>
          </p:cNvPr>
          <p:cNvCxnSpPr>
            <a:cxnSpLocks/>
          </p:cNvCxnSpPr>
          <p:nvPr/>
        </p:nvCxnSpPr>
        <p:spPr>
          <a:xfrm>
            <a:off x="8255726" y="3155125"/>
            <a:ext cx="783771" cy="580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17EFEF-AE3B-6266-F6A9-4257D93DCAD8}"/>
              </a:ext>
            </a:extLst>
          </p:cNvPr>
          <p:cNvSpPr txBox="1"/>
          <p:nvPr/>
        </p:nvSpPr>
        <p:spPr>
          <a:xfrm>
            <a:off x="9039497" y="3636829"/>
            <a:ext cx="2722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区分とは「入社連絡」「退社連絡」等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1B3A718-6B85-6FB1-0229-83B76D27D586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125132" y="2017757"/>
            <a:ext cx="357529" cy="864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267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14156-5F13-03CF-A766-E39AC0DF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52BBEECE-13C7-FDD5-C89F-0FC140D38098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本社：新着情報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BBBE78-A135-4F03-D9ED-D6F2F9AEDCA3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87F8BE6-0175-FDCF-4A60-4AE57F6EB47F}"/>
              </a:ext>
            </a:extLst>
          </p:cNvPr>
          <p:cNvSpPr txBox="1"/>
          <p:nvPr/>
        </p:nvSpPr>
        <p:spPr>
          <a:xfrm>
            <a:off x="4576343" y="1340400"/>
            <a:ext cx="326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サイトユーザー情報</a:t>
            </a:r>
          </a:p>
        </p:txBody>
      </p:sp>
      <p:graphicFrame>
        <p:nvGraphicFramePr>
          <p:cNvPr id="43" name="表 42">
            <a:extLst>
              <a:ext uri="{FF2B5EF4-FFF2-40B4-BE49-F238E27FC236}">
                <a16:creationId xmlns:a16="http://schemas.microsoft.com/office/drawing/2014/main" id="{D02DA073-1C96-BD7D-652C-6B5BBDD38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311450"/>
              </p:ext>
            </p:extLst>
          </p:nvPr>
        </p:nvGraphicFramePr>
        <p:xfrm>
          <a:off x="794327" y="2719246"/>
          <a:ext cx="10002981" cy="332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873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1182255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  <a:gridCol w="1034472">
                  <a:extLst>
                    <a:ext uri="{9D8B030D-6E8A-4147-A177-3AD203B41FA5}">
                      <a16:colId xmlns:a16="http://schemas.microsoft.com/office/drawing/2014/main" val="3813702888"/>
                    </a:ext>
                  </a:extLst>
                </a:gridCol>
                <a:gridCol w="2013528">
                  <a:extLst>
                    <a:ext uri="{9D8B030D-6E8A-4147-A177-3AD203B41FA5}">
                      <a16:colId xmlns:a16="http://schemas.microsoft.com/office/drawing/2014/main" val="234629454"/>
                    </a:ext>
                  </a:extLst>
                </a:gridCol>
                <a:gridCol w="2075479">
                  <a:extLst>
                    <a:ext uri="{9D8B030D-6E8A-4147-A177-3AD203B41FA5}">
                      <a16:colId xmlns:a16="http://schemas.microsoft.com/office/drawing/2014/main" val="4204000570"/>
                    </a:ext>
                  </a:extLst>
                </a:gridCol>
                <a:gridCol w="2256374">
                  <a:extLst>
                    <a:ext uri="{9D8B030D-6E8A-4147-A177-3AD203B41FA5}">
                      <a16:colId xmlns:a16="http://schemas.microsoft.com/office/drawing/2014/main" val="2168614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所属部署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権限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メールアドレス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ログイン</a:t>
                      </a:r>
                      <a:r>
                        <a:rPr kumimoji="1" lang="en-US" altLang="ja-JP" sz="1050" dirty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パスワード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62407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581279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088561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80930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080913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9082"/>
                  </a:ext>
                </a:extLst>
              </a:tr>
            </a:tbl>
          </a:graphicData>
        </a:graphic>
      </p:graphicFrame>
      <p:sp>
        <p:nvSpPr>
          <p:cNvPr id="48" name="四角形: 角を丸くする 35">
            <a:extLst>
              <a:ext uri="{FF2B5EF4-FFF2-40B4-BE49-F238E27FC236}">
                <a16:creationId xmlns:a16="http://schemas.microsoft.com/office/drawing/2014/main" id="{71C49A81-9EC3-D6E3-30CC-F31F2C8D44BD}"/>
              </a:ext>
            </a:extLst>
          </p:cNvPr>
          <p:cNvSpPr/>
          <p:nvPr/>
        </p:nvSpPr>
        <p:spPr>
          <a:xfrm>
            <a:off x="708937" y="1186512"/>
            <a:ext cx="1470845" cy="3077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＜＜</a:t>
            </a:r>
            <a:r>
              <a:rPr kumimoji="1" lang="en-US" altLang="ja-JP" sz="1400" dirty="0">
                <a:solidFill>
                  <a:schemeClr val="tx1"/>
                </a:solidFill>
              </a:rPr>
              <a:t>TOP</a:t>
            </a:r>
            <a:r>
              <a:rPr kumimoji="1" lang="ja-JP" altLang="en-US" sz="1400" dirty="0">
                <a:solidFill>
                  <a:schemeClr val="tx1"/>
                </a:solidFill>
              </a:rPr>
              <a:t>ページ</a:t>
            </a:r>
          </a:p>
        </p:txBody>
      </p:sp>
      <p:sp>
        <p:nvSpPr>
          <p:cNvPr id="5" name="四角形: 角を丸くする 35">
            <a:extLst>
              <a:ext uri="{FF2B5EF4-FFF2-40B4-BE49-F238E27FC236}">
                <a16:creationId xmlns:a16="http://schemas.microsoft.com/office/drawing/2014/main" id="{02302CC8-744B-70EE-6D56-E993F207E716}"/>
              </a:ext>
            </a:extLst>
          </p:cNvPr>
          <p:cNvSpPr/>
          <p:nvPr/>
        </p:nvSpPr>
        <p:spPr>
          <a:xfrm>
            <a:off x="10977326" y="3491655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編集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四角形: 角を丸くする 35">
            <a:extLst>
              <a:ext uri="{FF2B5EF4-FFF2-40B4-BE49-F238E27FC236}">
                <a16:creationId xmlns:a16="http://schemas.microsoft.com/office/drawing/2014/main" id="{F7EA3A87-2486-DF50-E4C0-F1701F0F24FA}"/>
              </a:ext>
            </a:extLst>
          </p:cNvPr>
          <p:cNvSpPr/>
          <p:nvPr/>
        </p:nvSpPr>
        <p:spPr>
          <a:xfrm>
            <a:off x="5330736" y="2106767"/>
            <a:ext cx="1530527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ユーザー追加</a:t>
            </a:r>
          </a:p>
        </p:txBody>
      </p:sp>
      <p:sp>
        <p:nvSpPr>
          <p:cNvPr id="7" name="四角形: 角を丸くする 35">
            <a:extLst>
              <a:ext uri="{FF2B5EF4-FFF2-40B4-BE49-F238E27FC236}">
                <a16:creationId xmlns:a16="http://schemas.microsoft.com/office/drawing/2014/main" id="{467D1746-F9F7-B0D8-FFA5-7EE4D0D28BAB}"/>
              </a:ext>
            </a:extLst>
          </p:cNvPr>
          <p:cNvSpPr/>
          <p:nvPr/>
        </p:nvSpPr>
        <p:spPr>
          <a:xfrm>
            <a:off x="10987841" y="3926868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編集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四角形: 角を丸くする 35">
            <a:extLst>
              <a:ext uri="{FF2B5EF4-FFF2-40B4-BE49-F238E27FC236}">
                <a16:creationId xmlns:a16="http://schemas.microsoft.com/office/drawing/2014/main" id="{61AE5A2B-5CBA-91BC-4A09-72BA4B72DCEE}"/>
              </a:ext>
            </a:extLst>
          </p:cNvPr>
          <p:cNvSpPr/>
          <p:nvPr/>
        </p:nvSpPr>
        <p:spPr>
          <a:xfrm>
            <a:off x="10987841" y="4362081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編集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35">
            <a:extLst>
              <a:ext uri="{FF2B5EF4-FFF2-40B4-BE49-F238E27FC236}">
                <a16:creationId xmlns:a16="http://schemas.microsoft.com/office/drawing/2014/main" id="{E60758DE-0DC9-1E8D-3C34-1F300C048FE6}"/>
              </a:ext>
            </a:extLst>
          </p:cNvPr>
          <p:cNvSpPr/>
          <p:nvPr/>
        </p:nvSpPr>
        <p:spPr>
          <a:xfrm>
            <a:off x="10987841" y="4810710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編集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四角形: 角を丸くする 35">
            <a:extLst>
              <a:ext uri="{FF2B5EF4-FFF2-40B4-BE49-F238E27FC236}">
                <a16:creationId xmlns:a16="http://schemas.microsoft.com/office/drawing/2014/main" id="{32595FC0-3E5B-19E2-65DE-AB85BA3D0E94}"/>
              </a:ext>
            </a:extLst>
          </p:cNvPr>
          <p:cNvSpPr/>
          <p:nvPr/>
        </p:nvSpPr>
        <p:spPr>
          <a:xfrm>
            <a:off x="10977326" y="5259339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編集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35">
            <a:extLst>
              <a:ext uri="{FF2B5EF4-FFF2-40B4-BE49-F238E27FC236}">
                <a16:creationId xmlns:a16="http://schemas.microsoft.com/office/drawing/2014/main" id="{B79BAB67-9C10-2BAA-2593-5700C2DFCDE1}"/>
              </a:ext>
            </a:extLst>
          </p:cNvPr>
          <p:cNvSpPr/>
          <p:nvPr/>
        </p:nvSpPr>
        <p:spPr>
          <a:xfrm>
            <a:off x="10987841" y="3043026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編集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四角形: 角を丸くする 35">
            <a:extLst>
              <a:ext uri="{FF2B5EF4-FFF2-40B4-BE49-F238E27FC236}">
                <a16:creationId xmlns:a16="http://schemas.microsoft.com/office/drawing/2014/main" id="{F52A2023-4CEB-EEBC-8205-C8B16F064029}"/>
              </a:ext>
            </a:extLst>
          </p:cNvPr>
          <p:cNvSpPr/>
          <p:nvPr/>
        </p:nvSpPr>
        <p:spPr>
          <a:xfrm>
            <a:off x="10987841" y="5668413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編集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3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E857-7D2C-1211-10E2-DE5888FC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ED9BC675-543D-4D61-70C0-203FDB70A7F4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本社：新着情報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D023EBA-4018-B0D2-842B-110F1858E8E5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9629DA4-C72F-462B-3D40-0B429766941B}"/>
              </a:ext>
            </a:extLst>
          </p:cNvPr>
          <p:cNvSpPr txBox="1"/>
          <p:nvPr/>
        </p:nvSpPr>
        <p:spPr>
          <a:xfrm>
            <a:off x="5687153" y="2142903"/>
            <a:ext cx="1462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編集画面</a:t>
            </a:r>
            <a:endParaRPr kumimoji="1" lang="ja-JP" altLang="en-US" sz="2400" b="1" dirty="0"/>
          </a:p>
        </p:txBody>
      </p:sp>
      <p:sp>
        <p:nvSpPr>
          <p:cNvPr id="48" name="四角形: 角を丸くする 35">
            <a:extLst>
              <a:ext uri="{FF2B5EF4-FFF2-40B4-BE49-F238E27FC236}">
                <a16:creationId xmlns:a16="http://schemas.microsoft.com/office/drawing/2014/main" id="{B93C8F93-1A68-3F3D-C6DC-17A3F5CE89E6}"/>
              </a:ext>
            </a:extLst>
          </p:cNvPr>
          <p:cNvSpPr/>
          <p:nvPr/>
        </p:nvSpPr>
        <p:spPr>
          <a:xfrm>
            <a:off x="708937" y="1186512"/>
            <a:ext cx="2043499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＜サイトユーザー情報</a:t>
            </a:r>
          </a:p>
        </p:txBody>
      </p:sp>
      <p:sp>
        <p:nvSpPr>
          <p:cNvPr id="11" name="四角形: 角を丸くする 35">
            <a:extLst>
              <a:ext uri="{FF2B5EF4-FFF2-40B4-BE49-F238E27FC236}">
                <a16:creationId xmlns:a16="http://schemas.microsoft.com/office/drawing/2014/main" id="{0CCAAC5D-07FC-4F57-4A48-F2B8EA641D3D}"/>
              </a:ext>
            </a:extLst>
          </p:cNvPr>
          <p:cNvSpPr/>
          <p:nvPr/>
        </p:nvSpPr>
        <p:spPr>
          <a:xfrm>
            <a:off x="10418930" y="3891815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削除</a:t>
            </a:r>
          </a:p>
        </p:txBody>
      </p:sp>
      <p:sp>
        <p:nvSpPr>
          <p:cNvPr id="6" name="四角形: 角を丸くする 35">
            <a:extLst>
              <a:ext uri="{FF2B5EF4-FFF2-40B4-BE49-F238E27FC236}">
                <a16:creationId xmlns:a16="http://schemas.microsoft.com/office/drawing/2014/main" id="{B06D32F5-59B1-0D4B-11DB-898DB7022868}"/>
              </a:ext>
            </a:extLst>
          </p:cNvPr>
          <p:cNvSpPr/>
          <p:nvPr/>
        </p:nvSpPr>
        <p:spPr>
          <a:xfrm>
            <a:off x="9648972" y="3891816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完了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D538893-6E38-E921-5DA7-611F132D0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25181"/>
              </p:ext>
            </p:extLst>
          </p:nvPr>
        </p:nvGraphicFramePr>
        <p:xfrm>
          <a:off x="1094508" y="3082625"/>
          <a:ext cx="10002981" cy="690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873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1182255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  <a:gridCol w="1034472">
                  <a:extLst>
                    <a:ext uri="{9D8B030D-6E8A-4147-A177-3AD203B41FA5}">
                      <a16:colId xmlns:a16="http://schemas.microsoft.com/office/drawing/2014/main" val="3813702888"/>
                    </a:ext>
                  </a:extLst>
                </a:gridCol>
                <a:gridCol w="2013528">
                  <a:extLst>
                    <a:ext uri="{9D8B030D-6E8A-4147-A177-3AD203B41FA5}">
                      <a16:colId xmlns:a16="http://schemas.microsoft.com/office/drawing/2014/main" val="234629454"/>
                    </a:ext>
                  </a:extLst>
                </a:gridCol>
                <a:gridCol w="2075479">
                  <a:extLst>
                    <a:ext uri="{9D8B030D-6E8A-4147-A177-3AD203B41FA5}">
                      <a16:colId xmlns:a16="http://schemas.microsoft.com/office/drawing/2014/main" val="4204000570"/>
                    </a:ext>
                  </a:extLst>
                </a:gridCol>
                <a:gridCol w="2256374">
                  <a:extLst>
                    <a:ext uri="{9D8B030D-6E8A-4147-A177-3AD203B41FA5}">
                      <a16:colId xmlns:a16="http://schemas.microsoft.com/office/drawing/2014/main" val="2168614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所属部署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権限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メールアドレス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ログイン</a:t>
                      </a:r>
                      <a:r>
                        <a:rPr kumimoji="1" lang="en-US" altLang="ja-JP" sz="1050" dirty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パスワード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</a:tbl>
          </a:graphicData>
        </a:graphic>
      </p:graphicFrame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707958A-15A5-C4F6-68A2-0C2F111F60EA}"/>
              </a:ext>
            </a:extLst>
          </p:cNvPr>
          <p:cNvCxnSpPr/>
          <p:nvPr/>
        </p:nvCxnSpPr>
        <p:spPr>
          <a:xfrm>
            <a:off x="4232366" y="3640182"/>
            <a:ext cx="0" cy="879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6764571-278C-D5CF-6C82-C773573B5263}"/>
              </a:ext>
            </a:extLst>
          </p:cNvPr>
          <p:cNvSpPr txBox="1"/>
          <p:nvPr/>
        </p:nvSpPr>
        <p:spPr>
          <a:xfrm>
            <a:off x="3697245" y="4570618"/>
            <a:ext cx="1519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本社＝編集</a:t>
            </a:r>
            <a:r>
              <a:rPr kumimoji="1" lang="en-US" altLang="ja-JP" sz="1200" dirty="0"/>
              <a:t>/</a:t>
            </a:r>
            <a:r>
              <a:rPr kumimoji="1" lang="ja-JP" altLang="en-US" sz="1200" dirty="0"/>
              <a:t>削除</a:t>
            </a:r>
            <a:endParaRPr kumimoji="1" lang="en-US" altLang="ja-JP" sz="1200" dirty="0"/>
          </a:p>
          <a:p>
            <a:r>
              <a:rPr kumimoji="1" lang="ja-JP" altLang="en-US" sz="1200" dirty="0"/>
              <a:t>担当者＝申請</a:t>
            </a:r>
          </a:p>
        </p:txBody>
      </p:sp>
    </p:spTree>
    <p:extLst>
      <p:ext uri="{BB962C8B-B14F-4D97-AF65-F5344CB8AC3E}">
        <p14:creationId xmlns:p14="http://schemas.microsoft.com/office/powerpoint/2010/main" val="1757474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6F6E-289D-DEEC-6C35-E7614161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976978DE-1A9C-C4C9-1723-1147D978DA4C}"/>
              </a:ext>
            </a:extLst>
          </p:cNvPr>
          <p:cNvSpPr/>
          <p:nvPr/>
        </p:nvSpPr>
        <p:spPr>
          <a:xfrm>
            <a:off x="3892608" y="312256"/>
            <a:ext cx="4635266" cy="4417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本社：新着情報</a:t>
            </a:r>
            <a:r>
              <a:rPr kumimoji="1" lang="ja-JP" altLang="en-US" dirty="0">
                <a:solidFill>
                  <a:schemeClr val="tx1"/>
                </a:solidFill>
              </a:rPr>
              <a:t>：パソコン画面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773F459-94CF-4399-6BB0-C0C167017949}"/>
              </a:ext>
            </a:extLst>
          </p:cNvPr>
          <p:cNvSpPr/>
          <p:nvPr/>
        </p:nvSpPr>
        <p:spPr>
          <a:xfrm>
            <a:off x="513184" y="1035698"/>
            <a:ext cx="11327363" cy="5523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4B5922-90D8-5AAA-FBBF-5F5EDE5E9296}"/>
              </a:ext>
            </a:extLst>
          </p:cNvPr>
          <p:cNvSpPr txBox="1"/>
          <p:nvPr/>
        </p:nvSpPr>
        <p:spPr>
          <a:xfrm>
            <a:off x="5075291" y="2051223"/>
            <a:ext cx="2203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ユーザー追加</a:t>
            </a:r>
          </a:p>
        </p:txBody>
      </p:sp>
      <p:sp>
        <p:nvSpPr>
          <p:cNvPr id="48" name="四角形: 角を丸くする 35">
            <a:extLst>
              <a:ext uri="{FF2B5EF4-FFF2-40B4-BE49-F238E27FC236}">
                <a16:creationId xmlns:a16="http://schemas.microsoft.com/office/drawing/2014/main" id="{01D877D0-4266-678F-7637-07A5F7CDBDFC}"/>
              </a:ext>
            </a:extLst>
          </p:cNvPr>
          <p:cNvSpPr/>
          <p:nvPr/>
        </p:nvSpPr>
        <p:spPr>
          <a:xfrm>
            <a:off x="708937" y="1186512"/>
            <a:ext cx="2043499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＜サイトユーザー情報</a:t>
            </a:r>
          </a:p>
        </p:txBody>
      </p:sp>
      <p:sp>
        <p:nvSpPr>
          <p:cNvPr id="6" name="四角形: 角を丸くする 35">
            <a:extLst>
              <a:ext uri="{FF2B5EF4-FFF2-40B4-BE49-F238E27FC236}">
                <a16:creationId xmlns:a16="http://schemas.microsoft.com/office/drawing/2014/main" id="{82137736-E1F4-A238-F9A4-71724346EBE4}"/>
              </a:ext>
            </a:extLst>
          </p:cNvPr>
          <p:cNvSpPr/>
          <p:nvPr/>
        </p:nvSpPr>
        <p:spPr>
          <a:xfrm>
            <a:off x="11027158" y="3761052"/>
            <a:ext cx="651658" cy="30777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完了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8820736-611F-6A0C-C486-7383E8557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92949"/>
              </p:ext>
            </p:extLst>
          </p:nvPr>
        </p:nvGraphicFramePr>
        <p:xfrm>
          <a:off x="862446" y="3424593"/>
          <a:ext cx="10002981" cy="690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873">
                  <a:extLst>
                    <a:ext uri="{9D8B030D-6E8A-4147-A177-3AD203B41FA5}">
                      <a16:colId xmlns:a16="http://schemas.microsoft.com/office/drawing/2014/main" val="2863715773"/>
                    </a:ext>
                  </a:extLst>
                </a:gridCol>
                <a:gridCol w="1182255">
                  <a:extLst>
                    <a:ext uri="{9D8B030D-6E8A-4147-A177-3AD203B41FA5}">
                      <a16:colId xmlns:a16="http://schemas.microsoft.com/office/drawing/2014/main" val="4235372046"/>
                    </a:ext>
                  </a:extLst>
                </a:gridCol>
                <a:gridCol w="1034472">
                  <a:extLst>
                    <a:ext uri="{9D8B030D-6E8A-4147-A177-3AD203B41FA5}">
                      <a16:colId xmlns:a16="http://schemas.microsoft.com/office/drawing/2014/main" val="3813702888"/>
                    </a:ext>
                  </a:extLst>
                </a:gridCol>
                <a:gridCol w="2013528">
                  <a:extLst>
                    <a:ext uri="{9D8B030D-6E8A-4147-A177-3AD203B41FA5}">
                      <a16:colId xmlns:a16="http://schemas.microsoft.com/office/drawing/2014/main" val="234629454"/>
                    </a:ext>
                  </a:extLst>
                </a:gridCol>
                <a:gridCol w="2075479">
                  <a:extLst>
                    <a:ext uri="{9D8B030D-6E8A-4147-A177-3AD203B41FA5}">
                      <a16:colId xmlns:a16="http://schemas.microsoft.com/office/drawing/2014/main" val="4204000570"/>
                    </a:ext>
                  </a:extLst>
                </a:gridCol>
                <a:gridCol w="2256374">
                  <a:extLst>
                    <a:ext uri="{9D8B030D-6E8A-4147-A177-3AD203B41FA5}">
                      <a16:colId xmlns:a16="http://schemas.microsoft.com/office/drawing/2014/main" val="2168614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所属部署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権限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メールアドレス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ログイン</a:t>
                      </a:r>
                      <a:r>
                        <a:rPr kumimoji="1" lang="en-US" altLang="ja-JP" sz="1050" dirty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パスワード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86417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52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20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11161</TotalTime>
  <Words>1472</Words>
  <Application>Microsoft Office PowerPoint</Application>
  <PresentationFormat>ワイド画面</PresentationFormat>
  <Paragraphs>556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隆幸 坂本</dc:creator>
  <cp:lastModifiedBy>力 小澤</cp:lastModifiedBy>
  <cp:revision>177</cp:revision>
  <dcterms:created xsi:type="dcterms:W3CDTF">2023-08-26T05:23:07Z</dcterms:created>
  <dcterms:modified xsi:type="dcterms:W3CDTF">2025-10-02T08:03:01Z</dcterms:modified>
</cp:coreProperties>
</file>